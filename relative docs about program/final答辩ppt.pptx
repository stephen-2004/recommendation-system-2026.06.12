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9" r:id="rId2"/>
    <p:sldMasterId id="2147483668" r:id="rId3"/>
  </p:sldMasterIdLst>
  <p:notesMasterIdLst>
    <p:notesMasterId r:id="rId34"/>
  </p:notesMasterIdLst>
  <p:handoutMasterIdLst>
    <p:handoutMasterId r:id="rId35"/>
  </p:handoutMasterIdLst>
  <p:sldIdLst>
    <p:sldId id="256" r:id="rId4"/>
    <p:sldId id="257" r:id="rId5"/>
    <p:sldId id="258" r:id="rId6"/>
    <p:sldId id="284" r:id="rId7"/>
    <p:sldId id="285" r:id="rId8"/>
    <p:sldId id="274" r:id="rId9"/>
    <p:sldId id="286" r:id="rId10"/>
    <p:sldId id="311" r:id="rId11"/>
    <p:sldId id="276" r:id="rId12"/>
    <p:sldId id="287" r:id="rId13"/>
    <p:sldId id="296" r:id="rId14"/>
    <p:sldId id="279" r:id="rId15"/>
    <p:sldId id="297" r:id="rId16"/>
    <p:sldId id="288" r:id="rId17"/>
    <p:sldId id="298" r:id="rId18"/>
    <p:sldId id="299" r:id="rId19"/>
    <p:sldId id="300" r:id="rId20"/>
    <p:sldId id="301" r:id="rId21"/>
    <p:sldId id="302" r:id="rId22"/>
    <p:sldId id="303" r:id="rId23"/>
    <p:sldId id="304" r:id="rId24"/>
    <p:sldId id="305" r:id="rId25"/>
    <p:sldId id="306" r:id="rId26"/>
    <p:sldId id="307" r:id="rId27"/>
    <p:sldId id="308" r:id="rId28"/>
    <p:sldId id="309" r:id="rId29"/>
    <p:sldId id="283" r:id="rId30"/>
    <p:sldId id="310" r:id="rId31"/>
    <p:sldId id="295" r:id="rId32"/>
    <p:sldId id="263" r:id="rId33"/>
  </p:sldIdLst>
  <p:sldSz cx="12192000" cy="6858000"/>
  <p:notesSz cx="7104063" cy="10234613"/>
  <p:embeddedFontLst>
    <p:embeddedFont>
      <p:font typeface="Bodoni MT Black" panose="02070A03080606020203" pitchFamily="18" charset="0"/>
      <p:bold r:id="rId36"/>
      <p:boldItalic r:id="rId37"/>
    </p:embeddedFont>
    <p:embeddedFont>
      <p:font typeface="等线" panose="02010600030101010101" pitchFamily="2" charset="-122"/>
      <p:regular r:id="rId38"/>
      <p:bold r:id="rId39"/>
    </p:embeddedFont>
    <p:embeddedFont>
      <p:font typeface="等线 Light" panose="02010600030101010101" pitchFamily="2" charset="-122"/>
      <p:regular r:id="rId40"/>
    </p:embeddedFont>
    <p:embeddedFont>
      <p:font typeface="黑体" panose="02010609060101010101" pitchFamily="49" charset="-122"/>
      <p:regular r:id="rId41"/>
    </p:embeddedFont>
    <p:embeddedFont>
      <p:font typeface="微软雅黑" panose="020B0503020204020204" pitchFamily="34" charset="-122"/>
      <p:regular r:id="rId42"/>
      <p:bold r:id="rId43"/>
    </p:embeddedFont>
    <p:embeddedFont>
      <p:font typeface="微软雅黑 Light" panose="020B0502040204020203" pitchFamily="34" charset="-122"/>
      <p:regular r:id="rId4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2A9"/>
    <a:srgbClr val="EDEDED"/>
    <a:srgbClr val="EED63D"/>
    <a:srgbClr val="F1B26C"/>
    <a:srgbClr val="9ACCCA"/>
    <a:srgbClr val="1898B8"/>
    <a:srgbClr val="0D97C0"/>
    <a:srgbClr val="D5FBFF"/>
    <a:srgbClr val="C5F9FF"/>
    <a:srgbClr val="93F5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78" autoAdjust="0"/>
    <p:restoredTop sz="97419" autoAdjust="0"/>
  </p:normalViewPr>
  <p:slideViewPr>
    <p:cSldViewPr snapToGrid="0">
      <p:cViewPr varScale="1">
        <p:scale>
          <a:sx n="102" d="100"/>
          <a:sy n="102" d="100"/>
        </p:scale>
        <p:origin x="96" y="25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109" d="100"/>
          <a:sy n="109" d="100"/>
        </p:scale>
        <p:origin x="5208" y="13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font" Target="fonts/font4.fntdata"/><Relationship Id="rId21" Type="http://schemas.openxmlformats.org/officeDocument/2006/relationships/slide" Target="slides/slide18.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font" Target="fonts/font1.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9.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font" Target="fonts/font6.fntdata"/></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4.svg"/><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1440" tIns="45720" rIns="91440" bIns="45720" rtlCol="0"/>
          <a:lstStyle>
            <a:lvl1pPr algn="l">
              <a:defRPr sz="1300"/>
            </a:lvl1pPr>
          </a:lstStyle>
          <a:p>
            <a:endParaRPr lang="zh-CN" altLang="en-US" sz="1200" dirty="0">
              <a:latin typeface="Times New Roman" panose="02020603050405020304" pitchFamily="18" charset="0"/>
              <a:ea typeface="微软雅黑 Light" panose="020B0502040204020203" pitchFamily="34" charset="-122"/>
            </a:endParaRPr>
          </a:p>
        </p:txBody>
      </p:sp>
      <p:pic>
        <p:nvPicPr>
          <p:cNvPr id="7" name="图形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897233" y="159233"/>
            <a:ext cx="906901" cy="708550"/>
          </a:xfrm>
          <a:prstGeom prst="rect">
            <a:avLst/>
          </a:prstGeom>
        </p:spPr>
      </p:pic>
      <p:sp>
        <p:nvSpPr>
          <p:cNvPr id="10" name="矩形 9"/>
          <p:cNvSpPr/>
          <p:nvPr/>
        </p:nvSpPr>
        <p:spPr>
          <a:xfrm>
            <a:off x="2819925" y="9863997"/>
            <a:ext cx="978673" cy="403343"/>
          </a:xfrm>
          <a:prstGeom prst="rect">
            <a:avLst/>
          </a:prstGeom>
        </p:spPr>
        <p:txBody>
          <a:bodyPr vert="horz" lIns="99075" tIns="49538" rIns="99075" bIns="49538" rtlCol="0"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r"/>
            <a:fld id="{677FF5B8-A162-48EC-849B-0011207F2481}" type="slidenum">
              <a:rPr lang="zh-CN" altLang="en-US" sz="1300">
                <a:solidFill>
                  <a:srgbClr val="959590"/>
                </a:solidFill>
                <a:latin typeface="黑体" panose="02010609060101010101" pitchFamily="49" charset="-122"/>
                <a:ea typeface="黑体" panose="02010609060101010101" pitchFamily="49" charset="-122"/>
              </a:rPr>
              <a:t>‹#›</a:t>
            </a:fld>
            <a:endParaRPr lang="zh-CN" altLang="en-US" sz="1300" dirty="0">
              <a:solidFill>
                <a:srgbClr val="959590"/>
              </a:solidFill>
              <a:latin typeface="黑体" panose="02010609060101010101" pitchFamily="49" charset="-122"/>
              <a:ea typeface="黑体" panose="02010609060101010101" pitchFamily="49" charset="-122"/>
            </a:endParaRPr>
          </a:p>
        </p:txBody>
      </p:sp>
      <p:sp>
        <p:nvSpPr>
          <p:cNvPr id="11" name="页脚占位符 10"/>
          <p:cNvSpPr>
            <a:spLocks noGrp="1"/>
          </p:cNvSpPr>
          <p:nvPr>
            <p:ph type="ftr" sz="quarter" idx="2"/>
          </p:nvPr>
        </p:nvSpPr>
        <p:spPr>
          <a:xfrm>
            <a:off x="0" y="9863997"/>
            <a:ext cx="3078163" cy="370616"/>
          </a:xfrm>
          <a:prstGeom prst="rect">
            <a:avLst/>
          </a:prstGeom>
        </p:spPr>
        <p:txBody>
          <a:bodyPr vert="horz" lIns="91440" tIns="45720" rIns="91440" bIns="45720" rtlCol="0"/>
          <a:lstStyle>
            <a:lvl1pPr algn="l">
              <a:defRPr sz="1200"/>
            </a:lvl1pPr>
          </a:lstStyle>
          <a:p>
            <a:endParaRPr lang="zh-CN" altLang="en-US" dirty="0">
              <a:latin typeface="Times New Roman" panose="02020603050405020304" pitchFamily="18" charset="0"/>
              <a:ea typeface="微软雅黑 Light" panose="020B0502040204020203" pitchFamily="34" charset="-122"/>
            </a:endParaRPr>
          </a:p>
        </p:txBody>
      </p:sp>
      <p:sp>
        <p:nvSpPr>
          <p:cNvPr id="12" name="日期占位符 11"/>
          <p:cNvSpPr>
            <a:spLocks noGrp="1"/>
          </p:cNvSpPr>
          <p:nvPr>
            <p:ph type="dt" sz="quarter" idx="1"/>
          </p:nvPr>
        </p:nvSpPr>
        <p:spPr>
          <a:xfrm>
            <a:off x="4025901" y="9863997"/>
            <a:ext cx="3078162" cy="370615"/>
          </a:xfrm>
          <a:prstGeom prst="rect">
            <a:avLst/>
          </a:prstGeom>
        </p:spPr>
        <p:txBody>
          <a:bodyPr vert="horz" lIns="91440" tIns="45720" rIns="91440" bIns="45720" rtlCol="0"/>
          <a:lstStyle>
            <a:lvl1pPr algn="r">
              <a:defRPr sz="1200"/>
            </a:lvl1pPr>
          </a:lstStyle>
          <a:p>
            <a:fld id="{C0E2864D-1C47-43C4-B193-E83A55120905}" type="datetime1">
              <a:rPr lang="zh-CN" altLang="en-US" smtClean="0">
                <a:latin typeface="Times New Roman" panose="02020603050405020304" pitchFamily="18" charset="0"/>
                <a:ea typeface="微软雅黑 Light" panose="020B0502040204020203" pitchFamily="34" charset="-122"/>
              </a:rPr>
              <a:t>2026/10/5</a:t>
            </a:fld>
            <a:endParaRPr lang="zh-CN" altLang="en-US" dirty="0">
              <a:latin typeface="Times New Roman" panose="02020603050405020304" pitchFamily="18" charset="0"/>
              <a:ea typeface="微软雅黑 Light" panose="020B0502040204020203"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zh-CN" altLang="en-US"/>
          </a:p>
        </p:txBody>
      </p:sp>
      <p:sp>
        <p:nvSpPr>
          <p:cNvPr id="3" name="日期占位符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0DCF8E1F-4D15-439A-917B-3168A36C0B51}" type="datetime1">
              <a:rPr lang="zh-CN" altLang="en-US" smtClean="0"/>
              <a:t>2026/10/5</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4B34ACD2-7160-4BC6-9558-B824CD6F57DF}"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18.sv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email"/>
          <a:stretch>
            <a:fillRect/>
          </a:stretch>
        </p:blipFill>
        <p:spPr>
          <a:xfrm>
            <a:off x="0" y="1834526"/>
            <a:ext cx="12192000" cy="5053013"/>
          </a:xfrm>
          <a:prstGeom prst="rect">
            <a:avLst/>
          </a:prstGeom>
        </p:spPr>
      </p:pic>
      <p:sp>
        <p:nvSpPr>
          <p:cNvPr id="8" name="Subtitle 2"/>
          <p:cNvSpPr>
            <a:spLocks noGrp="1"/>
          </p:cNvSpPr>
          <p:nvPr>
            <p:ph type="subTitle" idx="1"/>
          </p:nvPr>
        </p:nvSpPr>
        <p:spPr>
          <a:xfrm>
            <a:off x="1524000" y="3533253"/>
            <a:ext cx="9144000" cy="765570"/>
          </a:xfrm>
        </p:spPr>
        <p:txBody>
          <a:bodyPr>
            <a:normAutofit/>
          </a:bodyPr>
          <a:lstStyle>
            <a:lvl1pPr marL="0" indent="0" algn="ctr">
              <a:buNone/>
              <a:defRPr sz="3200" b="1">
                <a:solidFill>
                  <a:srgbClr val="0097C4"/>
                </a:solidFill>
                <a:latin typeface="微软雅黑 Light" panose="020B0502040204020203" pitchFamily="34" charset="-122"/>
                <a:ea typeface="微软雅黑 Light" panose="020B0502040204020203"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en-US" dirty="0"/>
          </a:p>
        </p:txBody>
      </p:sp>
      <p:sp>
        <p:nvSpPr>
          <p:cNvPr id="9" name="矩形 8"/>
          <p:cNvSpPr/>
          <p:nvPr userDrawn="1"/>
        </p:nvSpPr>
        <p:spPr>
          <a:xfrm>
            <a:off x="0" y="1620000"/>
            <a:ext cx="12192000" cy="1440000"/>
          </a:xfrm>
          <a:prstGeom prst="rect">
            <a:avLst/>
          </a:prstGeom>
          <a:solidFill>
            <a:srgbClr val="0097C4"/>
          </a:solidFill>
          <a:ln cap="rnd">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sz="1800">
              <a:solidFill>
                <a:schemeClr val="tx1"/>
              </a:solidFill>
            </a:endParaRPr>
          </a:p>
        </p:txBody>
      </p:sp>
      <p:sp>
        <p:nvSpPr>
          <p:cNvPr id="10" name="圆角矩形 16"/>
          <p:cNvSpPr/>
          <p:nvPr userDrawn="1"/>
        </p:nvSpPr>
        <p:spPr>
          <a:xfrm>
            <a:off x="816000" y="1834523"/>
            <a:ext cx="10560000" cy="1008000"/>
          </a:xfrm>
          <a:prstGeom prst="roundRect">
            <a:avLst>
              <a:gd name="adj" fmla="val 5000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b="1" spc="300" dirty="0">
              <a:solidFill>
                <a:srgbClr val="7D1B4A"/>
              </a:solidFill>
              <a:latin typeface="微软雅黑 Light" panose="020B0502040204020203" pitchFamily="34" charset="-122"/>
              <a:ea typeface="微软雅黑 Light" panose="020B0502040204020203" pitchFamily="34" charset="-122"/>
            </a:endParaRPr>
          </a:p>
        </p:txBody>
      </p:sp>
      <p:sp>
        <p:nvSpPr>
          <p:cNvPr id="11" name="Title 1"/>
          <p:cNvSpPr>
            <a:spLocks noGrp="1"/>
          </p:cNvSpPr>
          <p:nvPr>
            <p:ph type="ctrTitle"/>
          </p:nvPr>
        </p:nvSpPr>
        <p:spPr>
          <a:xfrm>
            <a:off x="647700" y="2040257"/>
            <a:ext cx="10858500" cy="672152"/>
          </a:xfrm>
        </p:spPr>
        <p:txBody>
          <a:bodyPr anchor="b">
            <a:normAutofit/>
          </a:bodyPr>
          <a:lstStyle>
            <a:lvl1pPr algn="ctr">
              <a:defRPr sz="4000" b="1">
                <a:solidFill>
                  <a:srgbClr val="0097C4"/>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endParaRPr lang="en-US" dirty="0"/>
          </a:p>
        </p:txBody>
      </p:sp>
      <p:pic>
        <p:nvPicPr>
          <p:cNvPr id="12" name="图片 11"/>
          <p:cNvPicPr>
            <a:picLocks noChangeAspect="1"/>
          </p:cNvPicPr>
          <p:nvPr userDrawn="1"/>
        </p:nvPicPr>
        <p:blipFill>
          <a:blip r:embed="rId3" cstate="email"/>
          <a:stretch>
            <a:fillRect/>
          </a:stretch>
        </p:blipFill>
        <p:spPr>
          <a:xfrm>
            <a:off x="0" y="4911386"/>
            <a:ext cx="12192000" cy="2370125"/>
          </a:xfrm>
          <a:prstGeom prst="rect">
            <a:avLst/>
          </a:prstGeom>
        </p:spPr>
      </p:pic>
      <p:sp>
        <p:nvSpPr>
          <p:cNvPr id="2" name="矩形 1"/>
          <p:cNvSpPr/>
          <p:nvPr userDrawn="1"/>
        </p:nvSpPr>
        <p:spPr>
          <a:xfrm>
            <a:off x="0" y="4911386"/>
            <a:ext cx="12192000" cy="1946617"/>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4" name="图形 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0500" y="107024"/>
            <a:ext cx="2781300" cy="857250"/>
          </a:xfrm>
          <a:prstGeom prst="rect">
            <a:avLst/>
          </a:prstGeom>
        </p:spPr>
      </p:pic>
      <p:pic>
        <p:nvPicPr>
          <p:cNvPr id="6" name="图形 5"/>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57787" y="6484187"/>
            <a:ext cx="1876425" cy="30951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标题 1"/>
          <p:cNvSpPr>
            <a:spLocks noGrp="1"/>
          </p:cNvSpPr>
          <p:nvPr>
            <p:ph type="title"/>
          </p:nvPr>
        </p:nvSpPr>
        <p:spPr>
          <a:xfrm>
            <a:off x="5091724" y="250334"/>
            <a:ext cx="6707556" cy="473218"/>
          </a:xfrm>
        </p:spPr>
        <p:txBody>
          <a:bodyPr>
            <a:normAutofit/>
          </a:bodyPr>
          <a:lstStyle>
            <a:lvl1pPr>
              <a:defRPr sz="2800" b="1">
                <a:solidFill>
                  <a:srgbClr val="0097C4"/>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p>
        </p:txBody>
      </p:sp>
      <p:sp>
        <p:nvSpPr>
          <p:cNvPr id="8" name="矩形 7"/>
          <p:cNvSpPr/>
          <p:nvPr userDrawn="1"/>
        </p:nvSpPr>
        <p:spPr>
          <a:xfrm>
            <a:off x="2" y="0"/>
            <a:ext cx="3316512" cy="6497638"/>
          </a:xfrm>
          <a:prstGeom prst="rect">
            <a:avLst/>
          </a:prstGeom>
          <a:solidFill>
            <a:srgbClr val="009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9" name="文本框 8"/>
          <p:cNvSpPr txBox="1"/>
          <p:nvPr userDrawn="1"/>
        </p:nvSpPr>
        <p:spPr>
          <a:xfrm>
            <a:off x="1706932" y="2403715"/>
            <a:ext cx="1746421" cy="584775"/>
          </a:xfrm>
          <a:prstGeom prst="rect">
            <a:avLst/>
          </a:prstGeom>
          <a:noFill/>
        </p:spPr>
        <p:txBody>
          <a:bodyPr wrap="square" rtlCol="0">
            <a:spAutoFit/>
          </a:bodyPr>
          <a:lstStyle/>
          <a:p>
            <a:r>
              <a:rPr lang="zh-CN" altLang="en-US" sz="3200" b="1" spc="600">
                <a:solidFill>
                  <a:schemeClr val="bg1"/>
                </a:solidFill>
                <a:latin typeface="黑体" panose="02010609060101010101" pitchFamily="49" charset="-122"/>
                <a:ea typeface="黑体" panose="02010609060101010101" pitchFamily="49" charset="-122"/>
              </a:rPr>
              <a:t>目录</a:t>
            </a:r>
          </a:p>
        </p:txBody>
      </p:sp>
      <p:sp>
        <p:nvSpPr>
          <p:cNvPr id="10" name="文本框 9"/>
          <p:cNvSpPr txBox="1"/>
          <p:nvPr userDrawn="1"/>
        </p:nvSpPr>
        <p:spPr>
          <a:xfrm>
            <a:off x="412582" y="2963461"/>
            <a:ext cx="2763761" cy="461665"/>
          </a:xfrm>
          <a:prstGeom prst="rect">
            <a:avLst/>
          </a:prstGeom>
          <a:noFill/>
        </p:spPr>
        <p:txBody>
          <a:bodyPr wrap="square" rtlCol="0">
            <a:spAutoFit/>
          </a:bodyPr>
          <a:lstStyle/>
          <a:p>
            <a:pPr algn="r"/>
            <a:r>
              <a:rPr lang="en-US" altLang="zh-CN" sz="2400" b="1" spc="0">
                <a:solidFill>
                  <a:schemeClr val="bg1"/>
                </a:solidFill>
                <a:latin typeface="黑体" panose="02010609060101010101" pitchFamily="49" charset="-122"/>
                <a:ea typeface="黑体" panose="02010609060101010101" pitchFamily="49" charset="-122"/>
              </a:rPr>
              <a:t>CONTENTS</a:t>
            </a:r>
            <a:endParaRPr lang="zh-CN" altLang="en-US" sz="2400" b="1" spc="0">
              <a:solidFill>
                <a:schemeClr val="bg1"/>
              </a:solidFill>
              <a:latin typeface="黑体" panose="02010609060101010101" pitchFamily="49" charset="-122"/>
              <a:ea typeface="黑体" panose="02010609060101010101" pitchFamily="49" charset="-122"/>
            </a:endParaRPr>
          </a:p>
        </p:txBody>
      </p:sp>
      <p:sp>
        <p:nvSpPr>
          <p:cNvPr id="18" name="圆角矩形 19"/>
          <p:cNvSpPr/>
          <p:nvPr userDrawn="1"/>
        </p:nvSpPr>
        <p:spPr>
          <a:xfrm>
            <a:off x="5210303" y="266009"/>
            <a:ext cx="6694516" cy="473218"/>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rgbClr val="771754"/>
              </a:solidFill>
            </a:endParaRPr>
          </a:p>
        </p:txBody>
      </p:sp>
      <p:cxnSp>
        <p:nvCxnSpPr>
          <p:cNvPr id="19" name="直接连接符 18"/>
          <p:cNvCxnSpPr/>
          <p:nvPr userDrawn="1"/>
        </p:nvCxnSpPr>
        <p:spPr>
          <a:xfrm>
            <a:off x="4075956" y="878541"/>
            <a:ext cx="7659825" cy="0"/>
          </a:xfrm>
          <a:prstGeom prst="line">
            <a:avLst/>
          </a:prstGeom>
          <a:ln>
            <a:solidFill>
              <a:srgbClr val="0097C4"/>
            </a:solidFill>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9700" y="4364032"/>
            <a:ext cx="3151080" cy="2133604"/>
          </a:xfrm>
          <a:prstGeom prst="rect">
            <a:avLst/>
          </a:prstGeom>
        </p:spPr>
      </p:pic>
      <p:pic>
        <p:nvPicPr>
          <p:cNvPr id="3" name="图形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99151" y="4235869"/>
            <a:ext cx="523875" cy="1181100"/>
          </a:xfrm>
          <a:prstGeom prst="rect">
            <a:avLst/>
          </a:prstGeom>
        </p:spPr>
      </p:pic>
      <p:pic>
        <p:nvPicPr>
          <p:cNvPr id="5" name="图形 4"/>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8111" y="161489"/>
            <a:ext cx="2781300" cy="857250"/>
          </a:xfrm>
          <a:prstGeom prst="rect">
            <a:avLst/>
          </a:prstGeom>
        </p:spPr>
      </p:pic>
      <p:grpSp>
        <p:nvGrpSpPr>
          <p:cNvPr id="26" name="组合 38"/>
          <p:cNvGrpSpPr/>
          <p:nvPr userDrawn="1"/>
        </p:nvGrpSpPr>
        <p:grpSpPr bwMode="auto">
          <a:xfrm rot="10800000">
            <a:off x="4380785" y="234664"/>
            <a:ext cx="522414" cy="504556"/>
            <a:chOff x="0" y="0"/>
            <a:chExt cx="646595" cy="633602"/>
          </a:xfrm>
          <a:solidFill>
            <a:srgbClr val="0097C4"/>
          </a:solidFill>
          <a:effectLst>
            <a:outerShdw blurRad="38100" dir="18900000" sy="23000" kx="-1200000" algn="bl" rotWithShape="0">
              <a:prstClr val="black">
                <a:alpha val="20000"/>
              </a:prstClr>
            </a:outerShdw>
          </a:effectLst>
        </p:grpSpPr>
        <p:sp>
          <p:nvSpPr>
            <p:cNvPr id="27" name="流程图: 联系 39"/>
            <p:cNvSpPr>
              <a:spLocks noChangeArrowheads="1"/>
            </p:cNvSpPr>
            <p:nvPr/>
          </p:nvSpPr>
          <p:spPr bwMode="auto">
            <a:xfrm>
              <a:off x="0" y="0"/>
              <a:ext cx="646595" cy="633602"/>
            </a:xfrm>
            <a:prstGeom prst="flowChartConnector">
              <a:avLst/>
            </a:prstGeom>
            <a:grpFill/>
            <a:ln w="25400" cap="flat" cmpd="sng">
              <a:solidFill>
                <a:schemeClr val="bg1"/>
              </a:solidFill>
              <a:bevel/>
            </a:ln>
          </p:spPr>
          <p:txBody>
            <a:bodyPr anchor="ctr"/>
            <a:lstStyle/>
            <a:p>
              <a:pPr algn="ctr"/>
              <a:endParaRPr lang="zh-CN" altLang="zh-CN" dirty="0">
                <a:solidFill>
                  <a:srgbClr val="FFFFFF"/>
                </a:solidFill>
                <a:latin typeface="微软雅黑 Light" panose="020B0502040204020203" pitchFamily="34" charset="-122"/>
                <a:sym typeface="宋体" panose="02010600030101010101" pitchFamily="2" charset="-122"/>
              </a:endParaRPr>
            </a:p>
          </p:txBody>
        </p:sp>
        <p:sp>
          <p:nvSpPr>
            <p:cNvPr id="28" name="流程图: 摘录 40"/>
            <p:cNvSpPr>
              <a:spLocks noChangeArrowheads="1"/>
            </p:cNvSpPr>
            <p:nvPr/>
          </p:nvSpPr>
          <p:spPr bwMode="auto">
            <a:xfrm rot="5400000" flipH="1" flipV="1">
              <a:off x="33714" y="136456"/>
              <a:ext cx="440234" cy="360690"/>
            </a:xfrm>
            <a:prstGeom prst="flowChartExtract">
              <a:avLst/>
            </a:prstGeom>
            <a:grpFill/>
            <a:ln w="25400" cap="rnd" cmpd="sng">
              <a:solidFill>
                <a:schemeClr val="bg1"/>
              </a:solidFill>
              <a:round/>
            </a:ln>
          </p:spPr>
          <p:txBody>
            <a:bodyPr anchor="ctr"/>
            <a:lstStyle/>
            <a:p>
              <a:pPr algn="ctr"/>
              <a:endParaRPr lang="zh-CN" altLang="zh-CN" dirty="0">
                <a:solidFill>
                  <a:srgbClr val="FFFFFF"/>
                </a:solidFill>
                <a:latin typeface="微软雅黑 Light" panose="020B0502040204020203" pitchFamily="34" charset="-122"/>
                <a:sym typeface="宋体" panose="02010600030101010101" pitchFamily="2" charset="-122"/>
              </a:endParaRPr>
            </a:p>
          </p:txBody>
        </p:sp>
      </p:grpSp>
      <p:sp>
        <p:nvSpPr>
          <p:cNvPr id="30" name="矩形 29"/>
          <p:cNvSpPr/>
          <p:nvPr userDrawn="1"/>
        </p:nvSpPr>
        <p:spPr>
          <a:xfrm>
            <a:off x="0" y="6497638"/>
            <a:ext cx="12192000" cy="3603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31" name="矩形 30"/>
          <p:cNvSpPr/>
          <p:nvPr userDrawn="1"/>
        </p:nvSpPr>
        <p:spPr>
          <a:xfrm>
            <a:off x="11152555" y="6497638"/>
            <a:ext cx="646724" cy="360362"/>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4EDBEA61-A19A-4A43-B72A-0AE72C77EF52}" type="slidenum">
              <a:rPr lang="zh-CN" altLang="en-US" sz="1660" b="1">
                <a:solidFill>
                  <a:prstClr val="white"/>
                </a:solidFill>
                <a:ea typeface="微软雅黑 Light" panose="020B0502040204020203" pitchFamily="34" charset="-122"/>
              </a:rPr>
              <a:t>‹#›</a:t>
            </a:fld>
            <a:endParaRPr lang="zh-CN" altLang="en-US" sz="1660" b="1" dirty="0">
              <a:solidFill>
                <a:prstClr val="white"/>
              </a:solidFill>
              <a:ea typeface="微软雅黑 Light" panose="020B0502040204020203" pitchFamily="34" charset="-122"/>
            </a:endParaRPr>
          </a:p>
        </p:txBody>
      </p:sp>
      <p:sp>
        <p:nvSpPr>
          <p:cNvPr id="32" name="矩形 31"/>
          <p:cNvSpPr/>
          <p:nvPr userDrawn="1"/>
        </p:nvSpPr>
        <p:spPr>
          <a:xfrm>
            <a:off x="0" y="6497638"/>
            <a:ext cx="12192000"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33" name="矩形 32"/>
          <p:cNvSpPr/>
          <p:nvPr userDrawn="1"/>
        </p:nvSpPr>
        <p:spPr>
          <a:xfrm>
            <a:off x="11247227" y="6497638"/>
            <a:ext cx="944775" cy="360362"/>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677FF5B8-A162-48EC-849B-0011207F2481}" type="slidenum">
              <a:rPr lang="zh-CN" altLang="en-US" sz="1800" b="0">
                <a:solidFill>
                  <a:srgbClr val="0097C4"/>
                </a:solidFill>
                <a:latin typeface="Bodoni MT Black" panose="02070A03080606020203" pitchFamily="18" charset="0"/>
                <a:ea typeface="微软雅黑 Light" panose="020B0502040204020203" pitchFamily="34" charset="-122"/>
              </a:rPr>
              <a:t>‹#›</a:t>
            </a:fld>
            <a:endParaRPr lang="zh-CN" altLang="en-US" sz="1800" b="0" dirty="0">
              <a:solidFill>
                <a:srgbClr val="0097C4"/>
              </a:solidFill>
              <a:latin typeface="Bodoni MT Black" panose="02070A03080606020203" pitchFamily="18" charset="0"/>
              <a:ea typeface="微软雅黑 Light" panose="020B0502040204020203" pitchFamily="34" charset="-122"/>
            </a:endParaRPr>
          </a:p>
        </p:txBody>
      </p:sp>
      <p:sp>
        <p:nvSpPr>
          <p:cNvPr id="34" name="文本框 33"/>
          <p:cNvSpPr txBox="1"/>
          <p:nvPr userDrawn="1"/>
        </p:nvSpPr>
        <p:spPr>
          <a:xfrm>
            <a:off x="511499" y="6523933"/>
            <a:ext cx="5942641" cy="307777"/>
          </a:xfrm>
          <a:prstGeom prst="rect">
            <a:avLst/>
          </a:prstGeom>
          <a:noFill/>
        </p:spPr>
        <p:txBody>
          <a:bodyPr wrap="square" rtlCol="0">
            <a:spAutoFit/>
          </a:bodyPr>
          <a:lstStyle/>
          <a:p>
            <a:r>
              <a:rPr lang="en-US" altLang="zh-CN" sz="1400" b="0" u="none" dirty="0">
                <a:solidFill>
                  <a:schemeClr val="bg1"/>
                </a:solidFill>
                <a:latin typeface="Bodoni MT Black" panose="02070A03080606020203" pitchFamily="18" charset="0"/>
                <a:ea typeface="华文彩云" panose="02010800040101010101" pitchFamily="2" charset="-122"/>
              </a:rPr>
              <a:t>BJUT</a:t>
            </a:r>
            <a:endParaRPr lang="zh-CN" altLang="en-US" sz="1400" b="0" u="none" dirty="0">
              <a:solidFill>
                <a:schemeClr val="bg1"/>
              </a:solidFill>
              <a:latin typeface="Bodoni MT Black" panose="02070A03080606020203" pitchFamily="18" charset="0"/>
              <a:ea typeface="华文彩云" panose="02010800040101010101" pitchFamily="2" charset="-122"/>
            </a:endParaRPr>
          </a:p>
        </p:txBody>
      </p:sp>
      <p:sp>
        <p:nvSpPr>
          <p:cNvPr id="35" name="矩形 34"/>
          <p:cNvSpPr/>
          <p:nvPr userDrawn="1"/>
        </p:nvSpPr>
        <p:spPr>
          <a:xfrm>
            <a:off x="2" y="6497638"/>
            <a:ext cx="509599" cy="360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36" name="燕尾形 14"/>
          <p:cNvSpPr/>
          <p:nvPr userDrawn="1"/>
        </p:nvSpPr>
        <p:spPr>
          <a:xfrm>
            <a:off x="127220" y="6570461"/>
            <a:ext cx="274737" cy="214714"/>
          </a:xfrm>
          <a:prstGeom prst="chevron">
            <a:avLst>
              <a:gd name="adj" fmla="val 45232"/>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子标题">
    <p:bg>
      <p:bgPr>
        <a:solidFill>
          <a:srgbClr val="0D97C0"/>
        </a:solidFill>
        <a:effectLst/>
      </p:bgPr>
    </p:bg>
    <p:spTree>
      <p:nvGrpSpPr>
        <p:cNvPr id="1" name=""/>
        <p:cNvGrpSpPr/>
        <p:nvPr/>
      </p:nvGrpSpPr>
      <p:grpSpPr>
        <a:xfrm>
          <a:off x="0" y="0"/>
          <a:ext cx="0" cy="0"/>
          <a:chOff x="0" y="0"/>
          <a:chExt cx="0" cy="0"/>
        </a:xfrm>
      </p:grpSpPr>
      <p:sp>
        <p:nvSpPr>
          <p:cNvPr id="7" name="矩形 6"/>
          <p:cNvSpPr/>
          <p:nvPr userDrawn="1"/>
        </p:nvSpPr>
        <p:spPr>
          <a:xfrm>
            <a:off x="0" y="2393069"/>
            <a:ext cx="12192000" cy="1416378"/>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圆角矩形 9"/>
          <p:cNvSpPr/>
          <p:nvPr userDrawn="1"/>
        </p:nvSpPr>
        <p:spPr>
          <a:xfrm>
            <a:off x="430392" y="2691912"/>
            <a:ext cx="11331216" cy="981334"/>
          </a:xfrm>
          <a:prstGeom prst="roundRect">
            <a:avLst>
              <a:gd name="adj" fmla="val 50000"/>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rtlCol="0" anchor="ctr">
            <a:normAutofit/>
          </a:bodyPr>
          <a:lstStyle/>
          <a:p>
            <a:pPr algn="ctr"/>
            <a:endParaRPr lang="zh-CN" altLang="en-US" sz="1800" dirty="0"/>
          </a:p>
        </p:txBody>
      </p:sp>
      <p:sp>
        <p:nvSpPr>
          <p:cNvPr id="9" name="Title 1"/>
          <p:cNvSpPr>
            <a:spLocks noGrp="1"/>
          </p:cNvSpPr>
          <p:nvPr>
            <p:ph type="title"/>
          </p:nvPr>
        </p:nvSpPr>
        <p:spPr>
          <a:xfrm>
            <a:off x="773426" y="2844800"/>
            <a:ext cx="10580374" cy="675558"/>
          </a:xfrm>
        </p:spPr>
        <p:txBody>
          <a:bodyPr anchor="b">
            <a:normAutofit/>
          </a:bodyPr>
          <a:lstStyle>
            <a:lvl1pPr algn="ctr">
              <a:defRPr sz="4000" b="1">
                <a:solidFill>
                  <a:srgbClr val="0097C4"/>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endParaRPr lang="en-US" dirty="0"/>
          </a:p>
        </p:txBody>
      </p:sp>
      <p:pic>
        <p:nvPicPr>
          <p:cNvPr id="3" name="图形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73425" y="272324"/>
            <a:ext cx="1710448" cy="1236786"/>
          </a:xfrm>
          <a:prstGeom prst="rect">
            <a:avLst/>
          </a:prstGeom>
        </p:spPr>
      </p:pic>
      <p:pic>
        <p:nvPicPr>
          <p:cNvPr id="5" name="图形 4"/>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26967" y="5229225"/>
            <a:ext cx="5167989" cy="1844406"/>
          </a:xfrm>
          <a:prstGeom prst="rect">
            <a:avLst/>
          </a:prstGeom>
        </p:spPr>
      </p:pic>
      <p:pic>
        <p:nvPicPr>
          <p:cNvPr id="13" name="图形 1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8415" y="85543"/>
            <a:ext cx="2264720" cy="37356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8" name="Content Placeholder 2"/>
          <p:cNvSpPr>
            <a:spLocks noGrp="1"/>
          </p:cNvSpPr>
          <p:nvPr>
            <p:ph idx="1"/>
          </p:nvPr>
        </p:nvSpPr>
        <p:spPr>
          <a:xfrm>
            <a:off x="838197" y="1363863"/>
            <a:ext cx="10515600" cy="4351338"/>
          </a:xfrm>
        </p:spPr>
        <p:txBody>
          <a:bodyPr/>
          <a:lstStyle>
            <a:lvl1pPr marL="0" indent="0" algn="just">
              <a:buClr>
                <a:srgbClr val="0097C4"/>
              </a:buClr>
              <a:buFont typeface="Wingdings" panose="05000000000000000000" pitchFamily="2" charset="2"/>
              <a:buNone/>
              <a:defRPr baseline="0">
                <a:latin typeface="Times New Roman" panose="02020603050405020304" pitchFamily="18" charset="0"/>
                <a:ea typeface="微软雅黑 Light" panose="020B0502040204020203" pitchFamily="34" charset="-122"/>
              </a:defRPr>
            </a:lvl1pPr>
            <a:lvl2pPr marL="457200" indent="0" algn="just">
              <a:buClr>
                <a:srgbClr val="0097C4"/>
              </a:buClr>
              <a:buFont typeface="Wingdings" panose="05000000000000000000" pitchFamily="2" charset="2"/>
              <a:buNone/>
              <a:defRPr baseline="0">
                <a:latin typeface="Times New Roman" panose="02020603050405020304" pitchFamily="18" charset="0"/>
                <a:ea typeface="微软雅黑 Light" panose="020B0502040204020203" pitchFamily="34" charset="-122"/>
              </a:defRPr>
            </a:lvl2pPr>
            <a:lvl3pPr marL="914400" indent="0" algn="just">
              <a:buClr>
                <a:srgbClr val="0097C4"/>
              </a:buClr>
              <a:buFont typeface="Wingdings" panose="05000000000000000000" pitchFamily="2" charset="2"/>
              <a:buNone/>
              <a:defRPr baseline="0">
                <a:latin typeface="Times New Roman" panose="02020603050405020304" pitchFamily="18" charset="0"/>
                <a:ea typeface="微软雅黑 Light" panose="020B0502040204020203" pitchFamily="34" charset="-122"/>
              </a:defRPr>
            </a:lvl3pPr>
            <a:lvl4pPr marL="1371600" indent="0" algn="just">
              <a:buClr>
                <a:srgbClr val="0097C4"/>
              </a:buClr>
              <a:buFont typeface="Wingdings" panose="05000000000000000000" pitchFamily="2" charset="2"/>
              <a:buNone/>
              <a:defRPr baseline="0">
                <a:latin typeface="Times New Roman" panose="02020603050405020304" pitchFamily="18" charset="0"/>
                <a:ea typeface="微软雅黑 Light" panose="020B0502040204020203" pitchFamily="34" charset="-122"/>
              </a:defRPr>
            </a:lvl4pPr>
            <a:lvl5pPr marL="1828800" indent="0" algn="just">
              <a:buClr>
                <a:srgbClr val="0097C4"/>
              </a:buClr>
              <a:buFont typeface="Wingdings" panose="05000000000000000000" pitchFamily="2" charset="2"/>
              <a:buNone/>
              <a:defRPr baseline="0">
                <a:latin typeface="Times New Roman" panose="02020603050405020304" pitchFamily="18" charset="0"/>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9" name="矩形 8"/>
          <p:cNvSpPr/>
          <p:nvPr userDrawn="1"/>
        </p:nvSpPr>
        <p:spPr>
          <a:xfrm>
            <a:off x="-3" y="0"/>
            <a:ext cx="12192000" cy="864000"/>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3" name="圆角矩形 9"/>
          <p:cNvSpPr/>
          <p:nvPr userDrawn="1"/>
        </p:nvSpPr>
        <p:spPr>
          <a:xfrm>
            <a:off x="297763" y="132692"/>
            <a:ext cx="10247868" cy="598621"/>
          </a:xfrm>
          <a:prstGeom prst="roundRect">
            <a:avLst>
              <a:gd name="adj" fmla="val 50000"/>
            </a:avLst>
          </a:prstGeom>
          <a:solidFill>
            <a:schemeClr val="bg1"/>
          </a:solidFill>
          <a:effectLst/>
        </p:spPr>
        <p:style>
          <a:lnRef idx="3">
            <a:schemeClr val="lt1"/>
          </a:lnRef>
          <a:fillRef idx="1">
            <a:schemeClr val="accent1"/>
          </a:fillRef>
          <a:effectRef idx="1">
            <a:schemeClr val="accent1"/>
          </a:effectRef>
          <a:fontRef idx="minor">
            <a:schemeClr val="lt1"/>
          </a:fontRef>
        </p:style>
        <p:txBody>
          <a:bodyPr rtlCol="0" anchor="ctr">
            <a:normAutofit/>
          </a:bodyPr>
          <a:lstStyle/>
          <a:p>
            <a:pPr algn="ctr"/>
            <a:endParaRPr lang="zh-CN" altLang="en-US" sz="1800" dirty="0"/>
          </a:p>
        </p:txBody>
      </p:sp>
      <p:sp>
        <p:nvSpPr>
          <p:cNvPr id="18" name="Title 1"/>
          <p:cNvSpPr>
            <a:spLocks noGrp="1"/>
          </p:cNvSpPr>
          <p:nvPr>
            <p:ph type="title"/>
          </p:nvPr>
        </p:nvSpPr>
        <p:spPr>
          <a:xfrm>
            <a:off x="509601" y="227708"/>
            <a:ext cx="10036030" cy="408587"/>
          </a:xfrm>
        </p:spPr>
        <p:txBody>
          <a:bodyPr>
            <a:normAutofit/>
          </a:bodyPr>
          <a:lstStyle>
            <a:lvl1pPr>
              <a:defRPr sz="2800" b="1">
                <a:solidFill>
                  <a:srgbClr val="0097C4"/>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endParaRPr lang="en-US" dirty="0"/>
          </a:p>
        </p:txBody>
      </p:sp>
      <p:pic>
        <p:nvPicPr>
          <p:cNvPr id="3" name="图形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245358" y="60443"/>
            <a:ext cx="743111" cy="743111"/>
          </a:xfrm>
          <a:prstGeom prst="rect">
            <a:avLst/>
          </a:prstGeom>
        </p:spPr>
      </p:pic>
      <p:sp>
        <p:nvSpPr>
          <p:cNvPr id="21" name="矩形 20"/>
          <p:cNvSpPr/>
          <p:nvPr userDrawn="1"/>
        </p:nvSpPr>
        <p:spPr>
          <a:xfrm>
            <a:off x="0" y="6497638"/>
            <a:ext cx="12192000" cy="3603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22" name="矩形 21"/>
          <p:cNvSpPr/>
          <p:nvPr userDrawn="1"/>
        </p:nvSpPr>
        <p:spPr>
          <a:xfrm>
            <a:off x="11152555" y="6497638"/>
            <a:ext cx="646724" cy="360362"/>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4EDBEA61-A19A-4A43-B72A-0AE72C77EF52}" type="slidenum">
              <a:rPr lang="zh-CN" altLang="en-US" sz="1660" b="1">
                <a:solidFill>
                  <a:prstClr val="white"/>
                </a:solidFill>
                <a:ea typeface="微软雅黑 Light" panose="020B0502040204020203" pitchFamily="34" charset="-122"/>
              </a:rPr>
              <a:t>‹#›</a:t>
            </a:fld>
            <a:endParaRPr lang="zh-CN" altLang="en-US" sz="1660" b="1" dirty="0">
              <a:solidFill>
                <a:prstClr val="white"/>
              </a:solidFill>
              <a:ea typeface="微软雅黑 Light" panose="020B0502040204020203" pitchFamily="34" charset="-122"/>
            </a:endParaRPr>
          </a:p>
        </p:txBody>
      </p:sp>
      <p:sp>
        <p:nvSpPr>
          <p:cNvPr id="23" name="矩形 22"/>
          <p:cNvSpPr/>
          <p:nvPr userDrawn="1"/>
        </p:nvSpPr>
        <p:spPr>
          <a:xfrm>
            <a:off x="0" y="6497638"/>
            <a:ext cx="12192000"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24" name="矩形 23"/>
          <p:cNvSpPr/>
          <p:nvPr userDrawn="1"/>
        </p:nvSpPr>
        <p:spPr>
          <a:xfrm>
            <a:off x="11247227" y="6497638"/>
            <a:ext cx="944775" cy="360362"/>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677FF5B8-A162-48EC-849B-0011207F2481}" type="slidenum">
              <a:rPr lang="zh-CN" altLang="en-US" sz="1800" b="0">
                <a:solidFill>
                  <a:srgbClr val="0097C4"/>
                </a:solidFill>
                <a:latin typeface="Bodoni MT Black" panose="02070A03080606020203" pitchFamily="18" charset="0"/>
                <a:ea typeface="微软雅黑 Light" panose="020B0502040204020203" pitchFamily="34" charset="-122"/>
              </a:rPr>
              <a:t>‹#›</a:t>
            </a:fld>
            <a:endParaRPr lang="zh-CN" altLang="en-US" sz="1800" b="0" dirty="0">
              <a:solidFill>
                <a:srgbClr val="0097C4"/>
              </a:solidFill>
              <a:latin typeface="Bodoni MT Black" panose="02070A03080606020203" pitchFamily="18" charset="0"/>
              <a:ea typeface="微软雅黑 Light" panose="020B0502040204020203" pitchFamily="34" charset="-122"/>
            </a:endParaRPr>
          </a:p>
        </p:txBody>
      </p:sp>
      <p:sp>
        <p:nvSpPr>
          <p:cNvPr id="25" name="文本框 24"/>
          <p:cNvSpPr txBox="1"/>
          <p:nvPr userDrawn="1"/>
        </p:nvSpPr>
        <p:spPr>
          <a:xfrm>
            <a:off x="511499" y="6523933"/>
            <a:ext cx="5942641" cy="307777"/>
          </a:xfrm>
          <a:prstGeom prst="rect">
            <a:avLst/>
          </a:prstGeom>
          <a:noFill/>
        </p:spPr>
        <p:txBody>
          <a:bodyPr wrap="square" rtlCol="0">
            <a:spAutoFit/>
          </a:bodyPr>
          <a:lstStyle/>
          <a:p>
            <a:r>
              <a:rPr lang="en-US" altLang="zh-CN" sz="1400" b="0" u="none" dirty="0">
                <a:solidFill>
                  <a:schemeClr val="bg1"/>
                </a:solidFill>
                <a:latin typeface="Bodoni MT Black" panose="02070A03080606020203" pitchFamily="18" charset="0"/>
                <a:ea typeface="华文彩云" panose="02010800040101010101" pitchFamily="2" charset="-122"/>
              </a:rPr>
              <a:t>BJUT</a:t>
            </a:r>
            <a:endParaRPr lang="zh-CN" altLang="en-US" sz="1400" b="0" u="none" dirty="0">
              <a:solidFill>
                <a:schemeClr val="bg1"/>
              </a:solidFill>
              <a:latin typeface="Bodoni MT Black" panose="02070A03080606020203" pitchFamily="18" charset="0"/>
              <a:ea typeface="华文彩云" panose="02010800040101010101" pitchFamily="2" charset="-122"/>
            </a:endParaRPr>
          </a:p>
        </p:txBody>
      </p:sp>
      <p:sp>
        <p:nvSpPr>
          <p:cNvPr id="26" name="矩形 25"/>
          <p:cNvSpPr/>
          <p:nvPr userDrawn="1"/>
        </p:nvSpPr>
        <p:spPr>
          <a:xfrm>
            <a:off x="2" y="6497638"/>
            <a:ext cx="509599" cy="360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7" name="燕尾形 14"/>
          <p:cNvSpPr/>
          <p:nvPr userDrawn="1"/>
        </p:nvSpPr>
        <p:spPr>
          <a:xfrm>
            <a:off x="127220" y="6570461"/>
            <a:ext cx="274737" cy="214714"/>
          </a:xfrm>
          <a:prstGeom prst="chevron">
            <a:avLst>
              <a:gd name="adj" fmla="val 45232"/>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侧栏">
    <p:bg>
      <p:bgPr>
        <a:solidFill>
          <a:srgbClr val="E6E6E6"/>
        </a:solidFill>
        <a:effectLst/>
      </p:bgPr>
    </p:bg>
    <p:spTree>
      <p:nvGrpSpPr>
        <p:cNvPr id="1" name=""/>
        <p:cNvGrpSpPr/>
        <p:nvPr/>
      </p:nvGrpSpPr>
      <p:grpSpPr>
        <a:xfrm>
          <a:off x="0" y="0"/>
          <a:ext cx="0" cy="0"/>
          <a:chOff x="0" y="0"/>
          <a:chExt cx="0" cy="0"/>
        </a:xfrm>
      </p:grpSpPr>
      <p:pic>
        <p:nvPicPr>
          <p:cNvPr id="10" name="图形 9"/>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98286" y="0"/>
            <a:ext cx="11393713" cy="6497636"/>
          </a:xfrm>
          <a:prstGeom prst="rect">
            <a:avLst/>
          </a:prstGeom>
        </p:spPr>
      </p:pic>
      <p:sp>
        <p:nvSpPr>
          <p:cNvPr id="11" name="标题 1"/>
          <p:cNvSpPr>
            <a:spLocks noGrp="1"/>
          </p:cNvSpPr>
          <p:nvPr>
            <p:ph type="ctrTitle" hasCustomPrompt="1"/>
          </p:nvPr>
        </p:nvSpPr>
        <p:spPr>
          <a:xfrm>
            <a:off x="9258801" y="0"/>
            <a:ext cx="2933200" cy="360362"/>
          </a:xfrm>
        </p:spPr>
        <p:txBody>
          <a:bodyPr anchor="b">
            <a:noAutofit/>
          </a:bodyPr>
          <a:lstStyle>
            <a:lvl1pPr algn="ctr">
              <a:defRPr sz="1400" b="0">
                <a:solidFill>
                  <a:schemeClr val="bg1"/>
                </a:solidFill>
                <a:latin typeface="微软雅黑 Light" panose="020B0502040204020203" pitchFamily="34" charset="-122"/>
                <a:ea typeface="微软雅黑 Light" panose="020B0502040204020203" pitchFamily="34" charset="-122"/>
              </a:defRPr>
            </a:lvl1pPr>
          </a:lstStyle>
          <a:p>
            <a:r>
              <a:rPr lang="zh-CN" altLang="en-US" dirty="0"/>
              <a:t>主标题样式</a:t>
            </a:r>
          </a:p>
        </p:txBody>
      </p:sp>
      <p:sp>
        <p:nvSpPr>
          <p:cNvPr id="12" name="副标题 2"/>
          <p:cNvSpPr>
            <a:spLocks noGrp="1"/>
          </p:cNvSpPr>
          <p:nvPr>
            <p:ph type="subTitle" idx="1" hasCustomPrompt="1"/>
          </p:nvPr>
        </p:nvSpPr>
        <p:spPr>
          <a:xfrm>
            <a:off x="9258801" y="550068"/>
            <a:ext cx="2933200" cy="360362"/>
          </a:xfrm>
        </p:spPr>
        <p:txBody>
          <a:bodyPr/>
          <a:lstStyle>
            <a:lvl1pPr marL="0" indent="0" algn="ctr">
              <a:buNone/>
              <a:defRPr sz="20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副标题样式</a:t>
            </a:r>
          </a:p>
        </p:txBody>
      </p:sp>
      <p:sp>
        <p:nvSpPr>
          <p:cNvPr id="13" name="矩形 12"/>
          <p:cNvSpPr/>
          <p:nvPr userDrawn="1"/>
        </p:nvSpPr>
        <p:spPr>
          <a:xfrm>
            <a:off x="0" y="6497638"/>
            <a:ext cx="12192000" cy="3603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14" name="矩形 13"/>
          <p:cNvSpPr/>
          <p:nvPr userDrawn="1"/>
        </p:nvSpPr>
        <p:spPr>
          <a:xfrm>
            <a:off x="11152555" y="6497638"/>
            <a:ext cx="646724" cy="360362"/>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4EDBEA61-A19A-4A43-B72A-0AE72C77EF52}" type="slidenum">
              <a:rPr lang="zh-CN" altLang="en-US" sz="1660" b="1">
                <a:solidFill>
                  <a:prstClr val="white"/>
                </a:solidFill>
                <a:ea typeface="微软雅黑 Light" panose="020B0502040204020203" pitchFamily="34" charset="-122"/>
              </a:rPr>
              <a:t>‹#›</a:t>
            </a:fld>
            <a:endParaRPr lang="zh-CN" altLang="en-US" sz="1660" b="1" dirty="0">
              <a:solidFill>
                <a:prstClr val="white"/>
              </a:solidFill>
              <a:ea typeface="微软雅黑 Light" panose="020B0502040204020203" pitchFamily="34" charset="-122"/>
            </a:endParaRPr>
          </a:p>
        </p:txBody>
      </p:sp>
      <p:sp>
        <p:nvSpPr>
          <p:cNvPr id="15" name="矩形 14"/>
          <p:cNvSpPr/>
          <p:nvPr userDrawn="1"/>
        </p:nvSpPr>
        <p:spPr>
          <a:xfrm>
            <a:off x="0" y="6497638"/>
            <a:ext cx="12192000"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17" name="文本框 16"/>
          <p:cNvSpPr txBox="1"/>
          <p:nvPr userDrawn="1"/>
        </p:nvSpPr>
        <p:spPr>
          <a:xfrm>
            <a:off x="511499" y="6523933"/>
            <a:ext cx="6745084" cy="307777"/>
          </a:xfrm>
          <a:prstGeom prst="rect">
            <a:avLst/>
          </a:prstGeom>
          <a:noFill/>
        </p:spPr>
        <p:txBody>
          <a:bodyPr wrap="square" rtlCol="0">
            <a:spAutoFit/>
          </a:bodyPr>
          <a:lstStyle/>
          <a:p>
            <a:r>
              <a:rPr lang="en-US" altLang="zh-CN" sz="1400" b="0" u="none" dirty="0">
                <a:solidFill>
                  <a:srgbClr val="0097C4"/>
                </a:solidFill>
                <a:latin typeface="Bodoni MT Black" panose="02070A03080606020203" pitchFamily="18" charset="0"/>
                <a:ea typeface="华文彩云" panose="02010800040101010101" pitchFamily="2" charset="-122"/>
              </a:rPr>
              <a:t>BJUT</a:t>
            </a:r>
            <a:endParaRPr lang="zh-CN" altLang="en-US" sz="1400" b="0" u="none" dirty="0">
              <a:solidFill>
                <a:srgbClr val="0097C4"/>
              </a:solidFill>
              <a:latin typeface="Bodoni MT Black" panose="02070A03080606020203" pitchFamily="18" charset="0"/>
              <a:ea typeface="华文彩云" panose="02010800040101010101" pitchFamily="2" charset="-122"/>
            </a:endParaRPr>
          </a:p>
        </p:txBody>
      </p:sp>
      <p:sp>
        <p:nvSpPr>
          <p:cNvPr id="18" name="矩形 17"/>
          <p:cNvSpPr/>
          <p:nvPr userDrawn="1"/>
        </p:nvSpPr>
        <p:spPr>
          <a:xfrm>
            <a:off x="2" y="6497638"/>
            <a:ext cx="509599" cy="360362"/>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9" name="燕尾形 14"/>
          <p:cNvSpPr/>
          <p:nvPr userDrawn="1"/>
        </p:nvSpPr>
        <p:spPr>
          <a:xfrm>
            <a:off x="127220" y="6570461"/>
            <a:ext cx="274737" cy="214714"/>
          </a:xfrm>
          <a:prstGeom prst="chevron">
            <a:avLst>
              <a:gd name="adj" fmla="val 45232"/>
            </a:avLst>
          </a:prstGeom>
          <a:solidFill>
            <a:srgbClr val="0097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
        <p:nvSpPr>
          <p:cNvPr id="20" name="文本占位符 15"/>
          <p:cNvSpPr>
            <a:spLocks noGrp="1"/>
          </p:cNvSpPr>
          <p:nvPr>
            <p:ph type="body" sz="quarter" idx="10" hasCustomPrompt="1"/>
          </p:nvPr>
        </p:nvSpPr>
        <p:spPr>
          <a:xfrm>
            <a:off x="9355969" y="1370806"/>
            <a:ext cx="2725963" cy="3848100"/>
          </a:xfrm>
        </p:spPr>
        <p:txBody>
          <a:bodyPr/>
          <a:lstStyle>
            <a:lvl1pPr>
              <a:lnSpc>
                <a:spcPct val="150000"/>
              </a:lnSpc>
              <a:buNone/>
              <a:defRPr sz="1400" baseline="0">
                <a:solidFill>
                  <a:schemeClr val="bg1"/>
                </a:solidFill>
                <a:latin typeface="微软雅黑 Light" panose="020B0502040204020203" pitchFamily="34" charset="-122"/>
                <a:ea typeface="微软雅黑 Light" panose="020B0502040204020203" pitchFamily="34" charset="-122"/>
              </a:defRPr>
            </a:lvl1pPr>
            <a:lvl2pPr>
              <a:buNone/>
              <a:defRPr/>
            </a:lvl2pPr>
            <a:lvl3pPr>
              <a:buNone/>
              <a:defRPr/>
            </a:lvl3pPr>
            <a:lvl4pPr>
              <a:buNone/>
              <a:defRPr/>
            </a:lvl4pPr>
            <a:lvl5pPr>
              <a:buNone/>
              <a:defRPr/>
            </a:lvl5pPr>
          </a:lstStyle>
          <a:p>
            <a:pPr lvl="0"/>
            <a:r>
              <a:rPr lang="zh-CN" altLang="en-US" dirty="0"/>
              <a:t>请单击此处，编辑母版文本样式。</a:t>
            </a:r>
          </a:p>
        </p:txBody>
      </p:sp>
      <p:sp>
        <p:nvSpPr>
          <p:cNvPr id="21" name="内容占位符 17"/>
          <p:cNvSpPr>
            <a:spLocks noGrp="1"/>
          </p:cNvSpPr>
          <p:nvPr>
            <p:ph sz="quarter" idx="11"/>
          </p:nvPr>
        </p:nvSpPr>
        <p:spPr>
          <a:xfrm>
            <a:off x="127002" y="165103"/>
            <a:ext cx="8557684" cy="6259513"/>
          </a:xfrm>
        </p:spPr>
        <p:txBody>
          <a:bodyPr/>
          <a:lstStyle>
            <a:lvl1pPr marL="0" indent="0" algn="just">
              <a:lnSpc>
                <a:spcPct val="150000"/>
              </a:lnSpc>
              <a:buNone/>
              <a:defRPr>
                <a:latin typeface="微软雅黑 Light" panose="020B0502040204020203" pitchFamily="34" charset="-122"/>
                <a:ea typeface="微软雅黑 Light" panose="020B0502040204020203" pitchFamily="34" charset="-122"/>
              </a:defRPr>
            </a:lvl1pPr>
            <a:lvl2pPr marL="457200" indent="0" algn="just">
              <a:lnSpc>
                <a:spcPct val="150000"/>
              </a:lnSpc>
              <a:buNone/>
              <a:defRPr>
                <a:latin typeface="微软雅黑 Light" panose="020B0502040204020203" pitchFamily="34" charset="-122"/>
                <a:ea typeface="微软雅黑 Light" panose="020B0502040204020203" pitchFamily="34" charset="-122"/>
              </a:defRPr>
            </a:lvl2pPr>
            <a:lvl3pPr marL="914400" indent="0" algn="just">
              <a:lnSpc>
                <a:spcPct val="150000"/>
              </a:lnSpc>
              <a:buNone/>
              <a:defRPr>
                <a:latin typeface="微软雅黑 Light" panose="020B0502040204020203" pitchFamily="34" charset="-122"/>
                <a:ea typeface="微软雅黑 Light" panose="020B0502040204020203" pitchFamily="34" charset="-122"/>
              </a:defRPr>
            </a:lvl3pPr>
            <a:lvl4pPr marL="1371600" indent="0" algn="just">
              <a:lnSpc>
                <a:spcPct val="150000"/>
              </a:lnSpc>
              <a:buNone/>
              <a:defRPr>
                <a:latin typeface="微软雅黑 Light" panose="020B0502040204020203" pitchFamily="34" charset="-122"/>
                <a:ea typeface="微软雅黑 Light" panose="020B0502040204020203" pitchFamily="34" charset="-122"/>
              </a:defRPr>
            </a:lvl4pPr>
            <a:lvl5pPr marL="1828800" indent="0" algn="just">
              <a:lnSpc>
                <a:spcPct val="150000"/>
              </a:lnSpc>
              <a:buNone/>
              <a:defRPr>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pic>
        <p:nvPicPr>
          <p:cNvPr id="3" name="图形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537341" y="4778767"/>
            <a:ext cx="523875" cy="1181100"/>
          </a:xfrm>
          <a:prstGeom prst="rect">
            <a:avLst/>
          </a:prstGeom>
        </p:spPr>
      </p:pic>
      <p:sp>
        <p:nvSpPr>
          <p:cNvPr id="23" name="矩形 22"/>
          <p:cNvSpPr/>
          <p:nvPr userDrawn="1"/>
        </p:nvSpPr>
        <p:spPr>
          <a:xfrm>
            <a:off x="11247227" y="6497638"/>
            <a:ext cx="944775" cy="360362"/>
          </a:xfrm>
          <a:prstGeom prst="rect">
            <a:avLst/>
          </a:prstGeom>
          <a:solidFill>
            <a:schemeClr val="bg1">
              <a:lumMod val="75000"/>
            </a:schemeClr>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677FF5B8-A162-48EC-849B-0011207F2481}" type="slidenum">
              <a:rPr lang="zh-CN" altLang="en-US" sz="1800" b="0">
                <a:solidFill>
                  <a:srgbClr val="0097C4"/>
                </a:solidFill>
                <a:latin typeface="Bodoni MT Black" panose="02070A03080606020203" pitchFamily="18" charset="0"/>
                <a:ea typeface="微软雅黑 Light" panose="020B0502040204020203" pitchFamily="34" charset="-122"/>
              </a:rPr>
              <a:t>‹#›</a:t>
            </a:fld>
            <a:endParaRPr lang="zh-CN" altLang="en-US" sz="1800" b="0" dirty="0">
              <a:solidFill>
                <a:srgbClr val="0097C4"/>
              </a:solidFill>
              <a:latin typeface="Bodoni MT Black" panose="02070A03080606020203" pitchFamily="18" charset="0"/>
              <a:ea typeface="微软雅黑 Light" panose="020B0502040204020203"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纯蓝背景">
    <p:bg>
      <p:bgPr>
        <a:solidFill>
          <a:srgbClr val="0D97C0"/>
        </a:solidFill>
        <a:effectLst/>
      </p:bgPr>
    </p:bg>
    <p:spTree>
      <p:nvGrpSpPr>
        <p:cNvPr id="1" name=""/>
        <p:cNvGrpSpPr/>
        <p:nvPr/>
      </p:nvGrpSpPr>
      <p:grpSpPr>
        <a:xfrm>
          <a:off x="0" y="0"/>
          <a:ext cx="0" cy="0"/>
          <a:chOff x="0" y="0"/>
          <a:chExt cx="0" cy="0"/>
        </a:xfrm>
      </p:grpSpPr>
      <p:sp>
        <p:nvSpPr>
          <p:cNvPr id="6" name="标题 1"/>
          <p:cNvSpPr>
            <a:spLocks noGrp="1"/>
          </p:cNvSpPr>
          <p:nvPr>
            <p:ph type="title"/>
          </p:nvPr>
        </p:nvSpPr>
        <p:spPr>
          <a:xfrm>
            <a:off x="2529029" y="77330"/>
            <a:ext cx="8718198" cy="489269"/>
          </a:xfrm>
        </p:spPr>
        <p:txBody>
          <a:bodyPr/>
          <a:lstStyle>
            <a:lvl1pPr algn="ctr">
              <a:defRPr sz="2200" b="1">
                <a:solidFill>
                  <a:schemeClr val="bg1"/>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p>
        </p:txBody>
      </p:sp>
      <p:sp>
        <p:nvSpPr>
          <p:cNvPr id="7" name="矩形 6"/>
          <p:cNvSpPr/>
          <p:nvPr userDrawn="1"/>
        </p:nvSpPr>
        <p:spPr>
          <a:xfrm>
            <a:off x="0" y="6497638"/>
            <a:ext cx="12192000" cy="3603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8" name="矩形 7"/>
          <p:cNvSpPr/>
          <p:nvPr userDrawn="1"/>
        </p:nvSpPr>
        <p:spPr>
          <a:xfrm>
            <a:off x="11152555" y="6497638"/>
            <a:ext cx="646724" cy="360362"/>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4EDBEA61-A19A-4A43-B72A-0AE72C77EF52}" type="slidenum">
              <a:rPr lang="zh-CN" altLang="en-US" sz="1660" b="1">
                <a:solidFill>
                  <a:prstClr val="white"/>
                </a:solidFill>
                <a:ea typeface="微软雅黑 Light" panose="020B0502040204020203" pitchFamily="34" charset="-122"/>
              </a:rPr>
              <a:t>‹#›</a:t>
            </a:fld>
            <a:endParaRPr lang="zh-CN" altLang="en-US" sz="1660" b="1" dirty="0">
              <a:solidFill>
                <a:prstClr val="white"/>
              </a:solidFill>
              <a:ea typeface="微软雅黑 Light" panose="020B0502040204020203" pitchFamily="34" charset="-122"/>
            </a:endParaRPr>
          </a:p>
        </p:txBody>
      </p:sp>
      <p:sp>
        <p:nvSpPr>
          <p:cNvPr id="9" name="矩形 8"/>
          <p:cNvSpPr/>
          <p:nvPr userDrawn="1"/>
        </p:nvSpPr>
        <p:spPr>
          <a:xfrm>
            <a:off x="0" y="6497638"/>
            <a:ext cx="12192000" cy="360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11" name="文本框 10"/>
          <p:cNvSpPr txBox="1"/>
          <p:nvPr userDrawn="1"/>
        </p:nvSpPr>
        <p:spPr>
          <a:xfrm>
            <a:off x="511499" y="6523933"/>
            <a:ext cx="6745084" cy="307777"/>
          </a:xfrm>
          <a:prstGeom prst="rect">
            <a:avLst/>
          </a:prstGeom>
          <a:noFill/>
        </p:spPr>
        <p:txBody>
          <a:bodyPr wrap="square" rtlCol="0">
            <a:spAutoFit/>
          </a:bodyPr>
          <a:lstStyle/>
          <a:p>
            <a:r>
              <a:rPr lang="en-US" altLang="zh-CN" sz="1400" b="0" u="none" dirty="0">
                <a:solidFill>
                  <a:srgbClr val="0097C4"/>
                </a:solidFill>
                <a:latin typeface="Bodoni MT Black" panose="02070A03080606020203" pitchFamily="18" charset="0"/>
                <a:ea typeface="华文彩云" panose="02010800040101010101" pitchFamily="2" charset="-122"/>
              </a:rPr>
              <a:t>BJUT</a:t>
            </a:r>
            <a:endParaRPr lang="zh-CN" altLang="en-US" sz="1400" b="0" u="none" dirty="0">
              <a:solidFill>
                <a:srgbClr val="0097C4"/>
              </a:solidFill>
              <a:latin typeface="Bodoni MT Black" panose="02070A03080606020203" pitchFamily="18" charset="0"/>
              <a:ea typeface="华文彩云" panose="02010800040101010101" pitchFamily="2" charset="-122"/>
            </a:endParaRPr>
          </a:p>
        </p:txBody>
      </p:sp>
      <p:sp>
        <p:nvSpPr>
          <p:cNvPr id="12" name="矩形 11"/>
          <p:cNvSpPr/>
          <p:nvPr userDrawn="1"/>
        </p:nvSpPr>
        <p:spPr>
          <a:xfrm>
            <a:off x="2" y="6497638"/>
            <a:ext cx="509599"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D97C0"/>
              </a:solidFill>
            </a:endParaRPr>
          </a:p>
        </p:txBody>
      </p:sp>
      <p:sp>
        <p:nvSpPr>
          <p:cNvPr id="13" name="燕尾形 14"/>
          <p:cNvSpPr/>
          <p:nvPr userDrawn="1"/>
        </p:nvSpPr>
        <p:spPr>
          <a:xfrm>
            <a:off x="127220" y="6570461"/>
            <a:ext cx="274737" cy="214714"/>
          </a:xfrm>
          <a:prstGeom prst="chevron">
            <a:avLst>
              <a:gd name="adj" fmla="val 4523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
        <p:nvSpPr>
          <p:cNvPr id="14" name="内容占位符 4"/>
          <p:cNvSpPr>
            <a:spLocks noGrp="1"/>
          </p:cNvSpPr>
          <p:nvPr>
            <p:ph sz="quarter" idx="10"/>
          </p:nvPr>
        </p:nvSpPr>
        <p:spPr>
          <a:xfrm>
            <a:off x="905933" y="1200150"/>
            <a:ext cx="10541000" cy="4954588"/>
          </a:xfrm>
        </p:spPr>
        <p:txBody>
          <a:bodyPr vert="horz" lIns="91440" tIns="45720" rIns="91440" bIns="45720" rtlCol="0">
            <a:normAutofit/>
          </a:bodyPr>
          <a:lstStyle>
            <a:lvl1pPr marL="0" indent="0" algn="just">
              <a:buNone/>
              <a:defRPr lang="zh-CN" altLang="en-US">
                <a:solidFill>
                  <a:schemeClr val="bg1"/>
                </a:solidFill>
                <a:latin typeface="微软雅黑 Light" panose="020B0502040204020203" pitchFamily="34" charset="-122"/>
                <a:ea typeface="微软雅黑 Light" panose="020B0502040204020203" pitchFamily="34" charset="-122"/>
              </a:defRPr>
            </a:lvl1pPr>
            <a:lvl2pPr marL="457200" indent="0" algn="just">
              <a:buNone/>
              <a:defRPr lang="zh-CN" altLang="en-US">
                <a:solidFill>
                  <a:schemeClr val="bg1"/>
                </a:solidFill>
                <a:latin typeface="微软雅黑 Light" panose="020B0502040204020203" pitchFamily="34" charset="-122"/>
                <a:ea typeface="微软雅黑 Light" panose="020B0502040204020203" pitchFamily="34" charset="-122"/>
              </a:defRPr>
            </a:lvl2pPr>
            <a:lvl3pPr marL="914400" indent="0" algn="just">
              <a:buNone/>
              <a:defRPr lang="zh-CN" altLang="en-US">
                <a:solidFill>
                  <a:schemeClr val="bg1"/>
                </a:solidFill>
                <a:latin typeface="微软雅黑 Light" panose="020B0502040204020203" pitchFamily="34" charset="-122"/>
                <a:ea typeface="微软雅黑 Light" panose="020B0502040204020203" pitchFamily="34" charset="-122"/>
              </a:defRPr>
            </a:lvl3pPr>
            <a:lvl4pPr marL="1371600" indent="0" algn="just">
              <a:buNone/>
              <a:defRPr lang="zh-CN" altLang="en-US">
                <a:solidFill>
                  <a:schemeClr val="bg1"/>
                </a:solidFill>
                <a:latin typeface="微软雅黑 Light" panose="020B0502040204020203" pitchFamily="34" charset="-122"/>
                <a:ea typeface="微软雅黑 Light" panose="020B0502040204020203" pitchFamily="34" charset="-122"/>
              </a:defRPr>
            </a:lvl4pPr>
            <a:lvl5pPr marL="1828800" indent="0" algn="just">
              <a:buNone/>
              <a:defRPr lang="zh-CN" altLang="en-US">
                <a:solidFill>
                  <a:schemeClr val="bg1"/>
                </a:solidFill>
                <a:latin typeface="微软雅黑 Light" panose="020B0502040204020203" pitchFamily="34" charset="-122"/>
                <a:ea typeface="微软雅黑 Light" panose="020B0502040204020203" pitchFamily="34" charset="-122"/>
              </a:defRPr>
            </a:lvl5pPr>
          </a:lstStyle>
          <a:p>
            <a:pPr lvl="0">
              <a:lnSpc>
                <a:spcPct val="150000"/>
              </a:lnSpc>
            </a:pPr>
            <a:r>
              <a:rPr lang="zh-CN" altLang="en-US" dirty="0"/>
              <a:t>单击此处编辑母版文本样式</a:t>
            </a:r>
          </a:p>
          <a:p>
            <a:pPr lvl="1">
              <a:lnSpc>
                <a:spcPct val="150000"/>
              </a:lnSpc>
            </a:pPr>
            <a:r>
              <a:rPr lang="zh-CN" altLang="en-US" dirty="0"/>
              <a:t>二级</a:t>
            </a:r>
          </a:p>
          <a:p>
            <a:pPr lvl="2">
              <a:lnSpc>
                <a:spcPct val="150000"/>
              </a:lnSpc>
            </a:pPr>
            <a:r>
              <a:rPr lang="zh-CN" altLang="en-US" dirty="0"/>
              <a:t>三级</a:t>
            </a:r>
          </a:p>
          <a:p>
            <a:pPr lvl="3">
              <a:lnSpc>
                <a:spcPct val="150000"/>
              </a:lnSpc>
            </a:pPr>
            <a:r>
              <a:rPr lang="zh-CN" altLang="en-US" dirty="0"/>
              <a:t>四级</a:t>
            </a:r>
          </a:p>
          <a:p>
            <a:pPr lvl="4">
              <a:lnSpc>
                <a:spcPct val="150000"/>
              </a:lnSpc>
            </a:pPr>
            <a:r>
              <a:rPr lang="zh-CN" altLang="en-US" dirty="0"/>
              <a:t>五级</a:t>
            </a:r>
          </a:p>
        </p:txBody>
      </p:sp>
      <p:pic>
        <p:nvPicPr>
          <p:cNvPr id="3" name="图形 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3979" y="90926"/>
            <a:ext cx="2305050" cy="457200"/>
          </a:xfrm>
          <a:prstGeom prst="rect">
            <a:avLst/>
          </a:prstGeom>
        </p:spPr>
      </p:pic>
      <p:grpSp>
        <p:nvGrpSpPr>
          <p:cNvPr id="19" name="组合 18"/>
          <p:cNvGrpSpPr/>
          <p:nvPr userDrawn="1"/>
        </p:nvGrpSpPr>
        <p:grpSpPr>
          <a:xfrm>
            <a:off x="9785345" y="73063"/>
            <a:ext cx="2400000" cy="493536"/>
            <a:chOff x="9509117" y="73063"/>
            <a:chExt cx="2400000" cy="493536"/>
          </a:xfrm>
        </p:grpSpPr>
        <p:sp>
          <p:nvSpPr>
            <p:cNvPr id="18" name="矩形 17"/>
            <p:cNvSpPr/>
            <p:nvPr userDrawn="1"/>
          </p:nvSpPr>
          <p:spPr>
            <a:xfrm>
              <a:off x="9509117" y="559399"/>
              <a:ext cx="2400000" cy="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5" name="图形 4"/>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64342" y="73063"/>
              <a:ext cx="944775" cy="492926"/>
            </a:xfrm>
            <a:prstGeom prst="rect">
              <a:avLst/>
            </a:prstGeom>
          </p:spPr>
        </p:pic>
      </p:grpSp>
      <p:sp>
        <p:nvSpPr>
          <p:cNvPr id="25" name="矩形 24"/>
          <p:cNvSpPr/>
          <p:nvPr userDrawn="1"/>
        </p:nvSpPr>
        <p:spPr>
          <a:xfrm>
            <a:off x="11247227" y="6497638"/>
            <a:ext cx="944775" cy="360362"/>
          </a:xfrm>
          <a:prstGeom prst="rect">
            <a:avLst/>
          </a:prstGeom>
          <a:solidFill>
            <a:srgbClr val="0D97C0"/>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677FF5B8-A162-48EC-849B-0011207F2481}" type="slidenum">
              <a:rPr lang="zh-CN" altLang="en-US" sz="1800" b="0">
                <a:solidFill>
                  <a:schemeClr val="bg1"/>
                </a:solidFill>
                <a:latin typeface="Bodoni MT Black" panose="02070A03080606020203" pitchFamily="18" charset="0"/>
                <a:ea typeface="微软雅黑 Light" panose="020B0502040204020203" pitchFamily="34" charset="-122"/>
              </a:rPr>
              <a:t>‹#›</a:t>
            </a:fld>
            <a:endParaRPr lang="zh-CN" altLang="en-US" sz="1800" b="0" dirty="0">
              <a:solidFill>
                <a:schemeClr val="bg1"/>
              </a:solidFill>
              <a:latin typeface="Bodoni MT Black" panose="02070A03080606020203" pitchFamily="18" charset="0"/>
              <a:ea typeface="微软雅黑 Light" panose="020B0502040204020203"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纯白背景">
    <p:spTree>
      <p:nvGrpSpPr>
        <p:cNvPr id="1" name=""/>
        <p:cNvGrpSpPr/>
        <p:nvPr/>
      </p:nvGrpSpPr>
      <p:grpSpPr>
        <a:xfrm>
          <a:off x="0" y="0"/>
          <a:ext cx="0" cy="0"/>
          <a:chOff x="0" y="0"/>
          <a:chExt cx="0" cy="0"/>
        </a:xfrm>
      </p:grpSpPr>
      <p:sp>
        <p:nvSpPr>
          <p:cNvPr id="2" name="标题 1"/>
          <p:cNvSpPr>
            <a:spLocks noGrp="1"/>
          </p:cNvSpPr>
          <p:nvPr>
            <p:ph type="ctrTitle"/>
          </p:nvPr>
        </p:nvSpPr>
        <p:spPr>
          <a:xfrm>
            <a:off x="2529028" y="101297"/>
            <a:ext cx="8779051" cy="446829"/>
          </a:xfrm>
        </p:spPr>
        <p:txBody>
          <a:bodyPr vert="horz" lIns="91440" tIns="45720" rIns="91440" bIns="45720" rtlCol="0" anchor="ctr">
            <a:normAutofit/>
          </a:bodyPr>
          <a:lstStyle>
            <a:lvl1pPr algn="ctr">
              <a:defRPr lang="zh-CN" altLang="en-US" sz="2200" b="1">
                <a:solidFill>
                  <a:srgbClr val="0097C4"/>
                </a:solidFill>
                <a:latin typeface="微软雅黑 Light" panose="020B0502040204020203" pitchFamily="34" charset="-122"/>
                <a:ea typeface="微软雅黑 Light" panose="020B0502040204020203" pitchFamily="34" charset="-122"/>
              </a:defRPr>
            </a:lvl1pPr>
          </a:lstStyle>
          <a:p>
            <a:pPr lvl="0" algn="ctr"/>
            <a:r>
              <a:rPr lang="zh-CN" altLang="en-US" dirty="0"/>
              <a:t>单击此处编辑母版标题样式</a:t>
            </a:r>
          </a:p>
        </p:txBody>
      </p:sp>
      <p:sp>
        <p:nvSpPr>
          <p:cNvPr id="3" name="副标题 2"/>
          <p:cNvSpPr>
            <a:spLocks noGrp="1"/>
          </p:cNvSpPr>
          <p:nvPr>
            <p:ph type="subTitle" idx="1" hasCustomPrompt="1"/>
          </p:nvPr>
        </p:nvSpPr>
        <p:spPr>
          <a:xfrm>
            <a:off x="905933" y="836613"/>
            <a:ext cx="3450167" cy="477837"/>
          </a:xfrm>
          <a:solidFill>
            <a:srgbClr val="0D97C0"/>
          </a:solidFill>
        </p:spPr>
        <p:txBody>
          <a:bodyPr vert="horz" lIns="91440" tIns="45720" rIns="91440" bIns="45720" rtlCol="0">
            <a:noAutofit/>
          </a:bodyPr>
          <a:lstStyle>
            <a:lvl1pPr marL="0" indent="0">
              <a:buFont typeface="Arial" panose="020B0604020202020204" pitchFamily="34" charset="0"/>
              <a:buNone/>
              <a:defRPr lang="zh-CN" altLang="en-US" b="1">
                <a:solidFill>
                  <a:schemeClr val="bg1"/>
                </a:solidFill>
                <a:latin typeface="微软雅黑 Light" panose="020B0502040204020203" pitchFamily="34" charset="-122"/>
                <a:ea typeface="微软雅黑 Light" panose="020B0502040204020203" pitchFamily="34" charset="-122"/>
              </a:defRPr>
            </a:lvl1pPr>
          </a:lstStyle>
          <a:p>
            <a:pPr marL="228600" lvl="0" indent="-228600"/>
            <a:r>
              <a:rPr lang="zh-CN" altLang="en-US" dirty="0"/>
              <a:t>单击此处编辑副标题</a:t>
            </a:r>
          </a:p>
        </p:txBody>
      </p:sp>
      <p:sp>
        <p:nvSpPr>
          <p:cNvPr id="7" name="矩形 6"/>
          <p:cNvSpPr/>
          <p:nvPr userDrawn="1"/>
        </p:nvSpPr>
        <p:spPr>
          <a:xfrm>
            <a:off x="0" y="6497638"/>
            <a:ext cx="12192000" cy="3603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8" name="矩形 7"/>
          <p:cNvSpPr/>
          <p:nvPr userDrawn="1"/>
        </p:nvSpPr>
        <p:spPr>
          <a:xfrm>
            <a:off x="11152555" y="6497638"/>
            <a:ext cx="646724" cy="360362"/>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algn="ctr" eaLnBrk="1" fontAlgn="base" hangingPunct="1">
              <a:spcBef>
                <a:spcPct val="0"/>
              </a:spcBef>
              <a:spcAft>
                <a:spcPct val="0"/>
              </a:spcAft>
            </a:pPr>
            <a:fld id="{4EDBEA61-A19A-4A43-B72A-0AE72C77EF52}" type="slidenum">
              <a:rPr lang="zh-CN" altLang="en-US" sz="1660" b="1">
                <a:solidFill>
                  <a:prstClr val="white"/>
                </a:solidFill>
                <a:ea typeface="微软雅黑 Light" panose="020B0502040204020203" pitchFamily="34" charset="-122"/>
              </a:rPr>
              <a:t>‹#›</a:t>
            </a:fld>
            <a:endParaRPr lang="zh-CN" altLang="en-US" sz="1660" b="1" dirty="0">
              <a:solidFill>
                <a:prstClr val="white"/>
              </a:solidFill>
              <a:ea typeface="微软雅黑 Light" panose="020B0502040204020203" pitchFamily="34" charset="-122"/>
            </a:endParaRPr>
          </a:p>
        </p:txBody>
      </p:sp>
      <p:sp>
        <p:nvSpPr>
          <p:cNvPr id="9" name="矩形 8"/>
          <p:cNvSpPr/>
          <p:nvPr userDrawn="1"/>
        </p:nvSpPr>
        <p:spPr>
          <a:xfrm>
            <a:off x="0" y="6497638"/>
            <a:ext cx="12192000"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a:solidFill>
                <a:prstClr val="white"/>
              </a:solidFill>
            </a:endParaRPr>
          </a:p>
        </p:txBody>
      </p:sp>
      <p:sp>
        <p:nvSpPr>
          <p:cNvPr id="10" name="矩形 9"/>
          <p:cNvSpPr/>
          <p:nvPr userDrawn="1"/>
        </p:nvSpPr>
        <p:spPr>
          <a:xfrm>
            <a:off x="11247227" y="6497638"/>
            <a:ext cx="944775" cy="360362"/>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ctr" eaLnBrk="0" fontAlgn="base" hangingPunct="0">
              <a:spcBef>
                <a:spcPct val="0"/>
              </a:spcBef>
              <a:spcAft>
                <a:spcPct val="0"/>
              </a:spcAft>
            </a:pPr>
            <a:fld id="{677FF5B8-A162-48EC-849B-0011207F2481}" type="slidenum">
              <a:rPr lang="zh-CN" altLang="en-US" b="0">
                <a:solidFill>
                  <a:srgbClr val="0097C4"/>
                </a:solidFill>
                <a:latin typeface="Bodoni MT Black" panose="02070A03080606020203" pitchFamily="18" charset="0"/>
                <a:ea typeface="微软雅黑 Light" panose="020B0502040204020203" pitchFamily="34" charset="-122"/>
              </a:rPr>
              <a:t>‹#›</a:t>
            </a:fld>
            <a:endParaRPr lang="zh-CN" altLang="en-US" b="0" dirty="0">
              <a:solidFill>
                <a:srgbClr val="0097C4"/>
              </a:solidFill>
              <a:latin typeface="Bodoni MT Black" panose="02070A03080606020203" pitchFamily="18" charset="0"/>
              <a:ea typeface="微软雅黑 Light" panose="020B0502040204020203" pitchFamily="34" charset="-122"/>
            </a:endParaRPr>
          </a:p>
        </p:txBody>
      </p:sp>
      <p:sp>
        <p:nvSpPr>
          <p:cNvPr id="11" name="文本框 10"/>
          <p:cNvSpPr txBox="1"/>
          <p:nvPr userDrawn="1"/>
        </p:nvSpPr>
        <p:spPr>
          <a:xfrm>
            <a:off x="511499" y="6523933"/>
            <a:ext cx="5942641" cy="307777"/>
          </a:xfrm>
          <a:prstGeom prst="rect">
            <a:avLst/>
          </a:prstGeom>
          <a:noFill/>
        </p:spPr>
        <p:txBody>
          <a:bodyPr wrap="square" rtlCol="0">
            <a:spAutoFit/>
          </a:bodyPr>
          <a:lstStyle/>
          <a:p>
            <a:r>
              <a:rPr lang="en-US" altLang="zh-CN" sz="1400" b="0" u="none" dirty="0">
                <a:solidFill>
                  <a:schemeClr val="bg1"/>
                </a:solidFill>
                <a:latin typeface="Bodoni MT Black" panose="02070A03080606020203" pitchFamily="18" charset="0"/>
                <a:ea typeface="华文彩云" panose="02010800040101010101" pitchFamily="2" charset="-122"/>
              </a:rPr>
              <a:t>BJUT</a:t>
            </a:r>
            <a:endParaRPr lang="zh-CN" altLang="en-US" sz="1400" b="0" u="none" dirty="0">
              <a:solidFill>
                <a:schemeClr val="bg1"/>
              </a:solidFill>
              <a:latin typeface="Bodoni MT Black" panose="02070A03080606020203" pitchFamily="18" charset="0"/>
              <a:ea typeface="华文彩云" panose="02010800040101010101" pitchFamily="2" charset="-122"/>
            </a:endParaRPr>
          </a:p>
        </p:txBody>
      </p:sp>
      <p:sp>
        <p:nvSpPr>
          <p:cNvPr id="12" name="内容占位符 4"/>
          <p:cNvSpPr>
            <a:spLocks noGrp="1"/>
          </p:cNvSpPr>
          <p:nvPr>
            <p:ph sz="quarter" idx="10"/>
          </p:nvPr>
        </p:nvSpPr>
        <p:spPr>
          <a:xfrm>
            <a:off x="905933" y="1485900"/>
            <a:ext cx="10541000" cy="4668838"/>
          </a:xfrm>
        </p:spPr>
        <p:txBody>
          <a:bodyPr/>
          <a:lstStyle>
            <a:lvl1pPr marL="0" indent="0" algn="just">
              <a:lnSpc>
                <a:spcPct val="150000"/>
              </a:lnSpc>
              <a:buNone/>
              <a:defRPr b="1">
                <a:solidFill>
                  <a:schemeClr val="tx1"/>
                </a:solidFill>
                <a:latin typeface="微软雅黑 Light" panose="020B0502040204020203" pitchFamily="34" charset="-122"/>
                <a:ea typeface="微软雅黑 Light" panose="020B0502040204020203" pitchFamily="34" charset="-122"/>
              </a:defRPr>
            </a:lvl1pPr>
            <a:lvl2pPr marL="457200" indent="0" algn="just">
              <a:lnSpc>
                <a:spcPct val="150000"/>
              </a:lnSpc>
              <a:buNone/>
              <a:defRPr b="1">
                <a:solidFill>
                  <a:schemeClr val="tx1"/>
                </a:solidFill>
                <a:latin typeface="微软雅黑 Light" panose="020B0502040204020203" pitchFamily="34" charset="-122"/>
                <a:ea typeface="微软雅黑 Light" panose="020B0502040204020203" pitchFamily="34" charset="-122"/>
              </a:defRPr>
            </a:lvl2pPr>
            <a:lvl3pPr marL="914400" indent="0" algn="just">
              <a:lnSpc>
                <a:spcPct val="150000"/>
              </a:lnSpc>
              <a:buNone/>
              <a:defRPr b="1">
                <a:solidFill>
                  <a:schemeClr val="tx1"/>
                </a:solidFill>
                <a:latin typeface="微软雅黑 Light" panose="020B0502040204020203" pitchFamily="34" charset="-122"/>
                <a:ea typeface="微软雅黑 Light" panose="020B0502040204020203" pitchFamily="34" charset="-122"/>
              </a:defRPr>
            </a:lvl3pPr>
            <a:lvl4pPr marL="1371600" indent="0" algn="just">
              <a:lnSpc>
                <a:spcPct val="150000"/>
              </a:lnSpc>
              <a:buNone/>
              <a:defRPr b="1">
                <a:solidFill>
                  <a:schemeClr val="tx1"/>
                </a:solidFill>
                <a:latin typeface="微软雅黑 Light" panose="020B0502040204020203" pitchFamily="34" charset="-122"/>
                <a:ea typeface="微软雅黑 Light" panose="020B0502040204020203" pitchFamily="34" charset="-122"/>
              </a:defRPr>
            </a:lvl4pPr>
            <a:lvl5pPr marL="1828800" indent="0" algn="just">
              <a:lnSpc>
                <a:spcPct val="150000"/>
              </a:lnSpc>
              <a:buNone/>
              <a:defRPr b="1">
                <a:solidFill>
                  <a:schemeClr val="tx1"/>
                </a:solidFill>
                <a:latin typeface="微软雅黑 Light" panose="020B0502040204020203" pitchFamily="34" charset="-122"/>
                <a:ea typeface="微软雅黑 Light" panose="020B0502040204020203"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pic>
        <p:nvPicPr>
          <p:cNvPr id="13" name="图形 1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23979" y="90926"/>
            <a:ext cx="2305050" cy="457200"/>
          </a:xfrm>
          <a:prstGeom prst="rect">
            <a:avLst/>
          </a:prstGeom>
        </p:spPr>
      </p:pic>
      <p:grpSp>
        <p:nvGrpSpPr>
          <p:cNvPr id="14" name="组合 13"/>
          <p:cNvGrpSpPr/>
          <p:nvPr userDrawn="1"/>
        </p:nvGrpSpPr>
        <p:grpSpPr>
          <a:xfrm>
            <a:off x="9785345" y="73063"/>
            <a:ext cx="2400000" cy="493536"/>
            <a:chOff x="9509117" y="73063"/>
            <a:chExt cx="2400000" cy="493536"/>
          </a:xfrm>
        </p:grpSpPr>
        <p:sp>
          <p:nvSpPr>
            <p:cNvPr id="15" name="矩形 14"/>
            <p:cNvSpPr/>
            <p:nvPr userDrawn="1"/>
          </p:nvSpPr>
          <p:spPr>
            <a:xfrm>
              <a:off x="9509117" y="559399"/>
              <a:ext cx="2400000" cy="7200"/>
            </a:xfrm>
            <a:prstGeom prst="rect">
              <a:avLst/>
            </a:prstGeom>
            <a:solidFill>
              <a:schemeClr val="bg1"/>
            </a:solidFill>
            <a:ln>
              <a:solidFill>
                <a:srgbClr val="0D97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pic>
          <p:nvPicPr>
            <p:cNvPr id="16" name="图形 15"/>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964342" y="73063"/>
              <a:ext cx="944775" cy="492926"/>
            </a:xfrm>
            <a:prstGeom prst="rect">
              <a:avLst/>
            </a:prstGeom>
          </p:spPr>
        </p:pic>
      </p:grpSp>
      <p:sp>
        <p:nvSpPr>
          <p:cNvPr id="17" name="矩形 16"/>
          <p:cNvSpPr/>
          <p:nvPr userDrawn="1"/>
        </p:nvSpPr>
        <p:spPr>
          <a:xfrm>
            <a:off x="2" y="6497638"/>
            <a:ext cx="509599" cy="3603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8" name="燕尾形 14"/>
          <p:cNvSpPr/>
          <p:nvPr userDrawn="1"/>
        </p:nvSpPr>
        <p:spPr>
          <a:xfrm>
            <a:off x="127220" y="6570461"/>
            <a:ext cx="274737" cy="214714"/>
          </a:xfrm>
          <a:prstGeom prst="chevron">
            <a:avLst>
              <a:gd name="adj" fmla="val 45232"/>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tx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白色极简_校徽">
    <p:spTree>
      <p:nvGrpSpPr>
        <p:cNvPr id="1" name=""/>
        <p:cNvGrpSpPr/>
        <p:nvPr/>
      </p:nvGrpSpPr>
      <p:grpSpPr>
        <a:xfrm>
          <a:off x="0" y="0"/>
          <a:ext cx="0" cy="0"/>
          <a:chOff x="0" y="0"/>
          <a:chExt cx="0" cy="0"/>
        </a:xfrm>
      </p:grpSpPr>
      <p:sp>
        <p:nvSpPr>
          <p:cNvPr id="2" name="标题 1"/>
          <p:cNvSpPr>
            <a:spLocks noGrp="1"/>
          </p:cNvSpPr>
          <p:nvPr>
            <p:ph type="ctrTitle"/>
          </p:nvPr>
        </p:nvSpPr>
        <p:spPr>
          <a:xfrm>
            <a:off x="0" y="157280"/>
            <a:ext cx="5321300" cy="558258"/>
          </a:xfrm>
          <a:solidFill>
            <a:srgbClr val="0D97C0"/>
          </a:solidFill>
          <a:ln>
            <a:noFill/>
          </a:ln>
        </p:spPr>
        <p:txBody>
          <a:bodyPr vert="horz" lIns="91440" tIns="45720" rIns="91440" bIns="45720" rtlCol="0" anchor="ctr">
            <a:normAutofit/>
          </a:bodyPr>
          <a:lstStyle>
            <a:lvl1pPr>
              <a:defRPr lang="zh-CN" altLang="en-US" sz="3200" b="1">
                <a:solidFill>
                  <a:schemeClr val="bg1"/>
                </a:solidFill>
                <a:latin typeface="微软雅黑 Light" panose="020B0502040204020203" pitchFamily="34" charset="-122"/>
                <a:ea typeface="微软雅黑 Light" panose="020B0502040204020203" pitchFamily="34" charset="-122"/>
              </a:defRPr>
            </a:lvl1pPr>
          </a:lstStyle>
          <a:p>
            <a:pPr lvl="0"/>
            <a:r>
              <a:rPr lang="zh-CN" altLang="en-US" dirty="0"/>
              <a:t>单击此处编辑母版标题样式</a:t>
            </a:r>
          </a:p>
        </p:txBody>
      </p:sp>
      <p:sp>
        <p:nvSpPr>
          <p:cNvPr id="3" name="副标题 2"/>
          <p:cNvSpPr>
            <a:spLocks noGrp="1"/>
          </p:cNvSpPr>
          <p:nvPr>
            <p:ph type="subTitle" idx="1"/>
          </p:nvPr>
        </p:nvSpPr>
        <p:spPr>
          <a:xfrm>
            <a:off x="522288" y="902648"/>
            <a:ext cx="5097462" cy="508795"/>
          </a:xfrm>
        </p:spPr>
        <p:txBody>
          <a:bodyPr vert="horz" lIns="91440" tIns="45720" rIns="91440" bIns="45720" rtlCol="0">
            <a:noAutofit/>
          </a:bodyPr>
          <a:lstStyle>
            <a:lvl1pPr marL="0" indent="0">
              <a:buNone/>
              <a:defRPr lang="zh-CN" altLang="en-US" b="1">
                <a:solidFill>
                  <a:srgbClr val="0D97C0"/>
                </a:solidFill>
                <a:latin typeface="微软雅黑 Light" panose="020B0502040204020203" pitchFamily="34" charset="-122"/>
                <a:ea typeface="微软雅黑 Light" panose="020B0502040204020203" pitchFamily="34" charset="-122"/>
              </a:defRPr>
            </a:lvl1pPr>
          </a:lstStyle>
          <a:p>
            <a:pPr marL="228600" lvl="0" indent="-228600"/>
            <a:r>
              <a:rPr lang="zh-CN" altLang="en-US" dirty="0"/>
              <a:t>单击此处编辑母版副标题样式</a:t>
            </a:r>
          </a:p>
        </p:txBody>
      </p:sp>
      <p:pic>
        <p:nvPicPr>
          <p:cNvPr id="7" name="图形 6"/>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941016" y="73936"/>
            <a:ext cx="2147378" cy="661863"/>
          </a:xfrm>
          <a:prstGeom prst="rect">
            <a:avLst/>
          </a:prstGeom>
        </p:spPr>
      </p:pic>
      <p:sp>
        <p:nvSpPr>
          <p:cNvPr id="8" name="矩形 7"/>
          <p:cNvSpPr/>
          <p:nvPr userDrawn="1"/>
        </p:nvSpPr>
        <p:spPr>
          <a:xfrm>
            <a:off x="0" y="707093"/>
            <a:ext cx="9718369" cy="3600"/>
          </a:xfrm>
          <a:prstGeom prst="rect">
            <a:avLst/>
          </a:prstGeom>
          <a:solidFill>
            <a:srgbClr val="0D97C0"/>
          </a:solidFill>
          <a:ln>
            <a:solidFill>
              <a:srgbClr val="0D97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9" name="矩形 8"/>
          <p:cNvSpPr/>
          <p:nvPr userDrawn="1"/>
        </p:nvSpPr>
        <p:spPr>
          <a:xfrm>
            <a:off x="0" y="6497638"/>
            <a:ext cx="12192000"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dirty="0">
              <a:solidFill>
                <a:prstClr val="white"/>
              </a:solidFill>
            </a:endParaRPr>
          </a:p>
        </p:txBody>
      </p:sp>
      <p:sp>
        <p:nvSpPr>
          <p:cNvPr id="10" name="矩形 9"/>
          <p:cNvSpPr/>
          <p:nvPr userDrawn="1"/>
        </p:nvSpPr>
        <p:spPr>
          <a:xfrm>
            <a:off x="11247227" y="6497638"/>
            <a:ext cx="944775" cy="360362"/>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ctr" eaLnBrk="0" fontAlgn="base" hangingPunct="0">
              <a:spcBef>
                <a:spcPct val="0"/>
              </a:spcBef>
              <a:spcAft>
                <a:spcPct val="0"/>
              </a:spcAft>
            </a:pPr>
            <a:fld id="{677FF5B8-A162-48EC-849B-0011207F2481}" type="slidenum">
              <a:rPr lang="zh-CN" altLang="en-US" b="0">
                <a:solidFill>
                  <a:srgbClr val="0097C4"/>
                </a:solidFill>
                <a:latin typeface="Bodoni MT Black" panose="02070A03080606020203" pitchFamily="18" charset="0"/>
                <a:ea typeface="微软雅黑 Light" panose="020B0502040204020203" pitchFamily="34" charset="-122"/>
              </a:rPr>
              <a:t>‹#›</a:t>
            </a:fld>
            <a:endParaRPr lang="zh-CN" altLang="en-US" b="0" dirty="0">
              <a:solidFill>
                <a:srgbClr val="0097C4"/>
              </a:solidFill>
              <a:latin typeface="Bodoni MT Black" panose="02070A03080606020203" pitchFamily="18" charset="0"/>
              <a:ea typeface="微软雅黑 Light" panose="020B0502040204020203" pitchFamily="34" charset="-122"/>
            </a:endParaRPr>
          </a:p>
        </p:txBody>
      </p:sp>
      <p:sp>
        <p:nvSpPr>
          <p:cNvPr id="11" name="文本框 10"/>
          <p:cNvSpPr txBox="1"/>
          <p:nvPr userDrawn="1"/>
        </p:nvSpPr>
        <p:spPr>
          <a:xfrm>
            <a:off x="406400" y="6522330"/>
            <a:ext cx="1041076" cy="338554"/>
          </a:xfrm>
          <a:prstGeom prst="rect">
            <a:avLst/>
          </a:prstGeom>
          <a:noFill/>
        </p:spPr>
        <p:txBody>
          <a:bodyPr wrap="square" rtlCol="0">
            <a:spAutoFit/>
          </a:bodyPr>
          <a:lstStyle/>
          <a:p>
            <a:r>
              <a:rPr lang="zh-CN" altLang="en-US" sz="1600" b="0" u="none" baseline="0" dirty="0">
                <a:solidFill>
                  <a:srgbClr val="0D97C0"/>
                </a:solidFill>
                <a:latin typeface="Times New Roman" panose="02020603050405020304" pitchFamily="18" charset="0"/>
                <a:ea typeface="楷体" panose="02010609060101010101" pitchFamily="49" charset="-122"/>
              </a:rPr>
              <a:t>名字</a:t>
            </a:r>
          </a:p>
        </p:txBody>
      </p:sp>
      <p:sp>
        <p:nvSpPr>
          <p:cNvPr id="12" name="文本框 11"/>
          <p:cNvSpPr txBox="1"/>
          <p:nvPr userDrawn="1"/>
        </p:nvSpPr>
        <p:spPr>
          <a:xfrm>
            <a:off x="1634490" y="6522330"/>
            <a:ext cx="1805940" cy="338554"/>
          </a:xfrm>
          <a:prstGeom prst="rect">
            <a:avLst/>
          </a:prstGeom>
          <a:noFill/>
        </p:spPr>
        <p:txBody>
          <a:bodyPr wrap="square" rtlCol="0">
            <a:spAutoFit/>
          </a:bodyPr>
          <a:lstStyle/>
          <a:p>
            <a:r>
              <a:rPr lang="zh-CN" altLang="en-US" sz="1600" b="0" u="none" baseline="0" dirty="0">
                <a:solidFill>
                  <a:schemeClr val="bg1"/>
                </a:solidFill>
                <a:latin typeface="Times New Roman" panose="02020603050405020304" pitchFamily="18" charset="0"/>
                <a:ea typeface="楷体" panose="02010609060101010101" pitchFamily="49" charset="-122"/>
              </a:rPr>
              <a:t>北京工业大学</a:t>
            </a:r>
            <a:r>
              <a:rPr lang="en-US" altLang="zh-CN" sz="1600" b="0" u="none" baseline="0" dirty="0">
                <a:solidFill>
                  <a:schemeClr val="bg1"/>
                </a:solidFill>
                <a:latin typeface="Times New Roman" panose="02020603050405020304" pitchFamily="18" charset="0"/>
                <a:ea typeface="楷体" panose="02010609060101010101" pitchFamily="49" charset="-122"/>
              </a:rPr>
              <a:t>	</a:t>
            </a:r>
            <a:endParaRPr lang="zh-CN" altLang="en-US" sz="1600" b="0" u="none" baseline="0" dirty="0">
              <a:solidFill>
                <a:schemeClr val="bg1"/>
              </a:solidFill>
              <a:latin typeface="Times New Roman" panose="02020603050405020304" pitchFamily="18" charset="0"/>
              <a:ea typeface="楷体" panose="02010609060101010101" pitchFamily="49" charset="-122"/>
            </a:endParaRPr>
          </a:p>
        </p:txBody>
      </p:sp>
      <p:sp>
        <p:nvSpPr>
          <p:cNvPr id="13" name="文本框 12"/>
          <p:cNvSpPr txBox="1"/>
          <p:nvPr userDrawn="1"/>
        </p:nvSpPr>
        <p:spPr>
          <a:xfrm>
            <a:off x="3440429" y="6494754"/>
            <a:ext cx="2817495" cy="338554"/>
          </a:xfrm>
          <a:prstGeom prst="rect">
            <a:avLst/>
          </a:prstGeom>
          <a:noFill/>
        </p:spPr>
        <p:txBody>
          <a:bodyPr wrap="square" rtlCol="0">
            <a:spAutoFit/>
          </a:bodyPr>
          <a:lstStyle/>
          <a:p>
            <a:r>
              <a:rPr lang="en-US" altLang="zh-CN" sz="1600" b="0" u="none" baseline="0" dirty="0">
                <a:solidFill>
                  <a:srgbClr val="0D97C0"/>
                </a:solidFill>
                <a:latin typeface="Times New Roman" panose="02020603050405020304" pitchFamily="18" charset="0"/>
                <a:ea typeface="楷体" panose="02010609060101010101" pitchFamily="49" charset="-122"/>
              </a:rPr>
              <a:t>zy19970@mails.bjut.edu.cn</a:t>
            </a:r>
            <a:endParaRPr lang="zh-CN" altLang="en-US" sz="1600" b="0" u="none" baseline="0" dirty="0">
              <a:solidFill>
                <a:srgbClr val="0D97C0"/>
              </a:solidFill>
              <a:latin typeface="Times New Roman" panose="02020603050405020304" pitchFamily="18" charset="0"/>
              <a:ea typeface="楷体" panose="02010609060101010101" pitchFamily="49" charset="-122"/>
            </a:endParaRPr>
          </a:p>
        </p:txBody>
      </p:sp>
      <p:sp>
        <p:nvSpPr>
          <p:cNvPr id="15" name="内容占位符 14"/>
          <p:cNvSpPr>
            <a:spLocks noGrp="1"/>
          </p:cNvSpPr>
          <p:nvPr>
            <p:ph sz="quarter" idx="10"/>
          </p:nvPr>
        </p:nvSpPr>
        <p:spPr>
          <a:xfrm>
            <a:off x="522288" y="1666876"/>
            <a:ext cx="11132683" cy="4629150"/>
          </a:xfrm>
        </p:spPr>
        <p:txBody>
          <a:bodyPr vert="horz" lIns="91440" tIns="45720" rIns="91440" bIns="45720" rtlCol="0">
            <a:normAutofit/>
          </a:bodyPr>
          <a:lstStyle>
            <a:lvl1pPr marL="0" indent="0" algn="just">
              <a:lnSpc>
                <a:spcPct val="120000"/>
              </a:lnSpc>
              <a:buNone/>
              <a:defRPr lang="zh-CN" altLang="en-US" b="1" smtClean="0">
                <a:solidFill>
                  <a:schemeClr val="tx1"/>
                </a:solidFill>
                <a:latin typeface="微软雅黑 Light" panose="020B0502040204020203" pitchFamily="34" charset="-122"/>
                <a:ea typeface="微软雅黑 Light" panose="020B0502040204020203" pitchFamily="34" charset="-122"/>
              </a:defRPr>
            </a:lvl1pPr>
            <a:lvl2pPr marL="457200" indent="0" algn="just">
              <a:lnSpc>
                <a:spcPct val="120000"/>
              </a:lnSpc>
              <a:buNone/>
              <a:defRPr lang="zh-CN" altLang="en-US" b="1" smtClean="0">
                <a:solidFill>
                  <a:schemeClr val="tx1"/>
                </a:solidFill>
                <a:latin typeface="微软雅黑 Light" panose="020B0502040204020203" pitchFamily="34" charset="-122"/>
                <a:ea typeface="微软雅黑 Light" panose="020B0502040204020203" pitchFamily="34" charset="-122"/>
              </a:defRPr>
            </a:lvl2pPr>
            <a:lvl3pPr marL="914400" indent="0" algn="just">
              <a:lnSpc>
                <a:spcPct val="120000"/>
              </a:lnSpc>
              <a:buNone/>
              <a:defRPr lang="zh-CN" altLang="en-US" b="1" smtClean="0">
                <a:solidFill>
                  <a:schemeClr val="tx1"/>
                </a:solidFill>
                <a:latin typeface="微软雅黑 Light" panose="020B0502040204020203" pitchFamily="34" charset="-122"/>
                <a:ea typeface="微软雅黑 Light" panose="020B0502040204020203" pitchFamily="34" charset="-122"/>
              </a:defRPr>
            </a:lvl3pPr>
            <a:lvl4pPr marL="1371600" indent="0" algn="just">
              <a:lnSpc>
                <a:spcPct val="120000"/>
              </a:lnSpc>
              <a:buNone/>
              <a:defRPr lang="zh-CN" altLang="en-US" b="1" smtClean="0">
                <a:solidFill>
                  <a:schemeClr val="tx1"/>
                </a:solidFill>
                <a:latin typeface="微软雅黑 Light" panose="020B0502040204020203" pitchFamily="34" charset="-122"/>
                <a:ea typeface="微软雅黑 Light" panose="020B0502040204020203" pitchFamily="34" charset="-122"/>
              </a:defRPr>
            </a:lvl4pPr>
            <a:lvl5pPr marL="1828800" indent="0" algn="just">
              <a:lnSpc>
                <a:spcPct val="120000"/>
              </a:lnSpc>
              <a:buNone/>
              <a:defRPr lang="zh-CN" altLang="en-US" b="1">
                <a:solidFill>
                  <a:schemeClr val="tx1"/>
                </a:solidFill>
                <a:latin typeface="微软雅黑 Light" panose="020B0502040204020203" pitchFamily="34" charset="-122"/>
                <a:ea typeface="微软雅黑 Light" panose="020B0502040204020203" pitchFamily="34" charset="-122"/>
              </a:defRPr>
            </a:lvl5pPr>
          </a:lstStyle>
          <a:p>
            <a:pPr lvl="0">
              <a:lnSpc>
                <a:spcPct val="150000"/>
              </a:lnSpc>
            </a:pPr>
            <a:r>
              <a:rPr lang="zh-CN" altLang="en-US" dirty="0"/>
              <a:t>单击此处编辑母版文本样式</a:t>
            </a:r>
          </a:p>
          <a:p>
            <a:pPr lvl="1">
              <a:lnSpc>
                <a:spcPct val="150000"/>
              </a:lnSpc>
            </a:pPr>
            <a:r>
              <a:rPr lang="zh-CN" altLang="en-US" dirty="0"/>
              <a:t>二级</a:t>
            </a:r>
          </a:p>
          <a:p>
            <a:pPr lvl="2">
              <a:lnSpc>
                <a:spcPct val="150000"/>
              </a:lnSpc>
            </a:pPr>
            <a:r>
              <a:rPr lang="zh-CN" altLang="en-US" dirty="0"/>
              <a:t>三级</a:t>
            </a:r>
          </a:p>
          <a:p>
            <a:pPr lvl="3">
              <a:lnSpc>
                <a:spcPct val="150000"/>
              </a:lnSpc>
            </a:pPr>
            <a:r>
              <a:rPr lang="zh-CN" altLang="en-US" dirty="0"/>
              <a:t>四级</a:t>
            </a:r>
          </a:p>
          <a:p>
            <a:pPr lvl="4">
              <a:lnSpc>
                <a:spcPct val="150000"/>
              </a:lnSpc>
            </a:pPr>
            <a:r>
              <a:rPr lang="zh-CN" altLang="en-US" dirty="0"/>
              <a:t>五级</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白色极简_校标">
    <p:spTree>
      <p:nvGrpSpPr>
        <p:cNvPr id="1" name=""/>
        <p:cNvGrpSpPr/>
        <p:nvPr/>
      </p:nvGrpSpPr>
      <p:grpSpPr>
        <a:xfrm>
          <a:off x="0" y="0"/>
          <a:ext cx="0" cy="0"/>
          <a:chOff x="0" y="0"/>
          <a:chExt cx="0" cy="0"/>
        </a:xfrm>
      </p:grpSpPr>
      <p:sp>
        <p:nvSpPr>
          <p:cNvPr id="2" name="标题 1"/>
          <p:cNvSpPr>
            <a:spLocks noGrp="1"/>
          </p:cNvSpPr>
          <p:nvPr>
            <p:ph type="ctrTitle"/>
          </p:nvPr>
        </p:nvSpPr>
        <p:spPr>
          <a:xfrm>
            <a:off x="0" y="157280"/>
            <a:ext cx="5321300" cy="558258"/>
          </a:xfrm>
          <a:solidFill>
            <a:srgbClr val="0D97C0"/>
          </a:solidFill>
          <a:ln>
            <a:noFill/>
          </a:ln>
        </p:spPr>
        <p:txBody>
          <a:bodyPr vert="horz" lIns="91440" tIns="45720" rIns="91440" bIns="45720" rtlCol="0" anchor="ctr">
            <a:normAutofit/>
          </a:bodyPr>
          <a:lstStyle>
            <a:lvl1pPr>
              <a:defRPr lang="zh-CN" altLang="en-US" sz="3200" b="1">
                <a:solidFill>
                  <a:schemeClr val="bg1"/>
                </a:solidFill>
                <a:latin typeface="微软雅黑 Light" panose="020B0502040204020203" pitchFamily="34" charset="-122"/>
                <a:ea typeface="微软雅黑 Light" panose="020B0502040204020203" pitchFamily="34" charset="-122"/>
              </a:defRPr>
            </a:lvl1pPr>
          </a:lstStyle>
          <a:p>
            <a:pPr lvl="0"/>
            <a:r>
              <a:rPr lang="zh-CN" altLang="en-US" dirty="0"/>
              <a:t>单击此处编辑母版标题样式</a:t>
            </a:r>
          </a:p>
        </p:txBody>
      </p:sp>
      <p:sp>
        <p:nvSpPr>
          <p:cNvPr id="3" name="副标题 2"/>
          <p:cNvSpPr>
            <a:spLocks noGrp="1"/>
          </p:cNvSpPr>
          <p:nvPr>
            <p:ph type="subTitle" idx="1"/>
          </p:nvPr>
        </p:nvSpPr>
        <p:spPr>
          <a:xfrm>
            <a:off x="522288" y="902648"/>
            <a:ext cx="5097462" cy="508795"/>
          </a:xfrm>
        </p:spPr>
        <p:txBody>
          <a:bodyPr vert="horz" lIns="91440" tIns="45720" rIns="91440" bIns="45720" rtlCol="0">
            <a:noAutofit/>
          </a:bodyPr>
          <a:lstStyle>
            <a:lvl1pPr marL="0" indent="0">
              <a:buNone/>
              <a:defRPr lang="zh-CN" altLang="en-US" b="1">
                <a:solidFill>
                  <a:srgbClr val="0D97C0"/>
                </a:solidFill>
                <a:latin typeface="微软雅黑 Light" panose="020B0502040204020203" pitchFamily="34" charset="-122"/>
                <a:ea typeface="微软雅黑 Light" panose="020B0502040204020203" pitchFamily="34" charset="-122"/>
              </a:defRPr>
            </a:lvl1pPr>
          </a:lstStyle>
          <a:p>
            <a:pPr marL="228600" lvl="0" indent="-228600"/>
            <a:r>
              <a:rPr lang="zh-CN" altLang="en-US" dirty="0"/>
              <a:t>单击此处编辑母版副标题样式</a:t>
            </a:r>
          </a:p>
        </p:txBody>
      </p:sp>
      <p:sp>
        <p:nvSpPr>
          <p:cNvPr id="8" name="矩形 7"/>
          <p:cNvSpPr/>
          <p:nvPr userDrawn="1"/>
        </p:nvSpPr>
        <p:spPr>
          <a:xfrm>
            <a:off x="0" y="707093"/>
            <a:ext cx="9718369" cy="3600"/>
          </a:xfrm>
          <a:prstGeom prst="rect">
            <a:avLst/>
          </a:prstGeom>
          <a:solidFill>
            <a:srgbClr val="0D97C0"/>
          </a:solidFill>
          <a:ln>
            <a:solidFill>
              <a:srgbClr val="0D97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
        <p:nvSpPr>
          <p:cNvPr id="9" name="矩形 8"/>
          <p:cNvSpPr/>
          <p:nvPr userDrawn="1"/>
        </p:nvSpPr>
        <p:spPr>
          <a:xfrm>
            <a:off x="0" y="6497638"/>
            <a:ext cx="12192000" cy="360362"/>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60" dirty="0">
              <a:solidFill>
                <a:prstClr val="white"/>
              </a:solidFill>
            </a:endParaRPr>
          </a:p>
        </p:txBody>
      </p:sp>
      <p:sp>
        <p:nvSpPr>
          <p:cNvPr id="10" name="矩形 9"/>
          <p:cNvSpPr/>
          <p:nvPr userDrawn="1"/>
        </p:nvSpPr>
        <p:spPr>
          <a:xfrm>
            <a:off x="11247227" y="6497638"/>
            <a:ext cx="944775" cy="360362"/>
          </a:xfrm>
          <a:prstGeom prst="rect">
            <a:avLst/>
          </a:prstGeom>
          <a:solidFill>
            <a:schemeClr val="bg1"/>
          </a:solidFill>
          <a:ln>
            <a:noFill/>
            <a:miter lim="800000"/>
          </a:ln>
        </p:spPr>
        <p:style>
          <a:lnRef idx="2">
            <a:schemeClr val="accent1">
              <a:shade val="50000"/>
            </a:schemeClr>
          </a:lnRef>
          <a:fillRef idx="1">
            <a:schemeClr val="accent1"/>
          </a:fillRef>
          <a:effectRef idx="0">
            <a:schemeClr val="accent1"/>
          </a:effectRef>
          <a:fontRef idx="minor">
            <a:schemeClr val="lt1"/>
          </a:fontRef>
        </p:style>
        <p:txBody>
          <a:bodyPr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ctr" fontAlgn="base">
              <a:spcBef>
                <a:spcPct val="0"/>
              </a:spcBef>
              <a:spcAft>
                <a:spcPct val="0"/>
              </a:spcAft>
            </a:pPr>
            <a:fld id="{677FF5B8-A162-48EC-849B-0011207F2481}" type="slidenum">
              <a:rPr lang="zh-CN" altLang="en-US" b="0">
                <a:solidFill>
                  <a:srgbClr val="0097C4"/>
                </a:solidFill>
                <a:latin typeface="Bodoni MT Black" panose="02070A03080606020203" pitchFamily="18" charset="0"/>
                <a:ea typeface="微软雅黑 Light" panose="020B0502040204020203" pitchFamily="34" charset="-122"/>
              </a:rPr>
              <a:t>‹#›</a:t>
            </a:fld>
            <a:endParaRPr lang="zh-CN" altLang="en-US" b="0" dirty="0">
              <a:solidFill>
                <a:srgbClr val="0097C4"/>
              </a:solidFill>
              <a:latin typeface="Bodoni MT Black" panose="02070A03080606020203" pitchFamily="18" charset="0"/>
              <a:ea typeface="微软雅黑 Light" panose="020B0502040204020203" pitchFamily="34" charset="-122"/>
            </a:endParaRPr>
          </a:p>
        </p:txBody>
      </p:sp>
      <p:sp>
        <p:nvSpPr>
          <p:cNvPr id="11" name="文本框 10"/>
          <p:cNvSpPr txBox="1"/>
          <p:nvPr userDrawn="1"/>
        </p:nvSpPr>
        <p:spPr>
          <a:xfrm>
            <a:off x="406400" y="6522330"/>
            <a:ext cx="1041076" cy="338554"/>
          </a:xfrm>
          <a:prstGeom prst="rect">
            <a:avLst/>
          </a:prstGeom>
          <a:noFill/>
        </p:spPr>
        <p:txBody>
          <a:bodyPr wrap="square" rtlCol="0">
            <a:spAutoFit/>
          </a:bodyPr>
          <a:lstStyle/>
          <a:p>
            <a:r>
              <a:rPr lang="zh-CN" altLang="en-US" sz="1600" b="0" u="none" baseline="0" dirty="0">
                <a:solidFill>
                  <a:srgbClr val="0D97C0"/>
                </a:solidFill>
                <a:latin typeface="Times New Roman" panose="02020603050405020304" pitchFamily="18" charset="0"/>
                <a:ea typeface="楷体" panose="02010609060101010101" pitchFamily="49" charset="-122"/>
              </a:rPr>
              <a:t>名字</a:t>
            </a:r>
          </a:p>
        </p:txBody>
      </p:sp>
      <p:sp>
        <p:nvSpPr>
          <p:cNvPr id="12" name="文本框 11"/>
          <p:cNvSpPr txBox="1"/>
          <p:nvPr userDrawn="1"/>
        </p:nvSpPr>
        <p:spPr>
          <a:xfrm>
            <a:off x="1634490" y="6522330"/>
            <a:ext cx="1805940" cy="338554"/>
          </a:xfrm>
          <a:prstGeom prst="rect">
            <a:avLst/>
          </a:prstGeom>
          <a:noFill/>
        </p:spPr>
        <p:txBody>
          <a:bodyPr wrap="square" rtlCol="0">
            <a:spAutoFit/>
          </a:bodyPr>
          <a:lstStyle/>
          <a:p>
            <a:r>
              <a:rPr lang="zh-CN" altLang="en-US" sz="1600" b="0" u="none" baseline="0" dirty="0">
                <a:solidFill>
                  <a:schemeClr val="bg1"/>
                </a:solidFill>
                <a:latin typeface="Times New Roman" panose="02020603050405020304" pitchFamily="18" charset="0"/>
                <a:ea typeface="楷体" panose="02010609060101010101" pitchFamily="49" charset="-122"/>
              </a:rPr>
              <a:t>北京工业大学</a:t>
            </a:r>
            <a:r>
              <a:rPr lang="en-US" altLang="zh-CN" sz="1600" b="0" u="none" baseline="0" dirty="0">
                <a:solidFill>
                  <a:schemeClr val="bg1"/>
                </a:solidFill>
                <a:latin typeface="Times New Roman" panose="02020603050405020304" pitchFamily="18" charset="0"/>
                <a:ea typeface="楷体" panose="02010609060101010101" pitchFamily="49" charset="-122"/>
              </a:rPr>
              <a:t>	</a:t>
            </a:r>
            <a:endParaRPr lang="zh-CN" altLang="en-US" sz="1600" b="0" u="none" baseline="0" dirty="0">
              <a:solidFill>
                <a:schemeClr val="bg1"/>
              </a:solidFill>
              <a:latin typeface="Times New Roman" panose="02020603050405020304" pitchFamily="18" charset="0"/>
              <a:ea typeface="楷体" panose="02010609060101010101" pitchFamily="49" charset="-122"/>
            </a:endParaRPr>
          </a:p>
        </p:txBody>
      </p:sp>
      <p:sp>
        <p:nvSpPr>
          <p:cNvPr id="13" name="文本框 12"/>
          <p:cNvSpPr txBox="1"/>
          <p:nvPr userDrawn="1"/>
        </p:nvSpPr>
        <p:spPr>
          <a:xfrm>
            <a:off x="3440429" y="6494754"/>
            <a:ext cx="2817495" cy="338554"/>
          </a:xfrm>
          <a:prstGeom prst="rect">
            <a:avLst/>
          </a:prstGeom>
          <a:noFill/>
        </p:spPr>
        <p:txBody>
          <a:bodyPr wrap="square" rtlCol="0">
            <a:spAutoFit/>
          </a:bodyPr>
          <a:lstStyle/>
          <a:p>
            <a:r>
              <a:rPr lang="en-US" altLang="zh-CN" sz="1600" b="0" u="none" baseline="0" dirty="0">
                <a:solidFill>
                  <a:srgbClr val="0D97C0"/>
                </a:solidFill>
                <a:latin typeface="Times New Roman" panose="02020603050405020304" pitchFamily="18" charset="0"/>
                <a:ea typeface="楷体" panose="02010609060101010101" pitchFamily="49" charset="-122"/>
              </a:rPr>
              <a:t>zy19970@mails.bjut.edu.cn</a:t>
            </a:r>
            <a:endParaRPr lang="zh-CN" altLang="en-US" sz="1600" b="0" u="none" baseline="0" dirty="0">
              <a:solidFill>
                <a:srgbClr val="0D97C0"/>
              </a:solidFill>
              <a:latin typeface="Times New Roman" panose="02020603050405020304" pitchFamily="18" charset="0"/>
              <a:ea typeface="楷体" panose="02010609060101010101" pitchFamily="49" charset="-122"/>
            </a:endParaRPr>
          </a:p>
        </p:txBody>
      </p:sp>
      <p:sp>
        <p:nvSpPr>
          <p:cNvPr id="15" name="内容占位符 14"/>
          <p:cNvSpPr>
            <a:spLocks noGrp="1"/>
          </p:cNvSpPr>
          <p:nvPr>
            <p:ph sz="quarter" idx="10"/>
          </p:nvPr>
        </p:nvSpPr>
        <p:spPr>
          <a:xfrm>
            <a:off x="522288" y="1666876"/>
            <a:ext cx="11132683" cy="4629150"/>
          </a:xfrm>
        </p:spPr>
        <p:txBody>
          <a:bodyPr vert="horz" lIns="91440" tIns="45720" rIns="91440" bIns="45720" rtlCol="0">
            <a:normAutofit/>
          </a:bodyPr>
          <a:lstStyle>
            <a:lvl1pPr marL="0" indent="0" algn="just">
              <a:buNone/>
              <a:defRPr lang="zh-CN" altLang="en-US" b="1" smtClean="0">
                <a:solidFill>
                  <a:schemeClr val="tx1"/>
                </a:solidFill>
                <a:latin typeface="微软雅黑 Light" panose="020B0502040204020203" pitchFamily="34" charset="-122"/>
                <a:ea typeface="微软雅黑 Light" panose="020B0502040204020203" pitchFamily="34" charset="-122"/>
              </a:defRPr>
            </a:lvl1pPr>
            <a:lvl2pPr marL="457200" indent="0" algn="just">
              <a:buNone/>
              <a:defRPr lang="zh-CN" altLang="en-US" b="1" smtClean="0">
                <a:solidFill>
                  <a:schemeClr val="tx1"/>
                </a:solidFill>
                <a:latin typeface="微软雅黑 Light" panose="020B0502040204020203" pitchFamily="34" charset="-122"/>
                <a:ea typeface="微软雅黑 Light" panose="020B0502040204020203" pitchFamily="34" charset="-122"/>
              </a:defRPr>
            </a:lvl2pPr>
            <a:lvl3pPr marL="914400" indent="0" algn="just">
              <a:buNone/>
              <a:defRPr lang="zh-CN" altLang="en-US" b="1" smtClean="0">
                <a:solidFill>
                  <a:schemeClr val="tx1"/>
                </a:solidFill>
                <a:latin typeface="微软雅黑 Light" panose="020B0502040204020203" pitchFamily="34" charset="-122"/>
                <a:ea typeface="微软雅黑 Light" panose="020B0502040204020203" pitchFamily="34" charset="-122"/>
              </a:defRPr>
            </a:lvl3pPr>
            <a:lvl4pPr marL="1371600" indent="0" algn="just">
              <a:buNone/>
              <a:defRPr lang="zh-CN" altLang="en-US" b="1" smtClean="0">
                <a:solidFill>
                  <a:schemeClr val="tx1"/>
                </a:solidFill>
                <a:latin typeface="微软雅黑 Light" panose="020B0502040204020203" pitchFamily="34" charset="-122"/>
                <a:ea typeface="微软雅黑 Light" panose="020B0502040204020203" pitchFamily="34" charset="-122"/>
              </a:defRPr>
            </a:lvl4pPr>
            <a:lvl5pPr marL="1828800" indent="0" algn="just">
              <a:buNone/>
              <a:defRPr lang="zh-CN" altLang="en-US" b="1">
                <a:solidFill>
                  <a:schemeClr val="tx1"/>
                </a:solidFill>
                <a:latin typeface="微软雅黑 Light" panose="020B0502040204020203" pitchFamily="34" charset="-122"/>
                <a:ea typeface="微软雅黑 Light" panose="020B0502040204020203" pitchFamily="34" charset="-122"/>
              </a:defRPr>
            </a:lvl5pPr>
          </a:lstStyle>
          <a:p>
            <a:pPr lvl="0">
              <a:lnSpc>
                <a:spcPct val="150000"/>
              </a:lnSpc>
            </a:pPr>
            <a:r>
              <a:rPr lang="zh-CN" altLang="en-US" dirty="0"/>
              <a:t>单击此处编辑母版文本样式</a:t>
            </a:r>
          </a:p>
          <a:p>
            <a:pPr lvl="1">
              <a:lnSpc>
                <a:spcPct val="150000"/>
              </a:lnSpc>
            </a:pPr>
            <a:r>
              <a:rPr lang="zh-CN" altLang="en-US" dirty="0"/>
              <a:t>二级</a:t>
            </a:r>
          </a:p>
          <a:p>
            <a:pPr lvl="2">
              <a:lnSpc>
                <a:spcPct val="150000"/>
              </a:lnSpc>
            </a:pPr>
            <a:r>
              <a:rPr lang="zh-CN" altLang="en-US" dirty="0"/>
              <a:t>三级</a:t>
            </a:r>
          </a:p>
          <a:p>
            <a:pPr lvl="3">
              <a:lnSpc>
                <a:spcPct val="150000"/>
              </a:lnSpc>
            </a:pPr>
            <a:r>
              <a:rPr lang="zh-CN" altLang="en-US" dirty="0"/>
              <a:t>四级</a:t>
            </a:r>
          </a:p>
          <a:p>
            <a:pPr lvl="4">
              <a:lnSpc>
                <a:spcPct val="150000"/>
              </a:lnSpc>
            </a:pPr>
            <a:r>
              <a:rPr lang="zh-CN" altLang="en-US" dirty="0"/>
              <a:t>五级</a:t>
            </a:r>
          </a:p>
        </p:txBody>
      </p:sp>
      <p:pic>
        <p:nvPicPr>
          <p:cNvPr id="5" name="图形 4"/>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716570" y="200473"/>
            <a:ext cx="2446855" cy="485327"/>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致谢">
    <p:bg>
      <p:bgPr>
        <a:solidFill>
          <a:srgbClr val="0D97C0"/>
        </a:solidFill>
        <a:effectLst/>
      </p:bgPr>
    </p:bg>
    <p:spTree>
      <p:nvGrpSpPr>
        <p:cNvPr id="1" name=""/>
        <p:cNvGrpSpPr/>
        <p:nvPr/>
      </p:nvGrpSpPr>
      <p:grpSpPr>
        <a:xfrm>
          <a:off x="0" y="0"/>
          <a:ext cx="0" cy="0"/>
          <a:chOff x="0" y="0"/>
          <a:chExt cx="0" cy="0"/>
        </a:xfrm>
      </p:grpSpPr>
      <p:sp>
        <p:nvSpPr>
          <p:cNvPr id="10" name="标题 1"/>
          <p:cNvSpPr>
            <a:spLocks noGrp="1"/>
          </p:cNvSpPr>
          <p:nvPr>
            <p:ph type="title" hasCustomPrompt="1"/>
          </p:nvPr>
        </p:nvSpPr>
        <p:spPr>
          <a:xfrm>
            <a:off x="3763193" y="2099373"/>
            <a:ext cx="4665617" cy="1325563"/>
          </a:xfrm>
        </p:spPr>
        <p:txBody>
          <a:bodyPr>
            <a:normAutofit/>
          </a:bodyPr>
          <a:lstStyle>
            <a:lvl1pPr algn="ctr">
              <a:defRPr sz="4800" b="1">
                <a:solidFill>
                  <a:schemeClr val="bg1"/>
                </a:solidFill>
                <a:latin typeface="微软雅黑 Light" panose="020B0502040204020203" pitchFamily="34" charset="-122"/>
                <a:ea typeface="微软雅黑 Light" panose="020B0502040204020203" pitchFamily="34" charset="-122"/>
              </a:defRPr>
            </a:lvl1pPr>
          </a:lstStyle>
          <a:p>
            <a:r>
              <a:rPr lang="zh-CN" altLang="en-US" dirty="0"/>
              <a:t>请输入致谢</a:t>
            </a:r>
          </a:p>
        </p:txBody>
      </p:sp>
      <p:pic>
        <p:nvPicPr>
          <p:cNvPr id="13" name="图形 12"/>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7526382" y="5170160"/>
            <a:ext cx="4665618" cy="1687840"/>
          </a:xfrm>
          <a:prstGeom prst="rect">
            <a:avLst/>
          </a:prstGeom>
        </p:spPr>
      </p:pic>
      <p:grpSp>
        <p:nvGrpSpPr>
          <p:cNvPr id="4" name="组合 3"/>
          <p:cNvGrpSpPr/>
          <p:nvPr userDrawn="1"/>
        </p:nvGrpSpPr>
        <p:grpSpPr>
          <a:xfrm>
            <a:off x="2418018" y="1130870"/>
            <a:ext cx="2324103" cy="514842"/>
            <a:chOff x="3086104" y="216939"/>
            <a:chExt cx="1743077" cy="514842"/>
          </a:xfrm>
        </p:grpSpPr>
        <p:sp>
          <p:nvSpPr>
            <p:cNvPr id="2" name="文本框 1"/>
            <p:cNvSpPr txBox="1"/>
            <p:nvPr userDrawn="1"/>
          </p:nvSpPr>
          <p:spPr>
            <a:xfrm>
              <a:off x="3086104" y="216939"/>
              <a:ext cx="1687001" cy="400110"/>
            </a:xfrm>
            <a:prstGeom prst="rect">
              <a:avLst/>
            </a:prstGeom>
            <a:noFill/>
          </p:spPr>
          <p:txBody>
            <a:bodyPr wrap="none" rtlCol="0">
              <a:spAutoFit/>
            </a:bodyPr>
            <a:lstStyle/>
            <a:p>
              <a:r>
                <a:rPr lang="zh-CN" altLang="en-US" sz="2000" b="1" spc="300" dirty="0">
                  <a:solidFill>
                    <a:srgbClr val="0D97C0"/>
                  </a:solidFill>
                  <a:latin typeface="微软雅黑 Light" panose="020B0502040204020203" pitchFamily="34" charset="-122"/>
                  <a:ea typeface="微软雅黑 Light" panose="020B0502040204020203" pitchFamily="34" charset="-122"/>
                </a:rPr>
                <a:t>材料与制造学部</a:t>
              </a:r>
            </a:p>
          </p:txBody>
        </p:sp>
        <p:sp>
          <p:nvSpPr>
            <p:cNvPr id="3" name="文本框 2"/>
            <p:cNvSpPr txBox="1"/>
            <p:nvPr userDrawn="1"/>
          </p:nvSpPr>
          <p:spPr>
            <a:xfrm>
              <a:off x="3115731" y="531726"/>
              <a:ext cx="1713450" cy="200055"/>
            </a:xfrm>
            <a:prstGeom prst="rect">
              <a:avLst/>
            </a:prstGeom>
            <a:noFill/>
          </p:spPr>
          <p:txBody>
            <a:bodyPr wrap="none" rtlCol="0">
              <a:spAutoFit/>
            </a:bodyPr>
            <a:lstStyle/>
            <a:p>
              <a:r>
                <a:rPr lang="en-US" altLang="zh-CN" sz="700" b="0" dirty="0">
                  <a:solidFill>
                    <a:srgbClr val="0D97C0"/>
                  </a:solidFill>
                  <a:latin typeface="Times New Roman" panose="02020603050405020304" pitchFamily="18" charset="0"/>
                  <a:cs typeface="Times New Roman" panose="02020603050405020304" pitchFamily="18" charset="0"/>
                </a:rPr>
                <a:t>FACULTY OF MATERIALS AND MANUFACTURING</a:t>
              </a:r>
              <a:endParaRPr lang="zh-CN" altLang="en-US" sz="700" b="0" dirty="0">
                <a:solidFill>
                  <a:srgbClr val="0D97C0"/>
                </a:solidFill>
                <a:latin typeface="Times New Roman" panose="02020603050405020304" pitchFamily="18" charset="0"/>
                <a:cs typeface="Times New Roman" panose="02020603050405020304" pitchFamily="18" charset="0"/>
              </a:endParaRPr>
            </a:p>
          </p:txBody>
        </p:sp>
      </p:grpSp>
      <p:pic>
        <p:nvPicPr>
          <p:cNvPr id="16" name="图形 15"/>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80775" y="4434023"/>
            <a:ext cx="557088" cy="1255980"/>
          </a:xfrm>
          <a:prstGeom prst="rect">
            <a:avLst/>
          </a:prstGeom>
        </p:spPr>
      </p:pic>
      <p:sp>
        <p:nvSpPr>
          <p:cNvPr id="17" name="Freeform 34"/>
          <p:cNvSpPr>
            <a:spLocks noChangeAspect="1" noEditPoints="1" noChangeArrowheads="1"/>
          </p:cNvSpPr>
          <p:nvPr userDrawn="1"/>
        </p:nvSpPr>
        <p:spPr bwMode="auto">
          <a:xfrm>
            <a:off x="733510" y="4090160"/>
            <a:ext cx="1080000" cy="1080000"/>
          </a:xfrm>
          <a:custGeom>
            <a:avLst/>
            <a:gdLst>
              <a:gd name="T0" fmla="*/ 643 w 643"/>
              <a:gd name="T1" fmla="*/ 356 h 643"/>
              <a:gd name="T2" fmla="*/ 642 w 643"/>
              <a:gd name="T3" fmla="*/ 286 h 643"/>
              <a:gd name="T4" fmla="*/ 551 w 643"/>
              <a:gd name="T5" fmla="*/ 279 h 643"/>
              <a:gd name="T6" fmla="*/ 541 w 643"/>
              <a:gd name="T7" fmla="*/ 244 h 643"/>
              <a:gd name="T8" fmla="*/ 617 w 643"/>
              <a:gd name="T9" fmla="*/ 191 h 643"/>
              <a:gd name="T10" fmla="*/ 582 w 643"/>
              <a:gd name="T11" fmla="*/ 130 h 643"/>
              <a:gd name="T12" fmla="*/ 497 w 643"/>
              <a:gd name="T13" fmla="*/ 171 h 643"/>
              <a:gd name="T14" fmla="*/ 471 w 643"/>
              <a:gd name="T15" fmla="*/ 146 h 643"/>
              <a:gd name="T16" fmla="*/ 512 w 643"/>
              <a:gd name="T17" fmla="*/ 61 h 643"/>
              <a:gd name="T18" fmla="*/ 451 w 643"/>
              <a:gd name="T19" fmla="*/ 26 h 643"/>
              <a:gd name="T20" fmla="*/ 397 w 643"/>
              <a:gd name="T21" fmla="*/ 104 h 643"/>
              <a:gd name="T22" fmla="*/ 364 w 643"/>
              <a:gd name="T23" fmla="*/ 96 h 643"/>
              <a:gd name="T24" fmla="*/ 356 w 643"/>
              <a:gd name="T25" fmla="*/ 0 h 643"/>
              <a:gd name="T26" fmla="*/ 286 w 643"/>
              <a:gd name="T27" fmla="*/ 1 h 643"/>
              <a:gd name="T28" fmla="*/ 278 w 643"/>
              <a:gd name="T29" fmla="*/ 96 h 643"/>
              <a:gd name="T30" fmla="*/ 245 w 643"/>
              <a:gd name="T31" fmla="*/ 105 h 643"/>
              <a:gd name="T32" fmla="*/ 191 w 643"/>
              <a:gd name="T33" fmla="*/ 26 h 643"/>
              <a:gd name="T34" fmla="*/ 130 w 643"/>
              <a:gd name="T35" fmla="*/ 61 h 643"/>
              <a:gd name="T36" fmla="*/ 171 w 643"/>
              <a:gd name="T37" fmla="*/ 147 h 643"/>
              <a:gd name="T38" fmla="*/ 146 w 643"/>
              <a:gd name="T39" fmla="*/ 171 h 643"/>
              <a:gd name="T40" fmla="*/ 61 w 643"/>
              <a:gd name="T41" fmla="*/ 131 h 643"/>
              <a:gd name="T42" fmla="*/ 26 w 643"/>
              <a:gd name="T43" fmla="*/ 192 h 643"/>
              <a:gd name="T44" fmla="*/ 102 w 643"/>
              <a:gd name="T45" fmla="*/ 244 h 643"/>
              <a:gd name="T46" fmla="*/ 92 w 643"/>
              <a:gd name="T47" fmla="*/ 280 h 643"/>
              <a:gd name="T48" fmla="*/ 0 w 643"/>
              <a:gd name="T49" fmla="*/ 287 h 643"/>
              <a:gd name="T50" fmla="*/ 0 w 643"/>
              <a:gd name="T51" fmla="*/ 357 h 643"/>
              <a:gd name="T52" fmla="*/ 90 w 643"/>
              <a:gd name="T53" fmla="*/ 364 h 643"/>
              <a:gd name="T54" fmla="*/ 99 w 643"/>
              <a:gd name="T55" fmla="*/ 402 h 643"/>
              <a:gd name="T56" fmla="*/ 26 w 643"/>
              <a:gd name="T57" fmla="*/ 452 h 643"/>
              <a:gd name="T58" fmla="*/ 61 w 643"/>
              <a:gd name="T59" fmla="*/ 513 h 643"/>
              <a:gd name="T60" fmla="*/ 140 w 643"/>
              <a:gd name="T61" fmla="*/ 475 h 643"/>
              <a:gd name="T62" fmla="*/ 168 w 643"/>
              <a:gd name="T63" fmla="*/ 504 h 643"/>
              <a:gd name="T64" fmla="*/ 131 w 643"/>
              <a:gd name="T65" fmla="*/ 582 h 643"/>
              <a:gd name="T66" fmla="*/ 192 w 643"/>
              <a:gd name="T67" fmla="*/ 617 h 643"/>
              <a:gd name="T68" fmla="*/ 241 w 643"/>
              <a:gd name="T69" fmla="*/ 546 h 643"/>
              <a:gd name="T70" fmla="*/ 280 w 643"/>
              <a:gd name="T71" fmla="*/ 557 h 643"/>
              <a:gd name="T72" fmla="*/ 287 w 643"/>
              <a:gd name="T73" fmla="*/ 643 h 643"/>
              <a:gd name="T74" fmla="*/ 357 w 643"/>
              <a:gd name="T75" fmla="*/ 643 h 643"/>
              <a:gd name="T76" fmla="*/ 364 w 643"/>
              <a:gd name="T77" fmla="*/ 557 h 643"/>
              <a:gd name="T78" fmla="*/ 403 w 643"/>
              <a:gd name="T79" fmla="*/ 546 h 643"/>
              <a:gd name="T80" fmla="*/ 452 w 643"/>
              <a:gd name="T81" fmla="*/ 617 h 643"/>
              <a:gd name="T82" fmla="*/ 513 w 643"/>
              <a:gd name="T83" fmla="*/ 582 h 643"/>
              <a:gd name="T84" fmla="*/ 475 w 643"/>
              <a:gd name="T85" fmla="*/ 503 h 643"/>
              <a:gd name="T86" fmla="*/ 503 w 643"/>
              <a:gd name="T87" fmla="*/ 475 h 643"/>
              <a:gd name="T88" fmla="*/ 582 w 643"/>
              <a:gd name="T89" fmla="*/ 512 h 643"/>
              <a:gd name="T90" fmla="*/ 617 w 643"/>
              <a:gd name="T91" fmla="*/ 451 h 643"/>
              <a:gd name="T92" fmla="*/ 544 w 643"/>
              <a:gd name="T93" fmla="*/ 401 h 643"/>
              <a:gd name="T94" fmla="*/ 553 w 643"/>
              <a:gd name="T95" fmla="*/ 363 h 643"/>
              <a:gd name="T96" fmla="*/ 643 w 643"/>
              <a:gd name="T97" fmla="*/ 356 h 643"/>
              <a:gd name="T98" fmla="*/ 322 w 643"/>
              <a:gd name="T99" fmla="*/ 458 h 643"/>
              <a:gd name="T100" fmla="*/ 190 w 643"/>
              <a:gd name="T101" fmla="*/ 327 h 643"/>
              <a:gd name="T102" fmla="*/ 321 w 643"/>
              <a:gd name="T103" fmla="*/ 195 h 643"/>
              <a:gd name="T104" fmla="*/ 453 w 643"/>
              <a:gd name="T105" fmla="*/ 326 h 643"/>
              <a:gd name="T106" fmla="*/ 322 w 643"/>
              <a:gd name="T107" fmla="*/ 458 h 64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43"/>
              <a:gd name="T163" fmla="*/ 0 h 643"/>
              <a:gd name="T164" fmla="*/ 643 w 643"/>
              <a:gd name="T165" fmla="*/ 643 h 64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43" h="643">
                <a:moveTo>
                  <a:pt x="643" y="356"/>
                </a:moveTo>
                <a:cubicBezTo>
                  <a:pt x="641" y="333"/>
                  <a:pt x="641" y="309"/>
                  <a:pt x="642" y="286"/>
                </a:cubicBezTo>
                <a:cubicBezTo>
                  <a:pt x="612" y="284"/>
                  <a:pt x="581" y="281"/>
                  <a:pt x="551" y="279"/>
                </a:cubicBezTo>
                <a:cubicBezTo>
                  <a:pt x="549" y="267"/>
                  <a:pt x="545" y="255"/>
                  <a:pt x="541" y="244"/>
                </a:cubicBezTo>
                <a:cubicBezTo>
                  <a:pt x="566" y="226"/>
                  <a:pt x="591" y="209"/>
                  <a:pt x="617" y="191"/>
                </a:cubicBezTo>
                <a:cubicBezTo>
                  <a:pt x="604" y="172"/>
                  <a:pt x="592" y="151"/>
                  <a:pt x="582" y="130"/>
                </a:cubicBezTo>
                <a:cubicBezTo>
                  <a:pt x="553" y="144"/>
                  <a:pt x="525" y="157"/>
                  <a:pt x="497" y="171"/>
                </a:cubicBezTo>
                <a:cubicBezTo>
                  <a:pt x="489" y="162"/>
                  <a:pt x="480" y="154"/>
                  <a:pt x="471" y="146"/>
                </a:cubicBezTo>
                <a:cubicBezTo>
                  <a:pt x="485" y="118"/>
                  <a:pt x="498" y="89"/>
                  <a:pt x="512" y="61"/>
                </a:cubicBezTo>
                <a:cubicBezTo>
                  <a:pt x="491" y="51"/>
                  <a:pt x="470" y="39"/>
                  <a:pt x="451" y="26"/>
                </a:cubicBezTo>
                <a:cubicBezTo>
                  <a:pt x="433" y="52"/>
                  <a:pt x="415" y="78"/>
                  <a:pt x="397" y="104"/>
                </a:cubicBezTo>
                <a:cubicBezTo>
                  <a:pt x="386" y="101"/>
                  <a:pt x="375" y="98"/>
                  <a:pt x="364" y="96"/>
                </a:cubicBezTo>
                <a:cubicBezTo>
                  <a:pt x="361" y="64"/>
                  <a:pt x="359" y="32"/>
                  <a:pt x="356" y="0"/>
                </a:cubicBezTo>
                <a:cubicBezTo>
                  <a:pt x="333" y="2"/>
                  <a:pt x="309" y="2"/>
                  <a:pt x="286" y="1"/>
                </a:cubicBezTo>
                <a:cubicBezTo>
                  <a:pt x="283" y="32"/>
                  <a:pt x="281" y="64"/>
                  <a:pt x="278" y="96"/>
                </a:cubicBezTo>
                <a:cubicBezTo>
                  <a:pt x="267" y="98"/>
                  <a:pt x="256" y="101"/>
                  <a:pt x="245" y="105"/>
                </a:cubicBezTo>
                <a:cubicBezTo>
                  <a:pt x="227" y="79"/>
                  <a:pt x="209" y="52"/>
                  <a:pt x="191" y="26"/>
                </a:cubicBezTo>
                <a:cubicBezTo>
                  <a:pt x="172" y="40"/>
                  <a:pt x="151" y="51"/>
                  <a:pt x="130" y="61"/>
                </a:cubicBezTo>
                <a:cubicBezTo>
                  <a:pt x="144" y="90"/>
                  <a:pt x="157" y="118"/>
                  <a:pt x="171" y="147"/>
                </a:cubicBezTo>
                <a:cubicBezTo>
                  <a:pt x="162" y="154"/>
                  <a:pt x="153" y="163"/>
                  <a:pt x="146" y="171"/>
                </a:cubicBezTo>
                <a:cubicBezTo>
                  <a:pt x="117" y="158"/>
                  <a:pt x="89" y="145"/>
                  <a:pt x="61" y="131"/>
                </a:cubicBezTo>
                <a:cubicBezTo>
                  <a:pt x="51" y="152"/>
                  <a:pt x="39" y="173"/>
                  <a:pt x="26" y="192"/>
                </a:cubicBezTo>
                <a:cubicBezTo>
                  <a:pt x="51" y="209"/>
                  <a:pt x="76" y="227"/>
                  <a:pt x="102" y="244"/>
                </a:cubicBezTo>
                <a:cubicBezTo>
                  <a:pt x="98" y="256"/>
                  <a:pt x="94" y="267"/>
                  <a:pt x="92" y="280"/>
                </a:cubicBezTo>
                <a:cubicBezTo>
                  <a:pt x="61" y="282"/>
                  <a:pt x="31" y="285"/>
                  <a:pt x="0" y="287"/>
                </a:cubicBezTo>
                <a:cubicBezTo>
                  <a:pt x="2" y="310"/>
                  <a:pt x="2" y="334"/>
                  <a:pt x="0" y="357"/>
                </a:cubicBezTo>
                <a:cubicBezTo>
                  <a:pt x="30" y="360"/>
                  <a:pt x="60" y="362"/>
                  <a:pt x="90" y="364"/>
                </a:cubicBezTo>
                <a:cubicBezTo>
                  <a:pt x="92" y="377"/>
                  <a:pt x="95" y="390"/>
                  <a:pt x="99" y="402"/>
                </a:cubicBezTo>
                <a:cubicBezTo>
                  <a:pt x="75" y="418"/>
                  <a:pt x="50" y="435"/>
                  <a:pt x="26" y="452"/>
                </a:cubicBezTo>
                <a:cubicBezTo>
                  <a:pt x="39" y="472"/>
                  <a:pt x="51" y="492"/>
                  <a:pt x="61" y="513"/>
                </a:cubicBezTo>
                <a:cubicBezTo>
                  <a:pt x="88" y="500"/>
                  <a:pt x="114" y="488"/>
                  <a:pt x="140" y="475"/>
                </a:cubicBezTo>
                <a:cubicBezTo>
                  <a:pt x="149" y="485"/>
                  <a:pt x="158" y="495"/>
                  <a:pt x="168" y="504"/>
                </a:cubicBezTo>
                <a:cubicBezTo>
                  <a:pt x="156" y="530"/>
                  <a:pt x="143" y="556"/>
                  <a:pt x="131" y="582"/>
                </a:cubicBezTo>
                <a:cubicBezTo>
                  <a:pt x="152" y="592"/>
                  <a:pt x="172" y="604"/>
                  <a:pt x="192" y="617"/>
                </a:cubicBezTo>
                <a:cubicBezTo>
                  <a:pt x="208" y="594"/>
                  <a:pt x="224" y="570"/>
                  <a:pt x="241" y="546"/>
                </a:cubicBezTo>
                <a:cubicBezTo>
                  <a:pt x="253" y="551"/>
                  <a:pt x="266" y="555"/>
                  <a:pt x="280" y="557"/>
                </a:cubicBezTo>
                <a:cubicBezTo>
                  <a:pt x="282" y="586"/>
                  <a:pt x="285" y="614"/>
                  <a:pt x="287" y="643"/>
                </a:cubicBezTo>
                <a:cubicBezTo>
                  <a:pt x="310" y="641"/>
                  <a:pt x="334" y="641"/>
                  <a:pt x="357" y="643"/>
                </a:cubicBezTo>
                <a:cubicBezTo>
                  <a:pt x="359" y="614"/>
                  <a:pt x="362" y="585"/>
                  <a:pt x="364" y="557"/>
                </a:cubicBezTo>
                <a:cubicBezTo>
                  <a:pt x="377" y="554"/>
                  <a:pt x="390" y="551"/>
                  <a:pt x="403" y="546"/>
                </a:cubicBezTo>
                <a:cubicBezTo>
                  <a:pt x="419" y="570"/>
                  <a:pt x="436" y="593"/>
                  <a:pt x="452" y="617"/>
                </a:cubicBezTo>
                <a:cubicBezTo>
                  <a:pt x="471" y="604"/>
                  <a:pt x="492" y="592"/>
                  <a:pt x="513" y="582"/>
                </a:cubicBezTo>
                <a:cubicBezTo>
                  <a:pt x="500" y="556"/>
                  <a:pt x="488" y="529"/>
                  <a:pt x="475" y="503"/>
                </a:cubicBezTo>
                <a:cubicBezTo>
                  <a:pt x="485" y="494"/>
                  <a:pt x="495" y="485"/>
                  <a:pt x="503" y="475"/>
                </a:cubicBezTo>
                <a:cubicBezTo>
                  <a:pt x="529" y="487"/>
                  <a:pt x="556" y="500"/>
                  <a:pt x="582" y="512"/>
                </a:cubicBezTo>
                <a:cubicBezTo>
                  <a:pt x="592" y="491"/>
                  <a:pt x="604" y="471"/>
                  <a:pt x="617" y="451"/>
                </a:cubicBezTo>
                <a:cubicBezTo>
                  <a:pt x="593" y="434"/>
                  <a:pt x="568" y="418"/>
                  <a:pt x="544" y="401"/>
                </a:cubicBezTo>
                <a:cubicBezTo>
                  <a:pt x="548" y="389"/>
                  <a:pt x="551" y="376"/>
                  <a:pt x="553" y="363"/>
                </a:cubicBezTo>
                <a:cubicBezTo>
                  <a:pt x="583" y="361"/>
                  <a:pt x="613" y="359"/>
                  <a:pt x="643" y="356"/>
                </a:cubicBezTo>
                <a:close/>
                <a:moveTo>
                  <a:pt x="322" y="458"/>
                </a:moveTo>
                <a:cubicBezTo>
                  <a:pt x="249" y="458"/>
                  <a:pt x="190" y="399"/>
                  <a:pt x="190" y="327"/>
                </a:cubicBezTo>
                <a:cubicBezTo>
                  <a:pt x="190" y="254"/>
                  <a:pt x="249" y="195"/>
                  <a:pt x="321" y="195"/>
                </a:cubicBezTo>
                <a:cubicBezTo>
                  <a:pt x="394" y="195"/>
                  <a:pt x="453" y="254"/>
                  <a:pt x="453" y="326"/>
                </a:cubicBezTo>
                <a:cubicBezTo>
                  <a:pt x="453" y="399"/>
                  <a:pt x="394" y="457"/>
                  <a:pt x="322" y="458"/>
                </a:cubicBezTo>
                <a:close/>
              </a:path>
            </a:pathLst>
          </a:custGeom>
          <a:solidFill>
            <a:schemeClr val="bg1"/>
          </a:solidFill>
          <a:ln w="63500" cap="flat" cmpd="sng">
            <a:noFill/>
            <a:miter lim="800000"/>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sp>
        <p:nvSpPr>
          <p:cNvPr id="18" name="Freeform 34"/>
          <p:cNvSpPr>
            <a:spLocks noChangeAspect="1" noEditPoints="1" noChangeArrowheads="1"/>
          </p:cNvSpPr>
          <p:nvPr userDrawn="1"/>
        </p:nvSpPr>
        <p:spPr bwMode="auto">
          <a:xfrm rot="21157311">
            <a:off x="1755783" y="4160723"/>
            <a:ext cx="1080000" cy="1080000"/>
          </a:xfrm>
          <a:custGeom>
            <a:avLst/>
            <a:gdLst>
              <a:gd name="T0" fmla="*/ 643 w 643"/>
              <a:gd name="T1" fmla="*/ 356 h 643"/>
              <a:gd name="T2" fmla="*/ 642 w 643"/>
              <a:gd name="T3" fmla="*/ 286 h 643"/>
              <a:gd name="T4" fmla="*/ 551 w 643"/>
              <a:gd name="T5" fmla="*/ 279 h 643"/>
              <a:gd name="T6" fmla="*/ 541 w 643"/>
              <a:gd name="T7" fmla="*/ 244 h 643"/>
              <a:gd name="T8" fmla="*/ 617 w 643"/>
              <a:gd name="T9" fmla="*/ 191 h 643"/>
              <a:gd name="T10" fmla="*/ 582 w 643"/>
              <a:gd name="T11" fmla="*/ 130 h 643"/>
              <a:gd name="T12" fmla="*/ 497 w 643"/>
              <a:gd name="T13" fmla="*/ 171 h 643"/>
              <a:gd name="T14" fmla="*/ 471 w 643"/>
              <a:gd name="T15" fmla="*/ 146 h 643"/>
              <a:gd name="T16" fmla="*/ 512 w 643"/>
              <a:gd name="T17" fmla="*/ 61 h 643"/>
              <a:gd name="T18" fmla="*/ 451 w 643"/>
              <a:gd name="T19" fmla="*/ 26 h 643"/>
              <a:gd name="T20" fmla="*/ 397 w 643"/>
              <a:gd name="T21" fmla="*/ 104 h 643"/>
              <a:gd name="T22" fmla="*/ 364 w 643"/>
              <a:gd name="T23" fmla="*/ 96 h 643"/>
              <a:gd name="T24" fmla="*/ 356 w 643"/>
              <a:gd name="T25" fmla="*/ 0 h 643"/>
              <a:gd name="T26" fmla="*/ 286 w 643"/>
              <a:gd name="T27" fmla="*/ 1 h 643"/>
              <a:gd name="T28" fmla="*/ 278 w 643"/>
              <a:gd name="T29" fmla="*/ 96 h 643"/>
              <a:gd name="T30" fmla="*/ 245 w 643"/>
              <a:gd name="T31" fmla="*/ 105 h 643"/>
              <a:gd name="T32" fmla="*/ 191 w 643"/>
              <a:gd name="T33" fmla="*/ 26 h 643"/>
              <a:gd name="T34" fmla="*/ 130 w 643"/>
              <a:gd name="T35" fmla="*/ 61 h 643"/>
              <a:gd name="T36" fmla="*/ 171 w 643"/>
              <a:gd name="T37" fmla="*/ 147 h 643"/>
              <a:gd name="T38" fmla="*/ 146 w 643"/>
              <a:gd name="T39" fmla="*/ 171 h 643"/>
              <a:gd name="T40" fmla="*/ 61 w 643"/>
              <a:gd name="T41" fmla="*/ 131 h 643"/>
              <a:gd name="T42" fmla="*/ 26 w 643"/>
              <a:gd name="T43" fmla="*/ 192 h 643"/>
              <a:gd name="T44" fmla="*/ 102 w 643"/>
              <a:gd name="T45" fmla="*/ 244 h 643"/>
              <a:gd name="T46" fmla="*/ 92 w 643"/>
              <a:gd name="T47" fmla="*/ 280 h 643"/>
              <a:gd name="T48" fmla="*/ 0 w 643"/>
              <a:gd name="T49" fmla="*/ 287 h 643"/>
              <a:gd name="T50" fmla="*/ 0 w 643"/>
              <a:gd name="T51" fmla="*/ 357 h 643"/>
              <a:gd name="T52" fmla="*/ 90 w 643"/>
              <a:gd name="T53" fmla="*/ 364 h 643"/>
              <a:gd name="T54" fmla="*/ 99 w 643"/>
              <a:gd name="T55" fmla="*/ 402 h 643"/>
              <a:gd name="T56" fmla="*/ 26 w 643"/>
              <a:gd name="T57" fmla="*/ 452 h 643"/>
              <a:gd name="T58" fmla="*/ 61 w 643"/>
              <a:gd name="T59" fmla="*/ 513 h 643"/>
              <a:gd name="T60" fmla="*/ 140 w 643"/>
              <a:gd name="T61" fmla="*/ 475 h 643"/>
              <a:gd name="T62" fmla="*/ 168 w 643"/>
              <a:gd name="T63" fmla="*/ 504 h 643"/>
              <a:gd name="T64" fmla="*/ 131 w 643"/>
              <a:gd name="T65" fmla="*/ 582 h 643"/>
              <a:gd name="T66" fmla="*/ 192 w 643"/>
              <a:gd name="T67" fmla="*/ 617 h 643"/>
              <a:gd name="T68" fmla="*/ 241 w 643"/>
              <a:gd name="T69" fmla="*/ 546 h 643"/>
              <a:gd name="T70" fmla="*/ 280 w 643"/>
              <a:gd name="T71" fmla="*/ 557 h 643"/>
              <a:gd name="T72" fmla="*/ 287 w 643"/>
              <a:gd name="T73" fmla="*/ 643 h 643"/>
              <a:gd name="T74" fmla="*/ 357 w 643"/>
              <a:gd name="T75" fmla="*/ 643 h 643"/>
              <a:gd name="T76" fmla="*/ 364 w 643"/>
              <a:gd name="T77" fmla="*/ 557 h 643"/>
              <a:gd name="T78" fmla="*/ 403 w 643"/>
              <a:gd name="T79" fmla="*/ 546 h 643"/>
              <a:gd name="T80" fmla="*/ 452 w 643"/>
              <a:gd name="T81" fmla="*/ 617 h 643"/>
              <a:gd name="T82" fmla="*/ 513 w 643"/>
              <a:gd name="T83" fmla="*/ 582 h 643"/>
              <a:gd name="T84" fmla="*/ 475 w 643"/>
              <a:gd name="T85" fmla="*/ 503 h 643"/>
              <a:gd name="T86" fmla="*/ 503 w 643"/>
              <a:gd name="T87" fmla="*/ 475 h 643"/>
              <a:gd name="T88" fmla="*/ 582 w 643"/>
              <a:gd name="T89" fmla="*/ 512 h 643"/>
              <a:gd name="T90" fmla="*/ 617 w 643"/>
              <a:gd name="T91" fmla="*/ 451 h 643"/>
              <a:gd name="T92" fmla="*/ 544 w 643"/>
              <a:gd name="T93" fmla="*/ 401 h 643"/>
              <a:gd name="T94" fmla="*/ 553 w 643"/>
              <a:gd name="T95" fmla="*/ 363 h 643"/>
              <a:gd name="T96" fmla="*/ 643 w 643"/>
              <a:gd name="T97" fmla="*/ 356 h 643"/>
              <a:gd name="T98" fmla="*/ 322 w 643"/>
              <a:gd name="T99" fmla="*/ 458 h 643"/>
              <a:gd name="T100" fmla="*/ 190 w 643"/>
              <a:gd name="T101" fmla="*/ 327 h 643"/>
              <a:gd name="T102" fmla="*/ 321 w 643"/>
              <a:gd name="T103" fmla="*/ 195 h 643"/>
              <a:gd name="T104" fmla="*/ 453 w 643"/>
              <a:gd name="T105" fmla="*/ 326 h 643"/>
              <a:gd name="T106" fmla="*/ 322 w 643"/>
              <a:gd name="T107" fmla="*/ 458 h 64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43"/>
              <a:gd name="T163" fmla="*/ 0 h 643"/>
              <a:gd name="T164" fmla="*/ 643 w 643"/>
              <a:gd name="T165" fmla="*/ 643 h 643"/>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43" h="643">
                <a:moveTo>
                  <a:pt x="643" y="356"/>
                </a:moveTo>
                <a:cubicBezTo>
                  <a:pt x="641" y="333"/>
                  <a:pt x="641" y="309"/>
                  <a:pt x="642" y="286"/>
                </a:cubicBezTo>
                <a:cubicBezTo>
                  <a:pt x="612" y="284"/>
                  <a:pt x="581" y="281"/>
                  <a:pt x="551" y="279"/>
                </a:cubicBezTo>
                <a:cubicBezTo>
                  <a:pt x="549" y="267"/>
                  <a:pt x="545" y="255"/>
                  <a:pt x="541" y="244"/>
                </a:cubicBezTo>
                <a:cubicBezTo>
                  <a:pt x="566" y="226"/>
                  <a:pt x="591" y="209"/>
                  <a:pt x="617" y="191"/>
                </a:cubicBezTo>
                <a:cubicBezTo>
                  <a:pt x="604" y="172"/>
                  <a:pt x="592" y="151"/>
                  <a:pt x="582" y="130"/>
                </a:cubicBezTo>
                <a:cubicBezTo>
                  <a:pt x="553" y="144"/>
                  <a:pt x="525" y="157"/>
                  <a:pt x="497" y="171"/>
                </a:cubicBezTo>
                <a:cubicBezTo>
                  <a:pt x="489" y="162"/>
                  <a:pt x="480" y="154"/>
                  <a:pt x="471" y="146"/>
                </a:cubicBezTo>
                <a:cubicBezTo>
                  <a:pt x="485" y="118"/>
                  <a:pt x="498" y="89"/>
                  <a:pt x="512" y="61"/>
                </a:cubicBezTo>
                <a:cubicBezTo>
                  <a:pt x="491" y="51"/>
                  <a:pt x="470" y="39"/>
                  <a:pt x="451" y="26"/>
                </a:cubicBezTo>
                <a:cubicBezTo>
                  <a:pt x="433" y="52"/>
                  <a:pt x="415" y="78"/>
                  <a:pt x="397" y="104"/>
                </a:cubicBezTo>
                <a:cubicBezTo>
                  <a:pt x="386" y="101"/>
                  <a:pt x="375" y="98"/>
                  <a:pt x="364" y="96"/>
                </a:cubicBezTo>
                <a:cubicBezTo>
                  <a:pt x="361" y="64"/>
                  <a:pt x="359" y="32"/>
                  <a:pt x="356" y="0"/>
                </a:cubicBezTo>
                <a:cubicBezTo>
                  <a:pt x="333" y="2"/>
                  <a:pt x="309" y="2"/>
                  <a:pt x="286" y="1"/>
                </a:cubicBezTo>
                <a:cubicBezTo>
                  <a:pt x="283" y="32"/>
                  <a:pt x="281" y="64"/>
                  <a:pt x="278" y="96"/>
                </a:cubicBezTo>
                <a:cubicBezTo>
                  <a:pt x="267" y="98"/>
                  <a:pt x="256" y="101"/>
                  <a:pt x="245" y="105"/>
                </a:cubicBezTo>
                <a:cubicBezTo>
                  <a:pt x="227" y="79"/>
                  <a:pt x="209" y="52"/>
                  <a:pt x="191" y="26"/>
                </a:cubicBezTo>
                <a:cubicBezTo>
                  <a:pt x="172" y="40"/>
                  <a:pt x="151" y="51"/>
                  <a:pt x="130" y="61"/>
                </a:cubicBezTo>
                <a:cubicBezTo>
                  <a:pt x="144" y="90"/>
                  <a:pt x="157" y="118"/>
                  <a:pt x="171" y="147"/>
                </a:cubicBezTo>
                <a:cubicBezTo>
                  <a:pt x="162" y="154"/>
                  <a:pt x="153" y="163"/>
                  <a:pt x="146" y="171"/>
                </a:cubicBezTo>
                <a:cubicBezTo>
                  <a:pt x="117" y="158"/>
                  <a:pt x="89" y="145"/>
                  <a:pt x="61" y="131"/>
                </a:cubicBezTo>
                <a:cubicBezTo>
                  <a:pt x="51" y="152"/>
                  <a:pt x="39" y="173"/>
                  <a:pt x="26" y="192"/>
                </a:cubicBezTo>
                <a:cubicBezTo>
                  <a:pt x="51" y="209"/>
                  <a:pt x="76" y="227"/>
                  <a:pt x="102" y="244"/>
                </a:cubicBezTo>
                <a:cubicBezTo>
                  <a:pt x="98" y="256"/>
                  <a:pt x="94" y="267"/>
                  <a:pt x="92" y="280"/>
                </a:cubicBezTo>
                <a:cubicBezTo>
                  <a:pt x="61" y="282"/>
                  <a:pt x="31" y="285"/>
                  <a:pt x="0" y="287"/>
                </a:cubicBezTo>
                <a:cubicBezTo>
                  <a:pt x="2" y="310"/>
                  <a:pt x="2" y="334"/>
                  <a:pt x="0" y="357"/>
                </a:cubicBezTo>
                <a:cubicBezTo>
                  <a:pt x="30" y="360"/>
                  <a:pt x="60" y="362"/>
                  <a:pt x="90" y="364"/>
                </a:cubicBezTo>
                <a:cubicBezTo>
                  <a:pt x="92" y="377"/>
                  <a:pt x="95" y="390"/>
                  <a:pt x="99" y="402"/>
                </a:cubicBezTo>
                <a:cubicBezTo>
                  <a:pt x="75" y="418"/>
                  <a:pt x="50" y="435"/>
                  <a:pt x="26" y="452"/>
                </a:cubicBezTo>
                <a:cubicBezTo>
                  <a:pt x="39" y="472"/>
                  <a:pt x="51" y="492"/>
                  <a:pt x="61" y="513"/>
                </a:cubicBezTo>
                <a:cubicBezTo>
                  <a:pt x="88" y="500"/>
                  <a:pt x="114" y="488"/>
                  <a:pt x="140" y="475"/>
                </a:cubicBezTo>
                <a:cubicBezTo>
                  <a:pt x="149" y="485"/>
                  <a:pt x="158" y="495"/>
                  <a:pt x="168" y="504"/>
                </a:cubicBezTo>
                <a:cubicBezTo>
                  <a:pt x="156" y="530"/>
                  <a:pt x="143" y="556"/>
                  <a:pt x="131" y="582"/>
                </a:cubicBezTo>
                <a:cubicBezTo>
                  <a:pt x="152" y="592"/>
                  <a:pt x="172" y="604"/>
                  <a:pt x="192" y="617"/>
                </a:cubicBezTo>
                <a:cubicBezTo>
                  <a:pt x="208" y="594"/>
                  <a:pt x="224" y="570"/>
                  <a:pt x="241" y="546"/>
                </a:cubicBezTo>
                <a:cubicBezTo>
                  <a:pt x="253" y="551"/>
                  <a:pt x="266" y="555"/>
                  <a:pt x="280" y="557"/>
                </a:cubicBezTo>
                <a:cubicBezTo>
                  <a:pt x="282" y="586"/>
                  <a:pt x="285" y="614"/>
                  <a:pt x="287" y="643"/>
                </a:cubicBezTo>
                <a:cubicBezTo>
                  <a:pt x="310" y="641"/>
                  <a:pt x="334" y="641"/>
                  <a:pt x="357" y="643"/>
                </a:cubicBezTo>
                <a:cubicBezTo>
                  <a:pt x="359" y="614"/>
                  <a:pt x="362" y="585"/>
                  <a:pt x="364" y="557"/>
                </a:cubicBezTo>
                <a:cubicBezTo>
                  <a:pt x="377" y="554"/>
                  <a:pt x="390" y="551"/>
                  <a:pt x="403" y="546"/>
                </a:cubicBezTo>
                <a:cubicBezTo>
                  <a:pt x="419" y="570"/>
                  <a:pt x="436" y="593"/>
                  <a:pt x="452" y="617"/>
                </a:cubicBezTo>
                <a:cubicBezTo>
                  <a:pt x="471" y="604"/>
                  <a:pt x="492" y="592"/>
                  <a:pt x="513" y="582"/>
                </a:cubicBezTo>
                <a:cubicBezTo>
                  <a:pt x="500" y="556"/>
                  <a:pt x="488" y="529"/>
                  <a:pt x="475" y="503"/>
                </a:cubicBezTo>
                <a:cubicBezTo>
                  <a:pt x="485" y="494"/>
                  <a:pt x="495" y="485"/>
                  <a:pt x="503" y="475"/>
                </a:cubicBezTo>
                <a:cubicBezTo>
                  <a:pt x="529" y="487"/>
                  <a:pt x="556" y="500"/>
                  <a:pt x="582" y="512"/>
                </a:cubicBezTo>
                <a:cubicBezTo>
                  <a:pt x="592" y="491"/>
                  <a:pt x="604" y="471"/>
                  <a:pt x="617" y="451"/>
                </a:cubicBezTo>
                <a:cubicBezTo>
                  <a:pt x="593" y="434"/>
                  <a:pt x="568" y="418"/>
                  <a:pt x="544" y="401"/>
                </a:cubicBezTo>
                <a:cubicBezTo>
                  <a:pt x="548" y="389"/>
                  <a:pt x="551" y="376"/>
                  <a:pt x="553" y="363"/>
                </a:cubicBezTo>
                <a:cubicBezTo>
                  <a:pt x="583" y="361"/>
                  <a:pt x="613" y="359"/>
                  <a:pt x="643" y="356"/>
                </a:cubicBezTo>
                <a:close/>
                <a:moveTo>
                  <a:pt x="322" y="458"/>
                </a:moveTo>
                <a:cubicBezTo>
                  <a:pt x="249" y="458"/>
                  <a:pt x="190" y="399"/>
                  <a:pt x="190" y="327"/>
                </a:cubicBezTo>
                <a:cubicBezTo>
                  <a:pt x="190" y="254"/>
                  <a:pt x="249" y="195"/>
                  <a:pt x="321" y="195"/>
                </a:cubicBezTo>
                <a:cubicBezTo>
                  <a:pt x="394" y="195"/>
                  <a:pt x="453" y="254"/>
                  <a:pt x="453" y="326"/>
                </a:cubicBezTo>
                <a:cubicBezTo>
                  <a:pt x="453" y="399"/>
                  <a:pt x="394" y="457"/>
                  <a:pt x="322" y="458"/>
                </a:cubicBezTo>
                <a:close/>
              </a:path>
            </a:pathLst>
          </a:custGeom>
          <a:solidFill>
            <a:schemeClr val="bg1"/>
          </a:solidFill>
          <a:ln w="63500" cap="flat" cmpd="sng">
            <a:noFill/>
            <a:miter lim="800000"/>
          </a:ln>
        </p:spPr>
        <p:txBody>
          <a:bodyPr/>
          <a:lstStyle/>
          <a:p>
            <a:endParaRPr lang="zh-CN" altLang="zh-CN">
              <a:solidFill>
                <a:srgbClr val="000000"/>
              </a:solidFill>
              <a:latin typeface="Calibri" panose="020F0502020204030204" pitchFamily="34" charset="0"/>
              <a:sym typeface="宋体" panose="02010600030101010101" pitchFamily="2" charset="-122"/>
            </a:endParaRPr>
          </a:p>
        </p:txBody>
      </p:sp>
      <p:pic>
        <p:nvPicPr>
          <p:cNvPr id="21" name="图形 20"/>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05234" y="179640"/>
            <a:ext cx="2148842" cy="66231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5000" fill="hold"/>
                                        <p:tgtEl>
                                          <p:spTgt spid="17"/>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5000" fill="hold"/>
                                        <p:tgtEl>
                                          <p:spTgt spid="1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8" grpId="0" bldLvl="0" animBg="1"/>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bg>
      <p:bgPr>
        <a:gradFill>
          <a:gsLst>
            <a:gs pos="85000">
              <a:schemeClr val="bg1"/>
            </a:gs>
            <a:gs pos="0">
              <a:schemeClr val="bg1">
                <a:lumMod val="91000"/>
              </a:schemeClr>
            </a:gs>
            <a:gs pos="20000">
              <a:schemeClr val="bg1"/>
            </a:gs>
            <a:gs pos="100000">
              <a:schemeClr val="bg1"/>
            </a:gs>
          </a:gsLst>
          <a:lin ang="5400000" scaled="0"/>
        </a:gra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42097" y="2186129"/>
            <a:ext cx="9144000" cy="709754"/>
          </a:xfrm>
        </p:spPr>
        <p:txBody>
          <a:bodyPr anchor="b">
            <a:noAutofit/>
          </a:bodyPr>
          <a:lstStyle>
            <a:lvl1pPr algn="ctr">
              <a:lnSpc>
                <a:spcPct val="120000"/>
              </a:lnSpc>
              <a:defRPr sz="3800" b="1">
                <a:solidFill>
                  <a:srgbClr val="0D97C0"/>
                </a:solidFill>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3277583" y="3206544"/>
            <a:ext cx="5636834" cy="571500"/>
          </a:xfrm>
        </p:spPr>
        <p:txBody>
          <a:bodyPr vert="horz" lIns="91440" tIns="45720" rIns="91440" bIns="45720" rtlCol="0">
            <a:normAutofit/>
          </a:bodyPr>
          <a:lstStyle>
            <a:lvl1pPr algn="ctr">
              <a:defRPr lang="zh-CN" altLang="en-US" sz="3200" b="1" dirty="0">
                <a:solidFill>
                  <a:schemeClr val="bg2">
                    <a:lumMod val="25000"/>
                  </a:schemeClr>
                </a:solidFill>
                <a:latin typeface="微软雅黑 Light" panose="020B0502040204020203" pitchFamily="34" charset="-122"/>
                <a:ea typeface="微软雅黑 Light" panose="020B0502040204020203" pitchFamily="34" charset="-122"/>
              </a:defRPr>
            </a:lvl1pPr>
          </a:lstStyle>
          <a:p>
            <a:pPr marL="0" lvl="0" indent="0" algn="ctr">
              <a:buNone/>
            </a:pPr>
            <a:r>
              <a:rPr lang="zh-CN" altLang="en-US" dirty="0"/>
              <a:t>单击此处编辑母版副标题样式</a:t>
            </a:r>
          </a:p>
        </p:txBody>
      </p:sp>
      <p:pic>
        <p:nvPicPr>
          <p:cNvPr id="9" name="图形 8"/>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7175" y="444501"/>
            <a:ext cx="2305050" cy="457200"/>
          </a:xfrm>
          <a:prstGeom prst="rect">
            <a:avLst/>
          </a:prstGeom>
        </p:spPr>
      </p:pic>
      <p:cxnSp>
        <p:nvCxnSpPr>
          <p:cNvPr id="11" name="直接连接符 10"/>
          <p:cNvCxnSpPr/>
          <p:nvPr userDrawn="1"/>
        </p:nvCxnSpPr>
        <p:spPr>
          <a:xfrm>
            <a:off x="1543050" y="2996829"/>
            <a:ext cx="9106853" cy="0"/>
          </a:xfrm>
          <a:prstGeom prst="line">
            <a:avLst/>
          </a:prstGeom>
          <a:ln w="12700" cap="rnd" cmpd="sng">
            <a:solidFill>
              <a:schemeClr val="tx1"/>
            </a:solidFill>
            <a:prstDash val="dashDot"/>
          </a:ln>
        </p:spPr>
        <p:style>
          <a:lnRef idx="1">
            <a:schemeClr val="accent1"/>
          </a:lnRef>
          <a:fillRef idx="0">
            <a:schemeClr val="accent1"/>
          </a:fillRef>
          <a:effectRef idx="0">
            <a:schemeClr val="accent1"/>
          </a:effectRef>
          <a:fontRef idx="minor">
            <a:schemeClr val="tx1"/>
          </a:fontRef>
        </p:style>
      </p:cxnSp>
      <p:sp>
        <p:nvSpPr>
          <p:cNvPr id="16" name="日期占位符 3"/>
          <p:cNvSpPr txBox="1"/>
          <p:nvPr userDrawn="1"/>
        </p:nvSpPr>
        <p:spPr>
          <a:xfrm>
            <a:off x="5312808" y="6020875"/>
            <a:ext cx="1444463" cy="365125"/>
          </a:xfrm>
          <a:prstGeom prst="rect">
            <a:avLst/>
          </a:prstGeom>
        </p:spPr>
        <p:txBody>
          <a:bodyPr vert="horz" lIns="91440" tIns="45720" rIns="91440" bIns="45720" rtlCol="0" anchor="ctr"/>
          <a:lstStyle>
            <a:defPPr>
              <a:defRPr lang="en-US"/>
            </a:defPPr>
            <a:lvl1pPr algn="ctr">
              <a:defRPr sz="1600" b="1">
                <a:latin typeface="黑体" panose="02010609060101010101" pitchFamily="49" charset="-122"/>
                <a:ea typeface="黑体" panose="02010609060101010101" pitchFamily="49" charset="-122"/>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9F84666-61CF-4C79-B611-D58C5F11E63F}" type="datetimeFigureOut">
              <a:rPr lang="zh-CN" altLang="en-US" smtClean="0"/>
              <a:t>2026/10/5</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914400" y="2362677"/>
            <a:ext cx="1102043" cy="674052"/>
          </a:xfrm>
        </p:spPr>
        <p:txBody>
          <a:bodyPr>
            <a:normAutofit/>
          </a:bodyPr>
          <a:lstStyle>
            <a:lvl1pPr>
              <a:defRPr sz="3200" b="1">
                <a:solidFill>
                  <a:srgbClr val="0D97C0"/>
                </a:solidFill>
                <a:latin typeface="黑体" panose="02010609060101010101" pitchFamily="49" charset="-122"/>
                <a:ea typeface="黑体" panose="02010609060101010101" pitchFamily="49" charset="-122"/>
              </a:defRPr>
            </a:lvl1pPr>
          </a:lstStyle>
          <a:p>
            <a:r>
              <a:rPr lang="zh-CN" altLang="en-US" dirty="0"/>
              <a:t>目录</a:t>
            </a:r>
          </a:p>
        </p:txBody>
      </p:sp>
      <p:pic>
        <p:nvPicPr>
          <p:cNvPr id="8" name="图形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630562" y="110400"/>
            <a:ext cx="2299501" cy="708749"/>
          </a:xfrm>
          <a:prstGeom prst="rect">
            <a:avLst/>
          </a:prstGeom>
        </p:spPr>
      </p:pic>
      <p:sp>
        <p:nvSpPr>
          <p:cNvPr id="9" name="文本框 8"/>
          <p:cNvSpPr txBox="1"/>
          <p:nvPr userDrawn="1"/>
        </p:nvSpPr>
        <p:spPr>
          <a:xfrm>
            <a:off x="914400" y="1734502"/>
            <a:ext cx="3716977" cy="769441"/>
          </a:xfrm>
          <a:prstGeom prst="rect">
            <a:avLst/>
          </a:prstGeom>
          <a:noFill/>
        </p:spPr>
        <p:txBody>
          <a:bodyPr wrap="square" rtlCol="0">
            <a:spAutoFit/>
          </a:bodyPr>
          <a:lstStyle/>
          <a:p>
            <a:r>
              <a:rPr lang="en-US" altLang="zh-CN" sz="4400" b="1" spc="200" baseline="0" dirty="0">
                <a:solidFill>
                  <a:schemeClr val="bg1">
                    <a:lumMod val="85000"/>
                  </a:schemeClr>
                </a:solidFill>
                <a:latin typeface="+mn-lt"/>
                <a:ea typeface="微软雅黑 Light" panose="020B0502040204020203" pitchFamily="34" charset="-122"/>
              </a:rPr>
              <a:t>CONTENTS</a:t>
            </a:r>
            <a:endParaRPr lang="zh-CN" altLang="en-US" sz="4400" b="1" spc="200" baseline="0" dirty="0">
              <a:solidFill>
                <a:schemeClr val="bg1">
                  <a:lumMod val="85000"/>
                </a:schemeClr>
              </a:solidFill>
              <a:latin typeface="+mn-lt"/>
              <a:ea typeface="微软雅黑 Light" panose="020B0502040204020203" pitchFamily="34" charset="-122"/>
            </a:endParaRPr>
          </a:p>
        </p:txBody>
      </p:sp>
      <p:sp>
        <p:nvSpPr>
          <p:cNvPr id="10" name="矩形 9"/>
          <p:cNvSpPr/>
          <p:nvPr userDrawn="1"/>
        </p:nvSpPr>
        <p:spPr>
          <a:xfrm>
            <a:off x="971550" y="3067049"/>
            <a:ext cx="9271000" cy="83345"/>
          </a:xfrm>
          <a:prstGeom prst="rect">
            <a:avLst/>
          </a:prstGeom>
          <a:gradFill>
            <a:gsLst>
              <a:gs pos="0">
                <a:srgbClr val="0D97C0"/>
              </a:gs>
              <a:gs pos="9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形 6"/>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b="11981"/>
          <a:stretch>
            <a:fillRect/>
          </a:stretch>
        </p:blipFill>
        <p:spPr>
          <a:xfrm>
            <a:off x="4889854" y="4564183"/>
            <a:ext cx="7302146" cy="229381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带图目录">
    <p:spTree>
      <p:nvGrpSpPr>
        <p:cNvPr id="1" name=""/>
        <p:cNvGrpSpPr/>
        <p:nvPr/>
      </p:nvGrpSpPr>
      <p:grpSpPr>
        <a:xfrm>
          <a:off x="0" y="0"/>
          <a:ext cx="0" cy="0"/>
          <a:chOff x="0" y="0"/>
          <a:chExt cx="0" cy="0"/>
        </a:xfrm>
      </p:grpSpPr>
      <p:sp>
        <p:nvSpPr>
          <p:cNvPr id="7" name="文本框 6"/>
          <p:cNvSpPr txBox="1"/>
          <p:nvPr userDrawn="1"/>
        </p:nvSpPr>
        <p:spPr>
          <a:xfrm>
            <a:off x="920750" y="965200"/>
            <a:ext cx="2310248" cy="1107996"/>
          </a:xfrm>
          <a:prstGeom prst="rect">
            <a:avLst/>
          </a:prstGeom>
          <a:noFill/>
        </p:spPr>
        <p:txBody>
          <a:bodyPr wrap="none" rtlCol="0">
            <a:spAutoFit/>
          </a:bodyPr>
          <a:lstStyle/>
          <a:p>
            <a:r>
              <a:rPr lang="zh-CN" altLang="en-US" sz="6600" b="1" dirty="0">
                <a:solidFill>
                  <a:srgbClr val="0D97C0"/>
                </a:solidFill>
                <a:latin typeface="黑体" panose="02010609060101010101" pitchFamily="49" charset="-122"/>
                <a:ea typeface="黑体" panose="02010609060101010101" pitchFamily="49" charset="-122"/>
              </a:rPr>
              <a:t>目 录</a:t>
            </a:r>
          </a:p>
        </p:txBody>
      </p:sp>
      <p:sp>
        <p:nvSpPr>
          <p:cNvPr id="8" name="文本框 7"/>
          <p:cNvSpPr txBox="1"/>
          <p:nvPr userDrawn="1"/>
        </p:nvSpPr>
        <p:spPr>
          <a:xfrm>
            <a:off x="1016000" y="1901592"/>
            <a:ext cx="1632178" cy="584775"/>
          </a:xfrm>
          <a:prstGeom prst="rect">
            <a:avLst/>
          </a:prstGeom>
          <a:noFill/>
        </p:spPr>
        <p:txBody>
          <a:bodyPr wrap="none" rtlCol="0">
            <a:spAutoFit/>
          </a:bodyPr>
          <a:lstStyle/>
          <a:p>
            <a:r>
              <a:rPr lang="en-US" altLang="zh-CN" sz="3200" b="1" dirty="0">
                <a:solidFill>
                  <a:srgbClr val="0D97C0"/>
                </a:solidFill>
                <a:latin typeface="黑体" panose="02010609060101010101" pitchFamily="49" charset="-122"/>
                <a:ea typeface="黑体" panose="02010609060101010101" pitchFamily="49" charset="-122"/>
              </a:rPr>
              <a:t>CONTENT</a:t>
            </a:r>
            <a:endParaRPr lang="zh-CN" altLang="en-US" sz="3200" b="1" dirty="0">
              <a:solidFill>
                <a:srgbClr val="0D97C0"/>
              </a:solidFill>
              <a:latin typeface="黑体" panose="02010609060101010101" pitchFamily="49" charset="-122"/>
              <a:ea typeface="黑体" panose="02010609060101010101" pitchFamily="49" charset="-122"/>
            </a:endParaRPr>
          </a:p>
        </p:txBody>
      </p:sp>
      <p:pic>
        <p:nvPicPr>
          <p:cNvPr id="10" name="图片 9"/>
          <p:cNvPicPr>
            <a:picLocks noChangeAspect="1"/>
          </p:cNvPicPr>
          <p:nvPr userDrawn="1"/>
        </p:nvPicPr>
        <p:blipFill rotWithShape="1">
          <a:blip r:embed="rId2">
            <a:extLst>
              <a:ext uri="{28A0092B-C50C-407E-A947-70E740481C1C}">
                <a14:useLocalDpi xmlns:a14="http://schemas.microsoft.com/office/drawing/2010/main" val="0"/>
              </a:ext>
            </a:extLst>
          </a:blip>
          <a:srcRect r="53699"/>
          <a:stretch>
            <a:fillRect/>
          </a:stretch>
        </p:blipFill>
        <p:spPr>
          <a:xfrm>
            <a:off x="6546850" y="0"/>
            <a:ext cx="5645150" cy="685800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子标题">
    <p:spTree>
      <p:nvGrpSpPr>
        <p:cNvPr id="1" name=""/>
        <p:cNvGrpSpPr/>
        <p:nvPr/>
      </p:nvGrpSpPr>
      <p:grpSpPr>
        <a:xfrm>
          <a:off x="0" y="0"/>
          <a:ext cx="0" cy="0"/>
          <a:chOff x="0" y="0"/>
          <a:chExt cx="0" cy="0"/>
        </a:xfrm>
      </p:grpSpPr>
      <p:sp>
        <p:nvSpPr>
          <p:cNvPr id="7" name="矩形 6"/>
          <p:cNvSpPr/>
          <p:nvPr userDrawn="1"/>
        </p:nvSpPr>
        <p:spPr>
          <a:xfrm>
            <a:off x="1535906" y="1790700"/>
            <a:ext cx="2571748" cy="2240756"/>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4162425" y="2171700"/>
            <a:ext cx="7953375" cy="723900"/>
          </a:xfrm>
        </p:spPr>
        <p:txBody>
          <a:bodyPr>
            <a:normAutofit/>
          </a:bodyPr>
          <a:lstStyle>
            <a:lvl1pPr>
              <a:defRPr sz="4000" b="1">
                <a:solidFill>
                  <a:srgbClr val="0D97C0"/>
                </a:solidFill>
                <a:latin typeface="黑体" panose="02010609060101010101" pitchFamily="49" charset="-122"/>
                <a:ea typeface="黑体" panose="02010609060101010101" pitchFamily="49" charset="-122"/>
              </a:defRPr>
            </a:lvl1pPr>
          </a:lstStyle>
          <a:p>
            <a:r>
              <a:rPr lang="zh-CN" altLang="en-US"/>
              <a:t>单击此处编辑母版标题样式</a:t>
            </a:r>
          </a:p>
        </p:txBody>
      </p:sp>
      <p:sp>
        <p:nvSpPr>
          <p:cNvPr id="8" name="矩形 7"/>
          <p:cNvSpPr/>
          <p:nvPr userDrawn="1"/>
        </p:nvSpPr>
        <p:spPr>
          <a:xfrm>
            <a:off x="4107654" y="2902745"/>
            <a:ext cx="5890421" cy="50800"/>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形 1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91650" y="476250"/>
            <a:ext cx="2305050" cy="457200"/>
          </a:xfrm>
          <a:prstGeom prst="rect">
            <a:avLst/>
          </a:prstGeom>
        </p:spPr>
      </p:pic>
      <p:sp>
        <p:nvSpPr>
          <p:cNvPr id="6" name="矩形 5"/>
          <p:cNvSpPr/>
          <p:nvPr userDrawn="1"/>
        </p:nvSpPr>
        <p:spPr>
          <a:xfrm>
            <a:off x="10866225" y="6379461"/>
            <a:ext cx="944775" cy="360362"/>
          </a:xfrm>
          <a:prstGeom prst="rect">
            <a:avLst/>
          </a:prstGeom>
        </p:spPr>
        <p:txBody>
          <a:bodyPr vert="horz" lIns="91440" tIns="45720" rIns="91440" bIns="45720" rtlCol="0"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r"/>
            <a:fld id="{677FF5B8-A162-48EC-849B-0011207F2481}" type="slidenum">
              <a:rPr lang="zh-CN" altLang="en-US" sz="1200">
                <a:solidFill>
                  <a:srgbClr val="959590"/>
                </a:solidFill>
                <a:latin typeface="黑体" panose="02010609060101010101" pitchFamily="49" charset="-122"/>
                <a:ea typeface="黑体" panose="02010609060101010101" pitchFamily="49" charset="-122"/>
              </a:rPr>
              <a:t>‹#›</a:t>
            </a:fld>
            <a:endParaRPr lang="zh-CN" altLang="en-US" sz="1200" dirty="0">
              <a:solidFill>
                <a:srgbClr val="959590"/>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与正文">
    <p:spTree>
      <p:nvGrpSpPr>
        <p:cNvPr id="1" name=""/>
        <p:cNvGrpSpPr/>
        <p:nvPr/>
      </p:nvGrpSpPr>
      <p:grpSpPr>
        <a:xfrm>
          <a:off x="0" y="0"/>
          <a:ext cx="0" cy="0"/>
          <a:chOff x="0" y="0"/>
          <a:chExt cx="0" cy="0"/>
        </a:xfrm>
      </p:grpSpPr>
      <p:sp>
        <p:nvSpPr>
          <p:cNvPr id="8" name="矩形 7"/>
          <p:cNvSpPr/>
          <p:nvPr userDrawn="1"/>
        </p:nvSpPr>
        <p:spPr>
          <a:xfrm>
            <a:off x="0" y="0"/>
            <a:ext cx="12182410" cy="792480"/>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838200" y="0"/>
            <a:ext cx="10515600" cy="792479"/>
          </a:xfrm>
        </p:spPr>
        <p:txBody>
          <a:bodyPr>
            <a:normAutofit/>
          </a:bodyPr>
          <a:lstStyle>
            <a:lvl1pPr>
              <a:defRPr sz="3200" b="1">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7" name="矩形 6"/>
          <p:cNvSpPr/>
          <p:nvPr userDrawn="1"/>
        </p:nvSpPr>
        <p:spPr>
          <a:xfrm>
            <a:off x="485776" y="186691"/>
            <a:ext cx="97630" cy="4190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形 12"/>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360117" y="177165"/>
            <a:ext cx="676275" cy="438150"/>
          </a:xfrm>
          <a:prstGeom prst="rect">
            <a:avLst/>
          </a:prstGeom>
        </p:spPr>
      </p:pic>
      <p:sp>
        <p:nvSpPr>
          <p:cNvPr id="14" name="矩形 13"/>
          <p:cNvSpPr/>
          <p:nvPr userDrawn="1"/>
        </p:nvSpPr>
        <p:spPr>
          <a:xfrm>
            <a:off x="10866225" y="6379461"/>
            <a:ext cx="944775" cy="360362"/>
          </a:xfrm>
          <a:prstGeom prst="rect">
            <a:avLst/>
          </a:prstGeom>
        </p:spPr>
        <p:txBody>
          <a:bodyPr vert="horz" lIns="91440" tIns="45720" rIns="91440" bIns="45720" rtlCol="0"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r"/>
            <a:fld id="{677FF5B8-A162-48EC-849B-0011207F2481}" type="slidenum">
              <a:rPr lang="zh-CN" altLang="en-US" sz="1200">
                <a:solidFill>
                  <a:srgbClr val="959590"/>
                </a:solidFill>
                <a:latin typeface="黑体" panose="02010609060101010101" pitchFamily="49" charset="-122"/>
                <a:ea typeface="黑体" panose="02010609060101010101" pitchFamily="49" charset="-122"/>
              </a:rPr>
              <a:t>‹#›</a:t>
            </a:fld>
            <a:endParaRPr lang="zh-CN" altLang="en-US" sz="1200" dirty="0">
              <a:solidFill>
                <a:srgbClr val="959590"/>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与子标题">
    <p:bg>
      <p:bgPr>
        <a:gradFill flip="none" rotWithShape="1">
          <a:gsLst>
            <a:gs pos="0">
              <a:srgbClr val="0D97C0">
                <a:alpha val="10000"/>
              </a:srgbClr>
            </a:gs>
            <a:gs pos="100000">
              <a:srgbClr val="0D97C0">
                <a:alpha val="10000"/>
              </a:srgbClr>
            </a:gs>
            <a:gs pos="83000">
              <a:srgbClr val="0D97C0">
                <a:alpha val="2000"/>
              </a:srgbClr>
            </a:gs>
            <a:gs pos="22000">
              <a:srgbClr val="0D97C0">
                <a:alpha val="2000"/>
              </a:srgbClr>
            </a:gs>
          </a:gsLst>
          <a:lin ang="7200000" scaled="0"/>
          <a:tileRect/>
        </a:gradFill>
        <a:effectLst/>
      </p:bgPr>
    </p:bg>
    <p:spTree>
      <p:nvGrpSpPr>
        <p:cNvPr id="1" name=""/>
        <p:cNvGrpSpPr/>
        <p:nvPr/>
      </p:nvGrpSpPr>
      <p:grpSpPr>
        <a:xfrm>
          <a:off x="0" y="0"/>
          <a:ext cx="0" cy="0"/>
          <a:chOff x="0" y="0"/>
          <a:chExt cx="0" cy="0"/>
        </a:xfrm>
      </p:grpSpPr>
      <p:sp>
        <p:nvSpPr>
          <p:cNvPr id="7" name="矩形 6"/>
          <p:cNvSpPr/>
          <p:nvPr userDrawn="1"/>
        </p:nvSpPr>
        <p:spPr>
          <a:xfrm>
            <a:off x="10866225" y="6379461"/>
            <a:ext cx="944775" cy="360362"/>
          </a:xfrm>
          <a:prstGeom prst="rect">
            <a:avLst/>
          </a:prstGeom>
        </p:spPr>
        <p:txBody>
          <a:bodyPr vert="horz" lIns="91440" tIns="45720" rIns="91440" bIns="45720" rtlCol="0"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r"/>
            <a:fld id="{677FF5B8-A162-48EC-849B-0011207F2481}" type="slidenum">
              <a:rPr lang="zh-CN" altLang="en-US" sz="1200">
                <a:solidFill>
                  <a:srgbClr val="959590"/>
                </a:solidFill>
                <a:latin typeface="黑体" panose="02010609060101010101" pitchFamily="49" charset="-122"/>
                <a:ea typeface="黑体" panose="02010609060101010101" pitchFamily="49" charset="-122"/>
              </a:rPr>
              <a:t>‹#›</a:t>
            </a:fld>
            <a:endParaRPr lang="zh-CN" altLang="en-US" sz="1200" dirty="0">
              <a:solidFill>
                <a:srgbClr val="959590"/>
              </a:solidFill>
              <a:latin typeface="黑体" panose="02010609060101010101" pitchFamily="49" charset="-122"/>
              <a:ea typeface="黑体" panose="02010609060101010101" pitchFamily="49" charset="-122"/>
            </a:endParaRPr>
          </a:p>
        </p:txBody>
      </p:sp>
      <p:sp>
        <p:nvSpPr>
          <p:cNvPr id="8" name="矩形: 圆角 7"/>
          <p:cNvSpPr/>
          <p:nvPr userDrawn="1"/>
        </p:nvSpPr>
        <p:spPr>
          <a:xfrm>
            <a:off x="447675" y="262017"/>
            <a:ext cx="47625" cy="504746"/>
          </a:xfrm>
          <a:prstGeom prst="roundRect">
            <a:avLst>
              <a:gd name="adj" fmla="val 44836"/>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userDrawn="1"/>
        </p:nvSpPr>
        <p:spPr>
          <a:xfrm>
            <a:off x="495300" y="276900"/>
            <a:ext cx="5276850" cy="474980"/>
          </a:xfrm>
          <a:prstGeom prst="rect">
            <a:avLst/>
          </a:prstGeom>
          <a:gradFill>
            <a:gsLst>
              <a:gs pos="0">
                <a:srgbClr val="0D97C0">
                  <a:alpha val="43000"/>
                </a:srgbClr>
              </a:gs>
              <a:gs pos="25000">
                <a:schemeClr val="bg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523873" y="276900"/>
            <a:ext cx="10500360" cy="474980"/>
          </a:xfrm>
        </p:spPr>
        <p:txBody>
          <a:bodyPr>
            <a:normAutofit/>
          </a:bodyPr>
          <a:lstStyle>
            <a:lvl1pPr>
              <a:defRPr sz="2400" b="1">
                <a:latin typeface="微软雅黑 Light" panose="020B0502040204020203" pitchFamily="34" charset="-122"/>
                <a:ea typeface="微软雅黑 Light" panose="020B0502040204020203" pitchFamily="34" charset="-122"/>
              </a:defRPr>
            </a:lvl1pPr>
          </a:lstStyle>
          <a:p>
            <a:r>
              <a:rPr lang="zh-CN" altLang="en-US" dirty="0"/>
              <a:t>单击此处编辑母版标题样式</a:t>
            </a:r>
          </a:p>
        </p:txBody>
      </p:sp>
      <p:pic>
        <p:nvPicPr>
          <p:cNvPr id="12" name="图形 11"/>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809922" y="295315"/>
            <a:ext cx="676275" cy="438150"/>
          </a:xfrm>
          <a:prstGeom prst="rect">
            <a:avLst/>
          </a:prstGeom>
        </p:spPr>
      </p:pic>
      <p:sp>
        <p:nvSpPr>
          <p:cNvPr id="13" name="矩形 12"/>
          <p:cNvSpPr/>
          <p:nvPr userDrawn="1"/>
        </p:nvSpPr>
        <p:spPr>
          <a:xfrm>
            <a:off x="1" y="6526531"/>
            <a:ext cx="276224" cy="45719"/>
          </a:xfrm>
          <a:prstGeom prst="rect">
            <a:avLst/>
          </a:prstGeom>
          <a:gradFill flip="none" rotWithShape="1">
            <a:gsLst>
              <a:gs pos="0">
                <a:srgbClr val="0D97C0">
                  <a:lumMod val="100000"/>
                </a:srgbClr>
              </a:gs>
              <a:gs pos="100000">
                <a:srgbClr val="0000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userDrawn="1"/>
        </p:nvSpPr>
        <p:spPr>
          <a:xfrm>
            <a:off x="11910860" y="6526531"/>
            <a:ext cx="276224" cy="45719"/>
          </a:xfrm>
          <a:prstGeom prst="rect">
            <a:avLst/>
          </a:prstGeom>
          <a:gradFill flip="none" rotWithShape="1">
            <a:gsLst>
              <a:gs pos="0">
                <a:srgbClr val="0D97C0">
                  <a:lumMod val="100000"/>
                </a:srgbClr>
              </a:gs>
              <a:gs pos="100000">
                <a:srgbClr val="0000FF"/>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stretch>
            <a:fillRect/>
          </a:stretch>
        </p:blipFill>
        <p:spPr>
          <a:xfrm>
            <a:off x="554037" y="1069380"/>
            <a:ext cx="2251343" cy="251419"/>
          </a:xfrm>
          <a:prstGeom prst="rect">
            <a:avLst/>
          </a:prstGeom>
        </p:spPr>
      </p:pic>
      <p:sp>
        <p:nvSpPr>
          <p:cNvPr id="16" name="副标题 2"/>
          <p:cNvSpPr>
            <a:spLocks noGrp="1"/>
          </p:cNvSpPr>
          <p:nvPr>
            <p:ph type="subTitle" idx="1"/>
          </p:nvPr>
        </p:nvSpPr>
        <p:spPr>
          <a:xfrm>
            <a:off x="1080289" y="897234"/>
            <a:ext cx="4251960" cy="369332"/>
          </a:xfrm>
          <a:noFill/>
        </p:spPr>
        <p:txBody>
          <a:bodyPr wrap="square" rtlCol="0">
            <a:spAutoFit/>
          </a:bodyPr>
          <a:lstStyle>
            <a:lvl1pPr marL="0" indent="0">
              <a:buNone/>
              <a:defRPr lang="zh-CN" altLang="en-US" sz="2000" b="1" dirty="0">
                <a:solidFill>
                  <a:srgbClr val="0D97C0"/>
                </a:solidFill>
                <a:latin typeface="微软雅黑 Light" panose="020B0502040204020203" pitchFamily="34" charset="-122"/>
                <a:ea typeface="微软雅黑 Light" panose="020B0502040204020203" pitchFamily="34" charset="-122"/>
              </a:defRPr>
            </a:lvl1pPr>
          </a:lstStyle>
          <a:p>
            <a:pPr marL="0" lvl="0" defTabSz="457200"/>
            <a:r>
              <a:rPr lang="zh-CN" altLang="en-US" dirty="0"/>
              <a:t>单击此处编辑母版副标题样式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正文">
    <p:spTree>
      <p:nvGrpSpPr>
        <p:cNvPr id="1" name=""/>
        <p:cNvGrpSpPr/>
        <p:nvPr/>
      </p:nvGrpSpPr>
      <p:grpSpPr>
        <a:xfrm>
          <a:off x="0" y="0"/>
          <a:ext cx="0" cy="0"/>
          <a:chOff x="0" y="0"/>
          <a:chExt cx="0" cy="0"/>
        </a:xfrm>
      </p:grpSpPr>
      <p:sp>
        <p:nvSpPr>
          <p:cNvPr id="2" name="标题 1"/>
          <p:cNvSpPr>
            <a:spLocks noGrp="1"/>
          </p:cNvSpPr>
          <p:nvPr>
            <p:ph type="title"/>
          </p:nvPr>
        </p:nvSpPr>
        <p:spPr>
          <a:xfrm>
            <a:off x="407895" y="211928"/>
            <a:ext cx="9704396" cy="558184"/>
          </a:xfrm>
        </p:spPr>
        <p:txBody>
          <a:bodyPr>
            <a:noAutofit/>
          </a:bodyPr>
          <a:lstStyle>
            <a:lvl1pPr>
              <a:defRPr sz="3200" b="1">
                <a:latin typeface="黑体" panose="02010609060101010101" pitchFamily="49" charset="-122"/>
                <a:ea typeface="黑体" panose="02010609060101010101" pitchFamily="49" charset="-122"/>
              </a:defRPr>
            </a:lvl1pPr>
          </a:lstStyle>
          <a:p>
            <a:r>
              <a:rPr lang="zh-CN" altLang="en-US" dirty="0"/>
              <a:t>单击此处编辑母版标题样式</a:t>
            </a:r>
          </a:p>
        </p:txBody>
      </p:sp>
      <p:sp>
        <p:nvSpPr>
          <p:cNvPr id="7" name="矩形 6"/>
          <p:cNvSpPr/>
          <p:nvPr userDrawn="1"/>
        </p:nvSpPr>
        <p:spPr>
          <a:xfrm>
            <a:off x="0" y="893661"/>
            <a:ext cx="12192000" cy="50007"/>
          </a:xfrm>
          <a:prstGeom prst="rect">
            <a:avLst/>
          </a:prstGeom>
          <a:gradFill>
            <a:gsLst>
              <a:gs pos="0">
                <a:srgbClr val="0D97C0">
                  <a:alpha val="20000"/>
                </a:srgbClr>
              </a:gs>
              <a:gs pos="16000">
                <a:srgbClr val="0D97C0"/>
              </a:gs>
              <a:gs pos="79000">
                <a:schemeClr val="bg1"/>
              </a:gs>
              <a:gs pos="100000">
                <a:srgbClr val="0D97C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形 8"/>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12291" y="245600"/>
            <a:ext cx="1592505" cy="490841"/>
          </a:xfrm>
          <a:prstGeom prst="rect">
            <a:avLst/>
          </a:prstGeom>
        </p:spPr>
      </p:pic>
      <p:sp>
        <p:nvSpPr>
          <p:cNvPr id="10" name="矩形 9"/>
          <p:cNvSpPr/>
          <p:nvPr userDrawn="1"/>
        </p:nvSpPr>
        <p:spPr>
          <a:xfrm>
            <a:off x="10866225" y="6379461"/>
            <a:ext cx="944775" cy="360362"/>
          </a:xfrm>
          <a:prstGeom prst="rect">
            <a:avLst/>
          </a:prstGeom>
        </p:spPr>
        <p:txBody>
          <a:bodyPr vert="horz" lIns="91440" tIns="45720" rIns="91440" bIns="45720" rtlCol="0" anchor="ctr"/>
          <a:lstStyle>
            <a:lvl1pPr eaLnBrk="0" hangingPunct="0">
              <a:defRPr>
                <a:solidFill>
                  <a:schemeClr val="tx1"/>
                </a:solidFill>
                <a:latin typeface="Franklin Gothic Book" panose="020B0503020102020204" pitchFamily="34" charset="0"/>
                <a:ea typeface="微软雅黑" panose="020B0503020204020204" pitchFamily="34" charset="-122"/>
              </a:defRPr>
            </a:lvl1pPr>
            <a:lvl2pPr marL="742950" indent="-285750" eaLnBrk="0" hangingPunct="0">
              <a:defRPr>
                <a:solidFill>
                  <a:schemeClr val="tx1"/>
                </a:solidFill>
                <a:latin typeface="Franklin Gothic Book" panose="020B0503020102020204" pitchFamily="34" charset="0"/>
                <a:ea typeface="微软雅黑" panose="020B0503020204020204" pitchFamily="34" charset="-122"/>
              </a:defRPr>
            </a:lvl2pPr>
            <a:lvl3pPr marL="1143000" indent="-228600" eaLnBrk="0" hangingPunct="0">
              <a:defRPr>
                <a:solidFill>
                  <a:schemeClr val="tx1"/>
                </a:solidFill>
                <a:latin typeface="Franklin Gothic Book" panose="020B0503020102020204" pitchFamily="34" charset="0"/>
                <a:ea typeface="微软雅黑" panose="020B0503020204020204" pitchFamily="34" charset="-122"/>
              </a:defRPr>
            </a:lvl3pPr>
            <a:lvl4pPr marL="1600200" indent="-228600" eaLnBrk="0" hangingPunct="0">
              <a:defRPr>
                <a:solidFill>
                  <a:schemeClr val="tx1"/>
                </a:solidFill>
                <a:latin typeface="Franklin Gothic Book" panose="020B0503020102020204" pitchFamily="34" charset="0"/>
                <a:ea typeface="微软雅黑" panose="020B0503020204020204" pitchFamily="34" charset="-122"/>
              </a:defRPr>
            </a:lvl4pPr>
            <a:lvl5pPr marL="2057400" indent="-228600" eaLnBrk="0" hangingPunct="0">
              <a:defRPr>
                <a:solidFill>
                  <a:schemeClr val="tx1"/>
                </a:solidFill>
                <a:latin typeface="Franklin Gothic Book" panose="020B050302010202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Franklin Gothic Book" panose="020B0503020102020204" pitchFamily="34" charset="0"/>
                <a:ea typeface="微软雅黑" panose="020B0503020204020204" pitchFamily="34" charset="-122"/>
              </a:defRPr>
            </a:lvl9pPr>
          </a:lstStyle>
          <a:p>
            <a:pPr lvl="0" algn="r"/>
            <a:fld id="{677FF5B8-A162-48EC-849B-0011207F2481}" type="slidenum">
              <a:rPr lang="zh-CN" altLang="en-US" sz="1200">
                <a:solidFill>
                  <a:srgbClr val="959590"/>
                </a:solidFill>
                <a:latin typeface="黑体" panose="02010609060101010101" pitchFamily="49" charset="-122"/>
                <a:ea typeface="黑体" panose="02010609060101010101" pitchFamily="49" charset="-122"/>
              </a:rPr>
              <a:t>‹#›</a:t>
            </a:fld>
            <a:endParaRPr lang="zh-CN" altLang="en-US" sz="1200" dirty="0">
              <a:solidFill>
                <a:srgbClr val="959590"/>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
        <p:nvSpPr>
          <p:cNvPr id="11" name="矩形 10"/>
          <p:cNvSpPr/>
          <p:nvPr userDrawn="1"/>
        </p:nvSpPr>
        <p:spPr>
          <a:xfrm>
            <a:off x="0" y="2278380"/>
            <a:ext cx="12192000" cy="1950720"/>
          </a:xfrm>
          <a:prstGeom prst="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 name="标题 1"/>
          <p:cNvSpPr>
            <a:spLocks noGrp="1"/>
          </p:cNvSpPr>
          <p:nvPr>
            <p:ph type="title"/>
          </p:nvPr>
        </p:nvSpPr>
        <p:spPr>
          <a:xfrm>
            <a:off x="0" y="2590958"/>
            <a:ext cx="12192000" cy="1325563"/>
          </a:xfrm>
        </p:spPr>
        <p:txBody>
          <a:bodyPr/>
          <a:lstStyle>
            <a:lvl1pPr algn="ctr">
              <a:defRPr b="1">
                <a:solidFill>
                  <a:schemeClr val="bg1"/>
                </a:solidFill>
                <a:latin typeface="黑体" panose="02010609060101010101" pitchFamily="49" charset="-122"/>
                <a:ea typeface="黑体" panose="02010609060101010101" pitchFamily="49" charset="-122"/>
              </a:defRPr>
            </a:lvl1pPr>
          </a:lstStyle>
          <a:p>
            <a:r>
              <a:rPr lang="zh-CN" altLang="en-US" dirty="0"/>
              <a:t>单击此处编辑母版标题样式</a:t>
            </a:r>
          </a:p>
        </p:txBody>
      </p:sp>
      <p:pic>
        <p:nvPicPr>
          <p:cNvPr id="8" name="图形 7"/>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37210" y="1110615"/>
            <a:ext cx="2781300" cy="857250"/>
          </a:xfrm>
          <a:prstGeom prst="rect">
            <a:avLst/>
          </a:prstGeom>
        </p:spPr>
      </p:pic>
      <p:sp>
        <p:nvSpPr>
          <p:cNvPr id="9" name="矩形 8"/>
          <p:cNvSpPr/>
          <p:nvPr userDrawn="1"/>
        </p:nvSpPr>
        <p:spPr>
          <a:xfrm>
            <a:off x="13252" y="4295139"/>
            <a:ext cx="12192000" cy="50007"/>
          </a:xfrm>
          <a:prstGeom prst="rect">
            <a:avLst/>
          </a:prstGeom>
          <a:gradFill>
            <a:gsLst>
              <a:gs pos="0">
                <a:srgbClr val="0D97C0">
                  <a:alpha val="20000"/>
                </a:srgbClr>
              </a:gs>
              <a:gs pos="16000">
                <a:srgbClr val="0D97C0"/>
              </a:gs>
              <a:gs pos="79000">
                <a:schemeClr val="bg1"/>
              </a:gs>
              <a:gs pos="100000">
                <a:srgbClr val="0D97C0"/>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文本占位符 13"/>
          <p:cNvSpPr>
            <a:spLocks noGrp="1"/>
          </p:cNvSpPr>
          <p:nvPr>
            <p:ph type="body" sz="quarter" idx="10"/>
          </p:nvPr>
        </p:nvSpPr>
        <p:spPr>
          <a:xfrm>
            <a:off x="3829367" y="4695586"/>
            <a:ext cx="4533266" cy="370596"/>
          </a:xfrm>
        </p:spPr>
        <p:txBody>
          <a:bodyPr>
            <a:normAutofit/>
          </a:bodyPr>
          <a:lstStyle>
            <a:lvl1pPr marL="0" indent="0" algn="ctr">
              <a:buNone/>
              <a:defRPr sz="1600" b="1">
                <a:latin typeface="黑体" panose="02010609060101010101" pitchFamily="49" charset="-122"/>
                <a:ea typeface="黑体" panose="02010609060101010101" pitchFamily="49" charset="-122"/>
              </a:defRPr>
            </a:lvl1pPr>
            <a:lvl3pPr marL="914400" indent="0">
              <a:buNone/>
              <a:defRPr/>
            </a:lvl3pPr>
            <a:lvl4pPr marL="1371600" indent="0">
              <a:buNone/>
              <a:defRPr/>
            </a:lvl4pPr>
            <a:lvl5pPr marL="1828800" indent="0">
              <a:buNone/>
              <a:defRPr/>
            </a:lvl5pPr>
          </a:lstStyle>
          <a:p>
            <a:pPr lvl="0"/>
            <a:r>
              <a:rPr lang="zh-CN" altLang="en-US" dirty="0"/>
              <a:t>单击此处编辑母版文本样式</a:t>
            </a:r>
          </a:p>
        </p:txBody>
      </p:sp>
      <p:pic>
        <p:nvPicPr>
          <p:cNvPr id="4" name="图形 3"/>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72075" y="6428362"/>
            <a:ext cx="1847850" cy="304800"/>
          </a:xfrm>
          <a:prstGeom prst="rect">
            <a:avLst/>
          </a:prstGeom>
        </p:spPr>
      </p:pic>
      <p:sp>
        <p:nvSpPr>
          <p:cNvPr id="10" name="日期占位符 3"/>
          <p:cNvSpPr txBox="1"/>
          <p:nvPr userDrawn="1"/>
        </p:nvSpPr>
        <p:spPr>
          <a:xfrm>
            <a:off x="5373768" y="5879473"/>
            <a:ext cx="1444463" cy="365125"/>
          </a:xfrm>
          <a:prstGeom prst="rect">
            <a:avLst/>
          </a:prstGeom>
        </p:spPr>
        <p:txBody>
          <a:bodyPr vert="horz" lIns="91440" tIns="45720" rIns="91440" bIns="45720" rtlCol="0" anchor="ctr"/>
          <a:lstStyle>
            <a:defPPr>
              <a:defRPr lang="en-US"/>
            </a:defPPr>
            <a:lvl1pPr algn="ctr">
              <a:defRPr sz="1600" b="1">
                <a:latin typeface="黑体" panose="02010609060101010101" pitchFamily="49" charset="-122"/>
                <a:ea typeface="黑体" panose="02010609060101010101" pitchFamily="49" charset="-122"/>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lvl="0"/>
            <a:fld id="{89F84666-61CF-4C79-B611-D58C5F11E63F}" type="datetimeFigureOut">
              <a:rPr lang="zh-CN" altLang="en-US" smtClean="0"/>
              <a:t>2026/10/5</a:t>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1"/>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6"/>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97600" y="1825625"/>
            <a:ext cx="51562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8"/>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40319"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40319" y="2505075"/>
            <a:ext cx="5158316"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9" y="457200"/>
            <a:ext cx="393276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717"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40319"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9" y="457200"/>
            <a:ext cx="393276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717"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40319"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2"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2" y="365125"/>
            <a:ext cx="76835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4FF5A34-150D-4384-ADE0-5963A8A3C9C1}"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9"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DF01D9-C817-45DF-837E-7F2D9ACA510E}" type="datetimeFigureOut">
              <a:rPr lang="zh-CN" altLang="en-US" smtClean="0"/>
              <a:t>2026/10/5</a:t>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E1EA5D-6212-4258-9A85-982A0B9CAE6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F84666-61CF-4C79-B611-D58C5F11E63F}" type="datetimeFigureOut">
              <a:rPr lang="zh-CN" altLang="en-US" smtClean="0"/>
              <a:t>2026/10/5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2BE5F7-BD25-438D-AD64-0A83D91C93C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8"/>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867449-9098-408F-956D-04EA2A0D1F0A}" type="datetimeFigureOut">
              <a:rPr lang="zh-CN" altLang="en-US" smtClean="0"/>
              <a:t>2026/10/5</a:t>
            </a:fld>
            <a:endParaRPr lang="zh-CN" altLang="en-US"/>
          </a:p>
        </p:txBody>
      </p:sp>
      <p:sp>
        <p:nvSpPr>
          <p:cNvPr id="5" name="页脚占位符 4"/>
          <p:cNvSpPr>
            <a:spLocks noGrp="1"/>
          </p:cNvSpPr>
          <p:nvPr>
            <p:ph type="ftr" sz="quarter" idx="3"/>
          </p:nvPr>
        </p:nvSpPr>
        <p:spPr>
          <a:xfrm>
            <a:off x="4038600" y="635635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3"/>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FF5A34-150D-4384-ADE0-5963A8A3C9C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5" Type="http://schemas.openxmlformats.org/officeDocument/2006/relationships/slideLayout" Target="../slideLayouts/slideLayout4.xml"/><Relationship Id="rId4" Type="http://schemas.openxmlformats.org/officeDocument/2006/relationships/tags" Target="../tags/tag5.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p:cNvSpPr>
            <a:spLocks noGrp="1"/>
          </p:cNvSpPr>
          <p:nvPr>
            <p:ph type="subTitle" idx="1"/>
          </p:nvPr>
        </p:nvSpPr>
        <p:spPr>
          <a:xfrm>
            <a:off x="228600" y="3190461"/>
            <a:ext cx="11963399" cy="1669774"/>
          </a:xfrm>
        </p:spPr>
        <p:txBody>
          <a:bodyPr>
            <a:normAutofit/>
          </a:bodyPr>
          <a:lstStyle/>
          <a:p>
            <a:pPr algn="l"/>
            <a:r>
              <a:rPr lang="zh-CN" altLang="en-US" dirty="0">
                <a:latin typeface="微软雅黑" panose="020B0503020204020204" pitchFamily="34" charset="-122"/>
                <a:ea typeface="微软雅黑" panose="020B0503020204020204" pitchFamily="34" charset="-122"/>
              </a:rPr>
              <a:t>汇报人：</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 </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学号：</a:t>
            </a:r>
            <a:r>
              <a:rPr lang="en-US" altLang="zh-CN" dirty="0">
                <a:latin typeface="微软雅黑" panose="020B0503020204020204" pitchFamily="34" charset="-122"/>
                <a:ea typeface="微软雅黑" panose="020B0503020204020204" pitchFamily="34" charset="-122"/>
              </a:rPr>
              <a:t> </a:t>
            </a:r>
          </a:p>
          <a:p>
            <a:pPr algn="l"/>
            <a:r>
              <a:rPr lang="zh-CN" altLang="en-US" dirty="0">
                <a:latin typeface="微软雅黑" panose="020B0503020204020204" pitchFamily="34" charset="-122"/>
                <a:ea typeface="微软雅黑" panose="020B0503020204020204" pitchFamily="34" charset="-122"/>
              </a:rPr>
              <a:t>指导教师：</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专业：</a:t>
            </a:r>
            <a:endParaRPr lang="en-US" altLang="zh-CN" dirty="0">
              <a:latin typeface="微软雅黑" panose="020B0503020204020204" pitchFamily="34" charset="-122"/>
              <a:ea typeface="微软雅黑" panose="020B0503020204020204" pitchFamily="34" charset="-122"/>
            </a:endParaRPr>
          </a:p>
          <a:p>
            <a:pPr algn="l"/>
            <a:endParaRPr lang="en-US" altLang="zh-CN" dirty="0"/>
          </a:p>
        </p:txBody>
      </p:sp>
      <p:sp>
        <p:nvSpPr>
          <p:cNvPr id="4" name="标题 3"/>
          <p:cNvSpPr>
            <a:spLocks noGrp="1"/>
          </p:cNvSpPr>
          <p:nvPr>
            <p:ph type="ctrTitle"/>
          </p:nvPr>
        </p:nvSpPr>
        <p:spPr>
          <a:xfrm>
            <a:off x="597824" y="1984838"/>
            <a:ext cx="10858500" cy="672152"/>
          </a:xfrm>
        </p:spPr>
        <p:txBody>
          <a:bodyPr>
            <a:normAutofit/>
          </a:bodyPr>
          <a:lstStyle/>
          <a:p>
            <a:r>
              <a:rPr lang="zh-CN" altLang="en-US" sz="3600" dirty="0">
                <a:latin typeface="微软雅黑" panose="020B0503020204020204" pitchFamily="34" charset="-122"/>
                <a:ea typeface="微软雅黑" panose="020B0503020204020204" pitchFamily="34" charset="-122"/>
              </a:rPr>
              <a:t>面向动态行为序列的自监督推荐系统设计与实现</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毕业答辩</a:t>
            </a:r>
          </a:p>
        </p:txBody>
      </p:sp>
      <p:grpSp>
        <p:nvGrpSpPr>
          <p:cNvPr id="9" name="组合 8"/>
          <p:cNvGrpSpPr/>
          <p:nvPr/>
        </p:nvGrpSpPr>
        <p:grpSpPr>
          <a:xfrm>
            <a:off x="4540253" y="1089424"/>
            <a:ext cx="6563176" cy="435511"/>
            <a:chOff x="5048253" y="973310"/>
            <a:chExt cx="6563176" cy="435511"/>
          </a:xfrm>
        </p:grpSpPr>
        <p:sp>
          <p:nvSpPr>
            <p:cNvPr id="4" name="圆角矩形 17"/>
            <p:cNvSpPr/>
            <p:nvPr userDrawn="1"/>
          </p:nvSpPr>
          <p:spPr>
            <a:xfrm>
              <a:off x="5640795" y="976821"/>
              <a:ext cx="5970634" cy="432000"/>
            </a:xfrm>
            <a:prstGeom prst="roundRect">
              <a:avLst>
                <a:gd name="adj" fmla="val 5888"/>
              </a:avLst>
            </a:prstGeom>
            <a:solidFill>
              <a:srgbClr val="0097C4"/>
            </a:solidFill>
            <a:ln w="31750">
              <a:solidFill>
                <a:schemeClr val="bg1">
                  <a:lumMod val="95000"/>
                </a:schemeClr>
              </a:solidFill>
            </a:ln>
            <a:effectLst>
              <a:outerShdw blurRad="50800" dist="38100" dir="5400000" algn="t"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zh-CN" altLang="en-US" b="1" spc="100" dirty="0">
                  <a:solidFill>
                    <a:schemeClr val="bg1"/>
                  </a:solidFill>
                  <a:latin typeface="微软雅黑" panose="020B0503020204020204" pitchFamily="34" charset="-122"/>
                  <a:ea typeface="微软雅黑" panose="020B0503020204020204" pitchFamily="34" charset="-122"/>
                </a:rPr>
                <a:t>研究背景与意义</a:t>
              </a:r>
            </a:p>
          </p:txBody>
        </p:sp>
        <p:sp>
          <p:nvSpPr>
            <p:cNvPr id="5" name="椭圆 4"/>
            <p:cNvSpPr/>
            <p:nvPr userDrawn="1"/>
          </p:nvSpPr>
          <p:spPr>
            <a:xfrm>
              <a:off x="5048253" y="973310"/>
              <a:ext cx="432000" cy="432000"/>
            </a:xfrm>
            <a:prstGeom prst="ellipse">
              <a:avLst/>
            </a:prstGeom>
            <a:solidFill>
              <a:srgbClr val="0097C4"/>
            </a:solidFill>
            <a:ln w="31750"/>
            <a:effectLst>
              <a:outerShdw blurRad="50800" dist="38100" dir="5400000" algn="t" rotWithShape="0">
                <a:prstClr val="black">
                  <a:alpha val="40000"/>
                </a:prstClr>
              </a:outerShdw>
            </a:effectLst>
            <a:scene3d>
              <a:camera prst="orthographicFront"/>
              <a:lightRig rig="twoPt" dir="t"/>
            </a:scene3d>
            <a:sp3d prstMaterial="matte">
              <a:bevelB/>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400" b="1" dirty="0">
                  <a:latin typeface="Times New Roman" panose="02020603050405020304" pitchFamily="18" charset="0"/>
                  <a:cs typeface="Times New Roman" panose="02020603050405020304" pitchFamily="18" charset="0"/>
                </a:rPr>
                <a:t>1</a:t>
              </a:r>
              <a:endParaRPr lang="zh-CN" altLang="en-US" sz="2400" b="1" dirty="0">
                <a:latin typeface="Times New Roman" panose="02020603050405020304" pitchFamily="18" charset="0"/>
                <a:cs typeface="Times New Roman" panose="02020603050405020304" pitchFamily="18" charset="0"/>
              </a:endParaRPr>
            </a:p>
          </p:txBody>
        </p:sp>
      </p:grpSp>
      <p:grpSp>
        <p:nvGrpSpPr>
          <p:cNvPr id="10" name="组合 9"/>
          <p:cNvGrpSpPr/>
          <p:nvPr/>
        </p:nvGrpSpPr>
        <p:grpSpPr>
          <a:xfrm>
            <a:off x="4540253" y="1890807"/>
            <a:ext cx="6563176" cy="435511"/>
            <a:chOff x="5048253" y="973310"/>
            <a:chExt cx="6563176" cy="435511"/>
          </a:xfrm>
        </p:grpSpPr>
        <p:sp>
          <p:nvSpPr>
            <p:cNvPr id="11" name="圆角矩形 17"/>
            <p:cNvSpPr/>
            <p:nvPr userDrawn="1"/>
          </p:nvSpPr>
          <p:spPr>
            <a:xfrm>
              <a:off x="5640795" y="976821"/>
              <a:ext cx="5970634" cy="432000"/>
            </a:xfrm>
            <a:prstGeom prst="roundRect">
              <a:avLst>
                <a:gd name="adj" fmla="val 5888"/>
              </a:avLst>
            </a:prstGeom>
            <a:solidFill>
              <a:srgbClr val="0097C4"/>
            </a:solidFill>
            <a:ln w="31750">
              <a:solidFill>
                <a:schemeClr val="bg1">
                  <a:lumMod val="95000"/>
                </a:schemeClr>
              </a:solidFill>
            </a:ln>
            <a:effectLst>
              <a:outerShdw blurRad="50800" dist="38100" dir="5400000" algn="t"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zh-CN" altLang="en-US" b="1" spc="100" dirty="0">
                  <a:solidFill>
                    <a:schemeClr val="bg1"/>
                  </a:solidFill>
                  <a:latin typeface="微软雅黑" panose="020B0503020204020204" pitchFamily="34" charset="-122"/>
                  <a:ea typeface="微软雅黑" panose="020B0503020204020204" pitchFamily="34" charset="-122"/>
                </a:rPr>
                <a:t>数据介绍及预处理</a:t>
              </a:r>
            </a:p>
          </p:txBody>
        </p:sp>
        <p:sp>
          <p:nvSpPr>
            <p:cNvPr id="12" name="椭圆 11"/>
            <p:cNvSpPr/>
            <p:nvPr userDrawn="1"/>
          </p:nvSpPr>
          <p:spPr>
            <a:xfrm>
              <a:off x="5048253" y="973310"/>
              <a:ext cx="432000" cy="432000"/>
            </a:xfrm>
            <a:prstGeom prst="ellipse">
              <a:avLst/>
            </a:prstGeom>
            <a:solidFill>
              <a:srgbClr val="0097C4"/>
            </a:solidFill>
            <a:ln w="31750"/>
            <a:effectLst>
              <a:outerShdw blurRad="50800" dist="38100" dir="5400000" algn="t" rotWithShape="0">
                <a:prstClr val="black">
                  <a:alpha val="40000"/>
                </a:prstClr>
              </a:outerShdw>
            </a:effectLst>
            <a:scene3d>
              <a:camera prst="orthographicFront"/>
              <a:lightRig rig="twoPt" dir="t"/>
            </a:scene3d>
            <a:sp3d prstMaterial="matte">
              <a:bevelB/>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400" b="1" dirty="0">
                  <a:latin typeface="Times New Roman" panose="02020603050405020304" pitchFamily="18" charset="0"/>
                  <a:cs typeface="Times New Roman" panose="02020603050405020304" pitchFamily="18" charset="0"/>
                </a:rPr>
                <a:t>2</a:t>
              </a:r>
              <a:endParaRPr lang="zh-CN" altLang="en-US" sz="2400" b="1" dirty="0">
                <a:latin typeface="Times New Roman" panose="02020603050405020304" pitchFamily="18" charset="0"/>
                <a:cs typeface="Times New Roman" panose="02020603050405020304" pitchFamily="18" charset="0"/>
              </a:endParaRPr>
            </a:p>
          </p:txBody>
        </p:sp>
      </p:grpSp>
      <p:grpSp>
        <p:nvGrpSpPr>
          <p:cNvPr id="13" name="组合 12"/>
          <p:cNvGrpSpPr/>
          <p:nvPr/>
        </p:nvGrpSpPr>
        <p:grpSpPr>
          <a:xfrm>
            <a:off x="4540253" y="2692190"/>
            <a:ext cx="6563176" cy="435511"/>
            <a:chOff x="5048253" y="973310"/>
            <a:chExt cx="6563176" cy="435511"/>
          </a:xfrm>
        </p:grpSpPr>
        <p:sp>
          <p:nvSpPr>
            <p:cNvPr id="14" name="圆角矩形 17"/>
            <p:cNvSpPr/>
            <p:nvPr userDrawn="1"/>
          </p:nvSpPr>
          <p:spPr>
            <a:xfrm>
              <a:off x="5640795" y="976821"/>
              <a:ext cx="5970634" cy="432000"/>
            </a:xfrm>
            <a:prstGeom prst="roundRect">
              <a:avLst>
                <a:gd name="adj" fmla="val 5888"/>
              </a:avLst>
            </a:prstGeom>
            <a:solidFill>
              <a:srgbClr val="0097C4"/>
            </a:solidFill>
            <a:ln w="31750">
              <a:solidFill>
                <a:schemeClr val="bg1">
                  <a:lumMod val="95000"/>
                </a:schemeClr>
              </a:solidFill>
            </a:ln>
            <a:effectLst>
              <a:outerShdw blurRad="50800" dist="38100" dir="5400000" algn="t"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zh-CN" altLang="en-US" b="1" spc="100" dirty="0">
                  <a:solidFill>
                    <a:schemeClr val="bg1"/>
                  </a:solidFill>
                  <a:latin typeface="微软雅黑" panose="020B0503020204020204" pitchFamily="34" charset="-122"/>
                  <a:ea typeface="微软雅黑" panose="020B0503020204020204" pitchFamily="34" charset="-122"/>
                </a:rPr>
                <a:t>总体框架及实验结果</a:t>
              </a:r>
            </a:p>
          </p:txBody>
        </p:sp>
        <p:sp>
          <p:nvSpPr>
            <p:cNvPr id="15" name="椭圆 14"/>
            <p:cNvSpPr/>
            <p:nvPr userDrawn="1"/>
          </p:nvSpPr>
          <p:spPr>
            <a:xfrm>
              <a:off x="5048253" y="973310"/>
              <a:ext cx="432000" cy="432000"/>
            </a:xfrm>
            <a:prstGeom prst="ellipse">
              <a:avLst/>
            </a:prstGeom>
            <a:solidFill>
              <a:srgbClr val="0097C4"/>
            </a:solidFill>
            <a:ln w="31750"/>
            <a:effectLst>
              <a:outerShdw blurRad="50800" dist="38100" dir="5400000" algn="t" rotWithShape="0">
                <a:prstClr val="black">
                  <a:alpha val="40000"/>
                </a:prstClr>
              </a:outerShdw>
            </a:effectLst>
            <a:scene3d>
              <a:camera prst="orthographicFront"/>
              <a:lightRig rig="twoPt" dir="t"/>
            </a:scene3d>
            <a:sp3d prstMaterial="matte">
              <a:bevelB/>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400" b="1" dirty="0">
                  <a:latin typeface="Times New Roman" panose="02020603050405020304" pitchFamily="18" charset="0"/>
                  <a:cs typeface="Times New Roman" panose="02020603050405020304" pitchFamily="18" charset="0"/>
                </a:rPr>
                <a:t>3</a:t>
              </a:r>
              <a:endParaRPr lang="zh-CN" altLang="en-US" sz="2400" b="1" dirty="0">
                <a:latin typeface="Times New Roman" panose="02020603050405020304" pitchFamily="18" charset="0"/>
                <a:cs typeface="Times New Roman" panose="02020603050405020304" pitchFamily="18" charset="0"/>
              </a:endParaRPr>
            </a:p>
          </p:txBody>
        </p:sp>
      </p:grpSp>
      <p:sp>
        <p:nvSpPr>
          <p:cNvPr id="3" name="文本框 2"/>
          <p:cNvSpPr txBox="1"/>
          <p:nvPr/>
        </p:nvSpPr>
        <p:spPr>
          <a:xfrm>
            <a:off x="11468436" y="6488668"/>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grpSp>
        <p:nvGrpSpPr>
          <p:cNvPr id="16" name="组合 15"/>
          <p:cNvGrpSpPr/>
          <p:nvPr/>
        </p:nvGrpSpPr>
        <p:grpSpPr>
          <a:xfrm>
            <a:off x="4540253" y="3493573"/>
            <a:ext cx="6563176" cy="435511"/>
            <a:chOff x="5048253" y="973310"/>
            <a:chExt cx="6563176" cy="435511"/>
          </a:xfrm>
        </p:grpSpPr>
        <p:sp>
          <p:nvSpPr>
            <p:cNvPr id="17" name="圆角矩形 17"/>
            <p:cNvSpPr/>
            <p:nvPr userDrawn="1"/>
          </p:nvSpPr>
          <p:spPr>
            <a:xfrm>
              <a:off x="5640795" y="976821"/>
              <a:ext cx="5970634" cy="432000"/>
            </a:xfrm>
            <a:prstGeom prst="roundRect">
              <a:avLst>
                <a:gd name="adj" fmla="val 5888"/>
              </a:avLst>
            </a:prstGeom>
            <a:solidFill>
              <a:srgbClr val="0097C4"/>
            </a:solidFill>
            <a:ln w="31750">
              <a:solidFill>
                <a:schemeClr val="bg1">
                  <a:lumMod val="95000"/>
                </a:schemeClr>
              </a:solidFill>
            </a:ln>
            <a:effectLst>
              <a:outerShdw blurRad="50800" dist="38100" dir="5400000" algn="t"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rtlCol="0" anchor="ctr"/>
            <a:lstStyle/>
            <a:p>
              <a:r>
                <a:rPr lang="zh-CN" altLang="en-US" b="1" spc="100" dirty="0">
                  <a:solidFill>
                    <a:schemeClr val="bg1"/>
                  </a:solidFill>
                  <a:latin typeface="微软雅黑" panose="020B0503020204020204" pitchFamily="34" charset="-122"/>
                  <a:ea typeface="微软雅黑" panose="020B0503020204020204" pitchFamily="34" charset="-122"/>
                </a:rPr>
                <a:t>研究总结与展望</a:t>
              </a:r>
            </a:p>
          </p:txBody>
        </p:sp>
        <p:sp>
          <p:nvSpPr>
            <p:cNvPr id="18" name="椭圆 17"/>
            <p:cNvSpPr/>
            <p:nvPr userDrawn="1"/>
          </p:nvSpPr>
          <p:spPr>
            <a:xfrm>
              <a:off x="5048253" y="973310"/>
              <a:ext cx="432000" cy="432000"/>
            </a:xfrm>
            <a:prstGeom prst="ellipse">
              <a:avLst/>
            </a:prstGeom>
            <a:solidFill>
              <a:srgbClr val="0097C4"/>
            </a:solidFill>
            <a:ln w="31750"/>
            <a:effectLst>
              <a:outerShdw blurRad="50800" dist="38100" dir="5400000" algn="t" rotWithShape="0">
                <a:prstClr val="black">
                  <a:alpha val="40000"/>
                </a:prstClr>
              </a:outerShdw>
            </a:effectLst>
            <a:scene3d>
              <a:camera prst="orthographicFront"/>
              <a:lightRig rig="twoPt" dir="t"/>
            </a:scene3d>
            <a:sp3d prstMaterial="matte">
              <a:bevelB/>
            </a:sp3d>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sz="2400" b="1" dirty="0">
                  <a:latin typeface="Times New Roman" panose="02020603050405020304" pitchFamily="18" charset="0"/>
                  <a:cs typeface="Times New Roman" panose="02020603050405020304" pitchFamily="18" charset="0"/>
                </a:rPr>
                <a:t>4</a:t>
              </a:r>
              <a:endParaRPr lang="zh-CN" altLang="en-US" sz="2400" b="1" dirty="0">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研究背景与意义</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圆角矩形 3"/>
          <p:cNvSpPr/>
          <p:nvPr/>
        </p:nvSpPr>
        <p:spPr>
          <a:xfrm>
            <a:off x="4084864" y="4235117"/>
            <a:ext cx="8107135" cy="225269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12" name="圆角矩形 3"/>
          <p:cNvSpPr/>
          <p:nvPr/>
        </p:nvSpPr>
        <p:spPr>
          <a:xfrm>
            <a:off x="4084866" y="2622883"/>
            <a:ext cx="8079063" cy="1610332"/>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10" name="圆角矩形 3"/>
          <p:cNvSpPr/>
          <p:nvPr/>
        </p:nvSpPr>
        <p:spPr>
          <a:xfrm>
            <a:off x="4084866" y="867990"/>
            <a:ext cx="8107134" cy="1825333"/>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2" name="内容占位符 1"/>
          <p:cNvSpPr>
            <a:spLocks noGrp="1"/>
          </p:cNvSpPr>
          <p:nvPr>
            <p:ph idx="1"/>
          </p:nvPr>
        </p:nvSpPr>
        <p:spPr>
          <a:xfrm>
            <a:off x="3844229" y="826929"/>
            <a:ext cx="8199382" cy="5658982"/>
          </a:xfrm>
        </p:spPr>
        <p:txBody>
          <a:bodyPr>
            <a:normAutofit fontScale="92500"/>
          </a:bodyPr>
          <a:lstStyle/>
          <a:p>
            <a:pPr marL="342900" indent="-342900">
              <a:lnSpc>
                <a:spcPct val="110000"/>
              </a:lnSpc>
              <a:buFont typeface="Arial" panose="020B0604020202020204" pitchFamily="34" charset="0"/>
              <a:buChar char="•"/>
            </a:pPr>
            <a:r>
              <a:rPr lang="zh-CN" altLang="en-US" sz="1900" b="1" dirty="0">
                <a:solidFill>
                  <a:srgbClr val="1898B8"/>
                </a:solidFill>
                <a:latin typeface="微软雅黑 Light" panose="020B0502040204020203" pitchFamily="34" charset="-122"/>
              </a:rPr>
              <a:t>推荐系统通过分析用户行为与偏好，利用算法精准推送个性化内容。推荐系统有效应用于如下场景</a:t>
            </a:r>
            <a:r>
              <a:rPr lang="zh-CN" altLang="en-US" sz="1800" b="1" dirty="0">
                <a:solidFill>
                  <a:srgbClr val="1898B8"/>
                </a:solidFill>
                <a:latin typeface="微软雅黑 Light" panose="020B0502040204020203" pitchFamily="34" charset="-122"/>
              </a:rPr>
              <a:t>：</a:t>
            </a:r>
            <a:endParaRPr lang="en-US" altLang="zh-CN" sz="1800" b="1" dirty="0">
              <a:solidFill>
                <a:srgbClr val="1898B8"/>
              </a:solidFill>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Light" panose="020B0502040204020203" pitchFamily="34" charset="-122"/>
              </a:rPr>
              <a:t>电子商务：</a:t>
            </a:r>
            <a:r>
              <a:rPr lang="zh-CN" altLang="en-US" sz="1500" dirty="0">
                <a:latin typeface="微软雅黑 Light" panose="020B0502040204020203" pitchFamily="34" charset="-122"/>
              </a:rPr>
              <a:t>亚马逊等平台通过捕捉用户浏览、点击、购买的时序行为</a:t>
            </a:r>
            <a:r>
              <a:rPr lang="en-US" altLang="zh-CN" sz="1500" dirty="0">
                <a:latin typeface="微软雅黑 Light" panose="020B0502040204020203" pitchFamily="34" charset="-122"/>
              </a:rPr>
              <a:t>,</a:t>
            </a:r>
            <a:r>
              <a:rPr lang="zh-CN" altLang="en-US" sz="1500" dirty="0">
                <a:latin typeface="微软雅黑 Light" panose="020B0502040204020203" pitchFamily="34" charset="-122"/>
              </a:rPr>
              <a:t>预测下一购买意图。</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Light" panose="020B0502040204020203" pitchFamily="34" charset="-122"/>
              </a:rPr>
              <a:t>内容与流媒体：</a:t>
            </a:r>
            <a:r>
              <a:rPr lang="zh-CN" altLang="en-US" sz="1500" dirty="0">
                <a:latin typeface="微软雅黑 Light" panose="020B0502040204020203" pitchFamily="34" charset="-122"/>
              </a:rPr>
              <a:t>据统计，头部互联网平台超</a:t>
            </a:r>
            <a:r>
              <a:rPr lang="en-US" altLang="zh-CN" sz="1500" dirty="0"/>
              <a:t>80%</a:t>
            </a:r>
            <a:r>
              <a:rPr lang="zh-CN" altLang="en-US" sz="1500" dirty="0"/>
              <a:t>的内容消费源自推荐引导。</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Light" panose="020B0502040204020203" pitchFamily="34" charset="-122"/>
              </a:rPr>
              <a:t>服务点评</a:t>
            </a:r>
            <a:r>
              <a:rPr lang="zh-CN" altLang="en-US" sz="1500" dirty="0">
                <a:latin typeface="微软雅黑 Light" panose="020B0502040204020203" pitchFamily="34" charset="-122"/>
              </a:rPr>
              <a:t>：如美团等商户推荐场景，捕捉用户兴趣的演变，提供个性化的到店</a:t>
            </a:r>
            <a:r>
              <a:rPr lang="en-US" altLang="zh-CN" sz="1500" dirty="0">
                <a:latin typeface="微软雅黑 Light" panose="020B0502040204020203" pitchFamily="34" charset="-122"/>
              </a:rPr>
              <a:t>/</a:t>
            </a:r>
            <a:r>
              <a:rPr lang="zh-CN" altLang="en-US" sz="1500" dirty="0">
                <a:latin typeface="微软雅黑 Light" panose="020B0502040204020203" pitchFamily="34" charset="-122"/>
              </a:rPr>
              <a:t>消费引导。</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Light" panose="020B0502040204020203" pitchFamily="34" charset="-122"/>
              </a:rPr>
              <a:t>核心意义</a:t>
            </a:r>
            <a:r>
              <a:rPr lang="zh-CN" altLang="en-US" sz="1500" dirty="0">
                <a:latin typeface="微软雅黑 Light" panose="020B0502040204020203" pitchFamily="34" charset="-122"/>
              </a:rPr>
              <a:t>：自动化过滤爆炸式增长的过载信息，提升商业转化与用户体验。</a:t>
            </a:r>
            <a:endParaRPr lang="en-US" altLang="zh-CN" sz="1500" dirty="0">
              <a:latin typeface="微软雅黑 Light" panose="020B0502040204020203" pitchFamily="34" charset="-122"/>
            </a:endParaRPr>
          </a:p>
          <a:p>
            <a:pPr marL="342900" indent="-342900">
              <a:lnSpc>
                <a:spcPct val="110000"/>
              </a:lnSpc>
              <a:buFont typeface="Arial" panose="020B0604020202020204" pitchFamily="34" charset="0"/>
              <a:buChar char="•"/>
            </a:pPr>
            <a:r>
              <a:rPr lang="zh-CN" altLang="en-US" sz="1900" b="1" dirty="0">
                <a:solidFill>
                  <a:srgbClr val="1898B8"/>
                </a:solidFill>
                <a:latin typeface="微软雅黑 Light" panose="020B0502040204020203" pitchFamily="34" charset="-122"/>
              </a:rPr>
              <a:t>研究痛点 </a:t>
            </a:r>
            <a:r>
              <a:rPr lang="zh-CN" altLang="en-US" sz="1900" b="1" dirty="0">
                <a:latin typeface="微软雅黑 Light" panose="020B0502040204020203" pitchFamily="34" charset="-122"/>
              </a:rPr>
              <a:t>：</a:t>
            </a:r>
            <a:endParaRPr lang="en-US" altLang="zh-CN" sz="1900" b="1"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数据稀疏性：</a:t>
            </a:r>
            <a:r>
              <a:rPr lang="zh-CN" altLang="en-US" sz="1500" dirty="0">
                <a:latin typeface="微软雅黑 Light" panose="020B0502040204020203" pitchFamily="34" charset="-122"/>
              </a:rPr>
              <a:t>用户历史交互有限，导致深度学习模型难以学习到充足的物品转移模式。</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噪声交互行为：</a:t>
            </a:r>
            <a:r>
              <a:rPr lang="zh-CN" altLang="en-US" sz="1500" dirty="0">
                <a:latin typeface="微软雅黑 Light" panose="020B0502040204020203" pitchFamily="34" charset="-122"/>
              </a:rPr>
              <a:t>用户错误的转移信号，显著干扰模型学习真实的物品关联模式。</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短序列冷启动：</a:t>
            </a:r>
            <a:r>
              <a:rPr lang="zh-CN" altLang="en-US" sz="1500" dirty="0">
                <a:latin typeface="微软雅黑 Light" panose="020B0502040204020203" pitchFamily="34" charset="-122"/>
              </a:rPr>
              <a:t>推荐数据分布呈“长尾”态势，多数用户仅有极短的交互序列。短序列对随机扰动（如掩码或裁剪）极度敏感，容易导致训练信息丢失，使得模型表现大幅度下降。</a:t>
            </a:r>
            <a:endParaRPr lang="en-US" altLang="zh-CN" sz="1500" dirty="0">
              <a:latin typeface="微软雅黑 Light" panose="020B0502040204020203" pitchFamily="34" charset="-122"/>
            </a:endParaRPr>
          </a:p>
          <a:p>
            <a:pPr>
              <a:lnSpc>
                <a:spcPct val="110000"/>
              </a:lnSpc>
            </a:pPr>
            <a:r>
              <a:rPr lang="en-US" altLang="zh-CN" sz="1900" b="1" dirty="0">
                <a:solidFill>
                  <a:srgbClr val="1898B8"/>
                </a:solidFill>
                <a:latin typeface="微软雅黑 Light" panose="020B0502040204020203" pitchFamily="34" charset="-122"/>
              </a:rPr>
              <a:t>     </a:t>
            </a:r>
            <a:r>
              <a:rPr lang="zh-CN" altLang="en-US" sz="1900" b="1" dirty="0">
                <a:solidFill>
                  <a:srgbClr val="1898B8"/>
                </a:solidFill>
                <a:latin typeface="微软雅黑 Light" panose="020B0502040204020203" pitchFamily="34" charset="-122"/>
              </a:rPr>
              <a:t>研究贡献：</a:t>
            </a:r>
            <a:endParaRPr lang="en-US" altLang="zh-CN" sz="1900" b="1" dirty="0">
              <a:solidFill>
                <a:srgbClr val="1898B8"/>
              </a:solidFill>
              <a:latin typeface="微软雅黑 Light" panose="020B0502040204020203" pitchFamily="34" charset="-122"/>
            </a:endParaRPr>
          </a:p>
          <a:p>
            <a:pPr marL="800100" lvl="1" indent="-342900">
              <a:lnSpc>
                <a:spcPct val="12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相关性信息增强</a:t>
            </a:r>
            <a:r>
              <a:rPr lang="en-US" altLang="zh-CN" sz="1500" b="1" dirty="0">
                <a:latin typeface="微软雅黑" panose="020B0503020204020204" pitchFamily="34" charset="-122"/>
                <a:ea typeface="微软雅黑" panose="020B0503020204020204" pitchFamily="34" charset="-122"/>
              </a:rPr>
              <a:t>: </a:t>
            </a:r>
            <a:r>
              <a:rPr lang="zh-CN" altLang="en-US" sz="1500" dirty="0">
                <a:latin typeface="微软雅黑 Light" panose="020B0502040204020203" pitchFamily="34" charset="-122"/>
              </a:rPr>
              <a:t>提出“替换</a:t>
            </a:r>
            <a:r>
              <a:rPr lang="en-US" altLang="zh-CN" sz="1500" dirty="0">
                <a:latin typeface="微软雅黑 Light" panose="020B0502040204020203" pitchFamily="34" charset="-122"/>
              </a:rPr>
              <a:t>(S)”</a:t>
            </a:r>
            <a:r>
              <a:rPr lang="zh-CN" altLang="en-US" sz="1500" dirty="0">
                <a:latin typeface="微软雅黑 Light" panose="020B0502040204020203" pitchFamily="34" charset="-122"/>
              </a:rPr>
              <a:t>与“插入</a:t>
            </a:r>
            <a:r>
              <a:rPr lang="en-US" altLang="zh-CN" sz="1500" dirty="0">
                <a:latin typeface="微软雅黑 Light" panose="020B0502040204020203" pitchFamily="34" charset="-122"/>
              </a:rPr>
              <a:t>(I)”</a:t>
            </a:r>
            <a:r>
              <a:rPr lang="zh-CN" altLang="en-US" sz="1500" dirty="0">
                <a:latin typeface="微软雅黑 Light" panose="020B0502040204020203" pitchFamily="34" charset="-122"/>
              </a:rPr>
              <a:t>两种基于物品关联的信息增强方法，而非随机噪声。保留真实的物品转移关联，扩充交互记录，缓解冷启动。</a:t>
            </a:r>
            <a:endParaRPr lang="en-US" altLang="zh-CN" sz="1500" dirty="0">
              <a:latin typeface="微软雅黑 Light" panose="020B0502040204020203" pitchFamily="34" charset="-122"/>
            </a:endParaRPr>
          </a:p>
          <a:p>
            <a:pPr marL="800100" lvl="1" indent="-342900">
              <a:lnSpc>
                <a:spcPct val="12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自适应增强策略</a:t>
            </a:r>
            <a:r>
              <a:rPr lang="en-US" altLang="zh-CN" sz="1500" b="1" dirty="0">
                <a:latin typeface="微软雅黑" panose="020B0503020204020204" pitchFamily="34" charset="-122"/>
                <a:ea typeface="微软雅黑" panose="020B0503020204020204" pitchFamily="34" charset="-122"/>
              </a:rPr>
              <a:t>: </a:t>
            </a:r>
            <a:r>
              <a:rPr lang="zh-CN" altLang="en-US" sz="1500" dirty="0">
                <a:latin typeface="微软雅黑 Light" panose="020B0502040204020203" pitchFamily="34" charset="-122"/>
              </a:rPr>
              <a:t>针对不同长度序列采用分异操作集：短序列采用轻量掩码与信息增强，长序列利用多样化扰动。解决序列长度偏斜导致的增强质量不均。</a:t>
            </a:r>
            <a:endParaRPr lang="en-US" altLang="zh-CN" sz="1500" dirty="0">
              <a:latin typeface="微软雅黑 Light" panose="020B0502040204020203" pitchFamily="34" charset="-122"/>
            </a:endParaRPr>
          </a:p>
          <a:p>
            <a:pPr marL="800100" lvl="1" indent="-342900">
              <a:lnSpc>
                <a:spcPct val="120000"/>
              </a:lnSpc>
              <a:buFont typeface="Arial" panose="020B0604020202020204" pitchFamily="34" charset="0"/>
              <a:buChar char="•"/>
            </a:pPr>
            <a:r>
              <a:rPr lang="zh-CN" altLang="en-US" sz="1500" b="1" dirty="0">
                <a:latin typeface="微软雅黑" panose="020B0503020204020204" pitchFamily="34" charset="-122"/>
                <a:ea typeface="微软雅黑" panose="020B0503020204020204" pitchFamily="34" charset="-122"/>
              </a:rPr>
              <a:t>多任务联合训练</a:t>
            </a:r>
            <a:r>
              <a:rPr lang="zh-CN" altLang="en-US" sz="1500" b="1" dirty="0">
                <a:latin typeface="微软雅黑 Light" panose="020B0502040204020203" pitchFamily="34" charset="-122"/>
              </a:rPr>
              <a:t>：</a:t>
            </a:r>
            <a:r>
              <a:rPr lang="zh-CN" altLang="en-US" sz="1500" dirty="0">
                <a:latin typeface="微软雅黑 Light" panose="020B0502040204020203" pitchFamily="34" charset="-122"/>
              </a:rPr>
              <a:t>同步优化“预测目标”与“对比目标”。在构建物品转移关系时相互推动，避免两阶段训练中自监督信息的丢失，提升编码器表示能力。</a:t>
            </a:r>
            <a:endParaRPr lang="en-US" altLang="zh-CN" sz="1500" dirty="0">
              <a:latin typeface="微软雅黑 Light" panose="020B0502040204020203" pitchFamily="34" charset="-122"/>
            </a:endParaRPr>
          </a:p>
          <a:p>
            <a:pPr marL="800100" lvl="1" indent="-342900">
              <a:lnSpc>
                <a:spcPct val="110000"/>
              </a:lnSpc>
              <a:buFont typeface="Arial" panose="020B0604020202020204" pitchFamily="34" charset="0"/>
              <a:buChar char="•"/>
            </a:pPr>
            <a:endParaRPr lang="en-US" altLang="zh-CN" sz="1800" dirty="0">
              <a:latin typeface="微软雅黑 Light" panose="020B0502040204020203" pitchFamily="34" charset="-122"/>
            </a:endParaRPr>
          </a:p>
          <a:p>
            <a:pPr marL="800100" lvl="1" indent="-342900">
              <a:buFont typeface="Arial" panose="020B0604020202020204" pitchFamily="34" charset="0"/>
              <a:buChar char="•"/>
            </a:pPr>
            <a:endParaRPr lang="en-US" altLang="zh-CN" sz="1600" dirty="0">
              <a:latin typeface="微软雅黑 Light" panose="020B0502040204020203" pitchFamily="34" charset="-122"/>
            </a:endParaRPr>
          </a:p>
          <a:p>
            <a:pPr marL="800100" lvl="1" indent="-342900">
              <a:buFont typeface="Arial" panose="020B0604020202020204" pitchFamily="34" charset="0"/>
              <a:buChar char="•"/>
            </a:pPr>
            <a:endParaRPr lang="en-US" altLang="zh-CN" sz="1600" dirty="0">
              <a:latin typeface="微软雅黑 Light" panose="020B0502040204020203" pitchFamily="34" charset="-122"/>
            </a:endParaRPr>
          </a:p>
        </p:txBody>
      </p:sp>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研究背景</a:t>
            </a:r>
          </a:p>
        </p:txBody>
      </p:sp>
      <p:sp>
        <p:nvSpPr>
          <p:cNvPr id="4" name="文本框 3"/>
          <p:cNvSpPr txBox="1"/>
          <p:nvPr/>
        </p:nvSpPr>
        <p:spPr>
          <a:xfrm>
            <a:off x="11458623" y="6488668"/>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sp>
        <p:nvSpPr>
          <p:cNvPr id="6" name="文本框 5"/>
          <p:cNvSpPr txBox="1"/>
          <p:nvPr/>
        </p:nvSpPr>
        <p:spPr>
          <a:xfrm>
            <a:off x="868109" y="3419448"/>
            <a:ext cx="2484783" cy="307777"/>
          </a:xfrm>
          <a:prstGeom prst="rect">
            <a:avLst/>
          </a:prstGeom>
          <a:noFill/>
        </p:spPr>
        <p:txBody>
          <a:bodyPr wrap="square" rtlCol="0">
            <a:spAutoFit/>
          </a:bodyPr>
          <a:lstStyle/>
          <a:p>
            <a:pPr algn="ctr"/>
            <a:r>
              <a:rPr lang="zh-CN" altLang="en-US" sz="1400" dirty="0">
                <a:latin typeface="微软雅黑 Light" panose="020B0502040204020203" pitchFamily="34" charset="-122"/>
                <a:ea typeface="微软雅黑 Light" panose="020B0502040204020203" pitchFamily="34" charset="-122"/>
              </a:rPr>
              <a:t>购物平台的商品推荐</a:t>
            </a:r>
          </a:p>
        </p:txBody>
      </p:sp>
      <p:sp>
        <p:nvSpPr>
          <p:cNvPr id="8" name="文本框 7"/>
          <p:cNvSpPr txBox="1"/>
          <p:nvPr/>
        </p:nvSpPr>
        <p:spPr>
          <a:xfrm>
            <a:off x="868108" y="5981379"/>
            <a:ext cx="2484783" cy="307777"/>
          </a:xfrm>
          <a:prstGeom prst="rect">
            <a:avLst/>
          </a:prstGeom>
          <a:noFill/>
        </p:spPr>
        <p:txBody>
          <a:bodyPr wrap="square" rtlCol="0">
            <a:spAutoFit/>
          </a:bodyPr>
          <a:lstStyle/>
          <a:p>
            <a:pPr algn="ctr"/>
            <a:r>
              <a:rPr lang="zh-CN" altLang="en-US" sz="1400" dirty="0">
                <a:latin typeface="微软雅黑 Light" panose="020B0502040204020203" pitchFamily="34" charset="-122"/>
                <a:ea typeface="微软雅黑 Light" panose="020B0502040204020203" pitchFamily="34" charset="-122"/>
              </a:rPr>
              <a:t>稀疏的用户交互序列</a:t>
            </a:r>
          </a:p>
        </p:txBody>
      </p:sp>
      <p:pic>
        <p:nvPicPr>
          <p:cNvPr id="11" name="图片 10">
            <a:extLst>
              <a:ext uri="{FF2B5EF4-FFF2-40B4-BE49-F238E27FC236}">
                <a16:creationId xmlns:a16="http://schemas.microsoft.com/office/drawing/2014/main" id="{09B8909F-8B2C-AD86-2357-2F310ED7801F}"/>
              </a:ext>
            </a:extLst>
          </p:cNvPr>
          <p:cNvPicPr>
            <a:picLocks noChangeAspect="1"/>
          </p:cNvPicPr>
          <p:nvPr/>
        </p:nvPicPr>
        <p:blipFill>
          <a:blip r:embed="rId2"/>
          <a:stretch>
            <a:fillRect/>
          </a:stretch>
        </p:blipFill>
        <p:spPr>
          <a:xfrm>
            <a:off x="41951" y="863324"/>
            <a:ext cx="3953560" cy="2482984"/>
          </a:xfrm>
          <a:prstGeom prst="rect">
            <a:avLst/>
          </a:prstGeom>
        </p:spPr>
      </p:pic>
      <p:pic>
        <p:nvPicPr>
          <p:cNvPr id="15" name="图片 14">
            <a:extLst>
              <a:ext uri="{FF2B5EF4-FFF2-40B4-BE49-F238E27FC236}">
                <a16:creationId xmlns:a16="http://schemas.microsoft.com/office/drawing/2014/main" id="{BEBEA687-6378-84E3-CDE9-11CE05CD00D2}"/>
              </a:ext>
            </a:extLst>
          </p:cNvPr>
          <p:cNvPicPr>
            <a:picLocks noChangeAspect="1"/>
          </p:cNvPicPr>
          <p:nvPr/>
        </p:nvPicPr>
        <p:blipFill>
          <a:blip r:embed="rId3"/>
          <a:stretch>
            <a:fillRect/>
          </a:stretch>
        </p:blipFill>
        <p:spPr>
          <a:xfrm>
            <a:off x="106418" y="3991238"/>
            <a:ext cx="3858128" cy="17933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anim calcmode="lin" valueType="num">
                                      <p:cBhvr additive="base">
                                        <p:cTn id="1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 calcmode="lin" valueType="num">
                                      <p:cBhvr additive="base">
                                        <p:cTn id="2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
                                            <p:txEl>
                                              <p:pRg st="2" end="2"/>
                                            </p:txEl>
                                          </p:spTgt>
                                        </p:tgtEl>
                                        <p:attrNameLst>
                                          <p:attrName>style.visibility</p:attrName>
                                        </p:attrNameLst>
                                      </p:cBhvr>
                                      <p:to>
                                        <p:strVal val="visible"/>
                                      </p:to>
                                    </p:set>
                                    <p:anim calcmode="lin" valueType="num">
                                      <p:cBhvr additive="base">
                                        <p:cTn id="2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3" end="3"/>
                                            </p:txEl>
                                          </p:spTgt>
                                        </p:tgtEl>
                                        <p:attrNameLst>
                                          <p:attrName>style.visibility</p:attrName>
                                        </p:attrNameLst>
                                      </p:cBhvr>
                                      <p:to>
                                        <p:strVal val="visible"/>
                                      </p:to>
                                    </p:set>
                                    <p:anim calcmode="lin" valueType="num">
                                      <p:cBhvr additive="base">
                                        <p:cTn id="2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 calcmode="lin" valueType="num">
                                      <p:cBhvr additive="base">
                                        <p:cTn id="3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50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8"/>
                                        </p:tgtEl>
                                        <p:attrNameLst>
                                          <p:attrName>style.visibility</p:attrName>
                                        </p:attrNameLst>
                                      </p:cBhvr>
                                      <p:to>
                                        <p:strVal val="visible"/>
                                      </p:to>
                                    </p:set>
                                    <p:animEffect transition="in" filter="fade">
                                      <p:cBhvr>
                                        <p:cTn id="44" dur="500"/>
                                        <p:tgtEl>
                                          <p:spTgt spid="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 calcmode="lin" valueType="num">
                                      <p:cBhvr additive="base">
                                        <p:cTn id="4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
                                            <p:txEl>
                                              <p:pRg st="6" end="6"/>
                                            </p:txEl>
                                          </p:spTgt>
                                        </p:tgtEl>
                                        <p:attrNameLst>
                                          <p:attrName>style.visibility</p:attrName>
                                        </p:attrNameLst>
                                      </p:cBhvr>
                                      <p:to>
                                        <p:strVal val="visible"/>
                                      </p:to>
                                    </p:set>
                                    <p:anim calcmode="lin" valueType="num">
                                      <p:cBhvr additive="base">
                                        <p:cTn id="5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2">
                                            <p:txEl>
                                              <p:pRg st="7" end="7"/>
                                            </p:txEl>
                                          </p:spTgt>
                                        </p:tgtEl>
                                        <p:attrNameLst>
                                          <p:attrName>style.visibility</p:attrName>
                                        </p:attrNameLst>
                                      </p:cBhvr>
                                      <p:to>
                                        <p:strVal val="visible"/>
                                      </p:to>
                                    </p:set>
                                    <p:anim calcmode="lin" valueType="num">
                                      <p:cBhvr additive="base">
                                        <p:cTn id="5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2">
                                            <p:txEl>
                                              <p:pRg st="7" end="7"/>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
                                            <p:txEl>
                                              <p:pRg st="8" end="8"/>
                                            </p:txEl>
                                          </p:spTgt>
                                        </p:tgtEl>
                                        <p:attrNameLst>
                                          <p:attrName>style.visibility</p:attrName>
                                        </p:attrNameLst>
                                      </p:cBhvr>
                                      <p:to>
                                        <p:strVal val="visible"/>
                                      </p:to>
                                    </p:set>
                                    <p:anim calcmode="lin" valueType="num">
                                      <p:cBhvr additive="base">
                                        <p:cTn id="6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2">
                                            <p:txEl>
                                              <p:pRg st="9" end="9"/>
                                            </p:txEl>
                                          </p:spTgt>
                                        </p:tgtEl>
                                        <p:attrNameLst>
                                          <p:attrName>style.visibility</p:attrName>
                                        </p:attrNameLst>
                                      </p:cBhvr>
                                      <p:to>
                                        <p:strVal val="visible"/>
                                      </p:to>
                                    </p:set>
                                    <p:anim calcmode="lin" valueType="num">
                                      <p:cBhvr additive="base">
                                        <p:cTn id="67"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2">
                                            <p:txEl>
                                              <p:pRg st="9" end="9"/>
                                            </p:txEl>
                                          </p:spTgt>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2">
                                            <p:txEl>
                                              <p:pRg st="10" end="10"/>
                                            </p:txEl>
                                          </p:spTgt>
                                        </p:tgtEl>
                                        <p:attrNameLst>
                                          <p:attrName>style.visibility</p:attrName>
                                        </p:attrNameLst>
                                      </p:cBhvr>
                                      <p:to>
                                        <p:strVal val="visible"/>
                                      </p:to>
                                    </p:set>
                                    <p:anim calcmode="lin" valueType="num">
                                      <p:cBhvr additive="base">
                                        <p:cTn id="71" dur="500" fill="hold"/>
                                        <p:tgtEl>
                                          <p:spTgt spid="2">
                                            <p:txEl>
                                              <p:pRg st="10" end="1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2">
                                            <p:txEl>
                                              <p:pRg st="10" end="10"/>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2">
                                            <p:txEl>
                                              <p:pRg st="11" end="11"/>
                                            </p:txEl>
                                          </p:spTgt>
                                        </p:tgtEl>
                                        <p:attrNameLst>
                                          <p:attrName>style.visibility</p:attrName>
                                        </p:attrNameLst>
                                      </p:cBhvr>
                                      <p:to>
                                        <p:strVal val="visible"/>
                                      </p:to>
                                    </p:set>
                                    <p:anim calcmode="lin" valueType="num">
                                      <p:cBhvr additive="base">
                                        <p:cTn id="75" dur="500" fill="hold"/>
                                        <p:tgtEl>
                                          <p:spTgt spid="2">
                                            <p:txEl>
                                              <p:pRg st="11" end="11"/>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2">
                                            <p:txEl>
                                              <p:pRg st="11" end="11"/>
                                            </p:txEl>
                                          </p:spTgt>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2">
                                            <p:txEl>
                                              <p:pRg st="12" end="12"/>
                                            </p:txEl>
                                          </p:spTgt>
                                        </p:tgtEl>
                                        <p:attrNameLst>
                                          <p:attrName>style.visibility</p:attrName>
                                        </p:attrNameLst>
                                      </p:cBhvr>
                                      <p:to>
                                        <p:strVal val="visible"/>
                                      </p:to>
                                    </p:set>
                                    <p:anim calcmode="lin" valueType="num">
                                      <p:cBhvr additive="base">
                                        <p:cTn id="79" dur="500" fill="hold"/>
                                        <p:tgtEl>
                                          <p:spTgt spid="2">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2">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509601" y="239584"/>
            <a:ext cx="10036030" cy="408587"/>
          </a:xfrm>
        </p:spPr>
        <p:txBody>
          <a:bodyPr>
            <a:normAutofit fontScale="90000"/>
          </a:bodyPr>
          <a:lstStyle/>
          <a:p>
            <a:r>
              <a:rPr lang="zh-CN" altLang="en-US" dirty="0">
                <a:latin typeface="微软雅黑" panose="020B0503020204020204" pitchFamily="34" charset="-122"/>
                <a:ea typeface="微软雅黑" panose="020B0503020204020204" pitchFamily="34" charset="-122"/>
              </a:rPr>
              <a:t>国内外研究现状</a:t>
            </a:r>
          </a:p>
        </p:txBody>
      </p:sp>
      <p:sp>
        <p:nvSpPr>
          <p:cNvPr id="5" name="文本框 4"/>
          <p:cNvSpPr txBox="1"/>
          <p:nvPr/>
        </p:nvSpPr>
        <p:spPr>
          <a:xfrm>
            <a:off x="11492187" y="6488668"/>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sp>
        <p:nvSpPr>
          <p:cNvPr id="8" name="矩形: 圆角 7"/>
          <p:cNvSpPr/>
          <p:nvPr/>
        </p:nvSpPr>
        <p:spPr>
          <a:xfrm>
            <a:off x="237887" y="993753"/>
            <a:ext cx="4544702" cy="481317"/>
          </a:xfrm>
          <a:prstGeom prst="round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latin typeface="微软雅黑" panose="020B0503020204020204" pitchFamily="34" charset="-122"/>
                <a:ea typeface="微软雅黑" panose="020B0503020204020204" pitchFamily="34" charset="-122"/>
              </a:rPr>
              <a:t>研究发展历程：从统计监督到自监督学习</a:t>
            </a:r>
          </a:p>
        </p:txBody>
      </p:sp>
      <p:sp>
        <p:nvSpPr>
          <p:cNvPr id="22" name="矩形 21"/>
          <p:cNvSpPr/>
          <p:nvPr/>
        </p:nvSpPr>
        <p:spPr>
          <a:xfrm>
            <a:off x="8510941" y="1502653"/>
            <a:ext cx="2923790" cy="4518213"/>
          </a:xfrm>
          <a:prstGeom prst="rect">
            <a:avLst/>
          </a:prstGeom>
          <a:solidFill>
            <a:srgbClr val="FFFFFF">
              <a:lumMod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Light" panose="020B0502040204020203" pitchFamily="34" charset="-122"/>
              <a:ea typeface="微软雅黑 Light" panose="020B0502040204020203" pitchFamily="34" charset="-122"/>
              <a:cs typeface="+mn-cs"/>
            </a:endParaRPr>
          </a:p>
        </p:txBody>
      </p:sp>
      <p:sp>
        <p:nvSpPr>
          <p:cNvPr id="23" name="矩形: 圆角 22"/>
          <p:cNvSpPr/>
          <p:nvPr/>
        </p:nvSpPr>
        <p:spPr>
          <a:xfrm>
            <a:off x="8510941" y="1002553"/>
            <a:ext cx="1282367" cy="426720"/>
          </a:xfrm>
          <a:prstGeom prst="roundRect">
            <a:avLst>
              <a:gd name="adj" fmla="val 14844"/>
            </a:avLst>
          </a:prstGeom>
          <a:solidFill>
            <a:srgbClr val="1898B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lang="zh-CN" altLang="en-US" sz="2000" b="1" kern="0" dirty="0">
                <a:solidFill>
                  <a:srgbClr val="FFFFFF"/>
                </a:solidFill>
                <a:latin typeface="微软雅黑" panose="020B0503020204020204" pitchFamily="34" charset="-122"/>
                <a:ea typeface="微软雅黑" panose="020B0503020204020204" pitchFamily="34" charset="-122"/>
              </a:rPr>
              <a:t>技术优势</a:t>
            </a:r>
            <a:endParaRPr kumimoji="0" lang="zh-CN" altLang="en-US" sz="2000" b="1"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24" name="文本框 23"/>
          <p:cNvSpPr txBox="1"/>
          <p:nvPr/>
        </p:nvSpPr>
        <p:spPr>
          <a:xfrm>
            <a:off x="8510942" y="1492516"/>
            <a:ext cx="2923790" cy="2314713"/>
          </a:xfrm>
          <a:prstGeom prst="rect">
            <a:avLst/>
          </a:prstGeom>
          <a:noFill/>
        </p:spPr>
        <p:txBody>
          <a:bodyPr wrap="square" rtlCol="0">
            <a:spAutoFit/>
          </a:bodyPr>
          <a:lstStyle/>
          <a:p>
            <a:pPr marL="285750" indent="-285750" algn="just" defTabSz="914400">
              <a:lnSpc>
                <a:spcPct val="130000"/>
              </a:lnSpc>
              <a:buClr>
                <a:srgbClr val="1898B8"/>
              </a:buClr>
              <a:buFont typeface="Wingdings" panose="05000000000000000000" pitchFamily="2" charset="2"/>
              <a:buChar char="p"/>
            </a:pPr>
            <a:r>
              <a:rPr lang="zh-CN" altLang="en-US" sz="1400" b="1" dirty="0">
                <a:solidFill>
                  <a:srgbClr val="000000"/>
                </a:solidFill>
                <a:latin typeface="微软雅黑 Light" panose="020B0502040204020203" pitchFamily="34" charset="-122"/>
                <a:ea typeface="微软雅黑 Light" panose="020B0502040204020203" pitchFamily="34" charset="-122"/>
              </a:rPr>
              <a:t>信息增强鲁棒性：</a:t>
            </a:r>
            <a:r>
              <a:rPr lang="zh-CN" altLang="en-US" sz="1400" dirty="0"/>
              <a:t>相比</a:t>
            </a:r>
            <a:r>
              <a:rPr lang="en-US" altLang="zh-CN" sz="1400" dirty="0"/>
              <a:t>CL4SRec</a:t>
            </a:r>
            <a:r>
              <a:rPr lang="zh-CN" altLang="en-US" sz="1400" dirty="0"/>
              <a:t>等基于随机扰动的增强，</a:t>
            </a:r>
            <a:r>
              <a:rPr lang="en-US" altLang="zh-CN" sz="1400" dirty="0" err="1"/>
              <a:t>InfoSSLRec</a:t>
            </a:r>
            <a:r>
              <a:rPr lang="zh-CN" altLang="en-US" sz="1400" dirty="0"/>
              <a:t>采用</a:t>
            </a:r>
            <a:r>
              <a:rPr lang="zh-CN" altLang="en-US" sz="1400" b="1" dirty="0"/>
              <a:t>混合相关性（</a:t>
            </a:r>
            <a:r>
              <a:rPr lang="en-US" altLang="zh-CN" sz="1400" b="1" dirty="0" err="1"/>
              <a:t>ItemCF</a:t>
            </a:r>
            <a:r>
              <a:rPr lang="en-US" altLang="zh-CN" sz="1400" b="1" dirty="0"/>
              <a:t> + </a:t>
            </a:r>
            <a:r>
              <a:rPr lang="zh-CN" altLang="en-US" sz="1400" b="1" dirty="0"/>
              <a:t>嵌入相似度）</a:t>
            </a:r>
            <a:r>
              <a:rPr lang="zh-CN" altLang="en-US" sz="1400" dirty="0"/>
              <a:t>计算。替换操作通过相似物丰富语义，插入操作通过关联项补全序列，生成更高置信度的正样本对，增强模型抗干扰能力。</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sp>
        <p:nvSpPr>
          <p:cNvPr id="28" name="文本框 27"/>
          <p:cNvSpPr txBox="1"/>
          <p:nvPr/>
        </p:nvSpPr>
        <p:spPr>
          <a:xfrm>
            <a:off x="8476755" y="3870472"/>
            <a:ext cx="2992161" cy="2029658"/>
          </a:xfrm>
          <a:prstGeom prst="rect">
            <a:avLst/>
          </a:prstGeom>
          <a:noFill/>
        </p:spPr>
        <p:txBody>
          <a:bodyPr wrap="square" rtlCol="0">
            <a:spAutoFit/>
          </a:bodyPr>
          <a:lstStyle/>
          <a:p>
            <a:pPr marL="285750" indent="-285750" algn="just" defTabSz="914400">
              <a:lnSpc>
                <a:spcPct val="130000"/>
              </a:lnSpc>
              <a:buClr>
                <a:srgbClr val="1898B8"/>
              </a:buClr>
              <a:buFont typeface="Wingdings" panose="05000000000000000000" pitchFamily="2" charset="2"/>
              <a:buChar char="p"/>
            </a:pPr>
            <a:r>
              <a:rPr lang="zh-CN" altLang="en-US" sz="1400" b="1" dirty="0">
                <a:solidFill>
                  <a:srgbClr val="000000"/>
                </a:solidFill>
                <a:latin typeface="微软雅黑 Light" panose="020B0502040204020203" pitchFamily="34" charset="-122"/>
                <a:ea typeface="微软雅黑 Light" panose="020B0502040204020203" pitchFamily="34" charset="-122"/>
              </a:rPr>
              <a:t>自适应与联合训练：</a:t>
            </a:r>
            <a:r>
              <a:rPr lang="zh-CN" altLang="en-US" sz="1400" b="1" dirty="0"/>
              <a:t>长度感知自适应增强</a:t>
            </a:r>
            <a:r>
              <a:rPr lang="zh-CN" altLang="en-US" sz="1400" dirty="0"/>
              <a:t>依序列长短施策：短序列信息补全防冷启动，长序列强化扰动促泛化。</a:t>
            </a:r>
            <a:r>
              <a:rPr lang="zh-CN" altLang="en-US" sz="1400" b="1" dirty="0"/>
              <a:t>多任务联合训练</a:t>
            </a:r>
            <a:r>
              <a:rPr lang="zh-CN" altLang="en-US" sz="1400" dirty="0"/>
              <a:t>端到端融合推荐与对比学习，双目标互推，防信号遗忘并提升鲁棒性。</a:t>
            </a:r>
            <a:endParaRPr lang="en-US" altLang="zh-CN" sz="1400" b="1" dirty="0">
              <a:solidFill>
                <a:srgbClr val="000000"/>
              </a:solidFill>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B3D11B05-A67F-E791-CE64-8F251807CA83}"/>
              </a:ext>
            </a:extLst>
          </p:cNvPr>
          <p:cNvPicPr>
            <a:picLocks noChangeAspect="1"/>
          </p:cNvPicPr>
          <p:nvPr/>
        </p:nvPicPr>
        <p:blipFill>
          <a:blip r:embed="rId2"/>
          <a:stretch>
            <a:fillRect/>
          </a:stretch>
        </p:blipFill>
        <p:spPr>
          <a:xfrm>
            <a:off x="237887" y="1553477"/>
            <a:ext cx="8000760" cy="1361520"/>
          </a:xfrm>
          <a:prstGeom prst="rect">
            <a:avLst/>
          </a:prstGeom>
        </p:spPr>
      </p:pic>
      <p:pic>
        <p:nvPicPr>
          <p:cNvPr id="6" name="图片 5">
            <a:extLst>
              <a:ext uri="{FF2B5EF4-FFF2-40B4-BE49-F238E27FC236}">
                <a16:creationId xmlns:a16="http://schemas.microsoft.com/office/drawing/2014/main" id="{496BDF64-CEA7-2B2D-FE00-742B9D6C5583}"/>
              </a:ext>
            </a:extLst>
          </p:cNvPr>
          <p:cNvPicPr>
            <a:picLocks noChangeAspect="1"/>
          </p:cNvPicPr>
          <p:nvPr/>
        </p:nvPicPr>
        <p:blipFill>
          <a:blip r:embed="rId3"/>
          <a:stretch>
            <a:fillRect/>
          </a:stretch>
        </p:blipFill>
        <p:spPr>
          <a:xfrm>
            <a:off x="4624356" y="3001340"/>
            <a:ext cx="3394655" cy="3476148"/>
          </a:xfrm>
          <a:prstGeom prst="rect">
            <a:avLst/>
          </a:prstGeom>
        </p:spPr>
      </p:pic>
      <p:sp>
        <p:nvSpPr>
          <p:cNvPr id="16" name="矩形: 圆角 15">
            <a:extLst>
              <a:ext uri="{FF2B5EF4-FFF2-40B4-BE49-F238E27FC236}">
                <a16:creationId xmlns:a16="http://schemas.microsoft.com/office/drawing/2014/main" id="{74B74FA1-047C-0FCC-3B40-87D96649C282}"/>
              </a:ext>
            </a:extLst>
          </p:cNvPr>
          <p:cNvSpPr/>
          <p:nvPr/>
        </p:nvSpPr>
        <p:spPr>
          <a:xfrm>
            <a:off x="315473" y="3001340"/>
            <a:ext cx="3718971" cy="419382"/>
          </a:xfrm>
          <a:prstGeom prst="roundRect">
            <a:avLst/>
          </a:prstGeom>
          <a:solidFill>
            <a:srgbClr val="0D97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微软雅黑" panose="020B0503020204020204" pitchFamily="34" charset="-122"/>
                <a:ea typeface="微软雅黑" panose="020B0503020204020204" pitchFamily="34" charset="-122"/>
              </a:rPr>
              <a:t>Transformer</a:t>
            </a:r>
            <a:r>
              <a:rPr lang="zh-CN" altLang="en-US" b="1" dirty="0">
                <a:latin typeface="微软雅黑" panose="020B0503020204020204" pitchFamily="34" charset="-122"/>
                <a:ea typeface="微软雅黑" panose="020B0503020204020204" pitchFamily="34" charset="-122"/>
              </a:rPr>
              <a:t>与自监督学习前沿</a:t>
            </a:r>
          </a:p>
        </p:txBody>
      </p:sp>
      <p:sp>
        <p:nvSpPr>
          <p:cNvPr id="25" name="文本框 24">
            <a:extLst>
              <a:ext uri="{FF2B5EF4-FFF2-40B4-BE49-F238E27FC236}">
                <a16:creationId xmlns:a16="http://schemas.microsoft.com/office/drawing/2014/main" id="{927D53C7-4C70-0D68-E793-4A2027D5EBFA}"/>
              </a:ext>
            </a:extLst>
          </p:cNvPr>
          <p:cNvSpPr txBox="1"/>
          <p:nvPr/>
        </p:nvSpPr>
        <p:spPr>
          <a:xfrm>
            <a:off x="349366" y="3602183"/>
            <a:ext cx="4100714" cy="281461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主流技术路径分析</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600" b="1" dirty="0"/>
              <a:t>Transformer</a:t>
            </a:r>
            <a:r>
              <a:rPr lang="zh-CN" altLang="en-US" sz="1600" b="1" dirty="0"/>
              <a:t>编码：</a:t>
            </a:r>
            <a:r>
              <a:rPr lang="zh-CN" altLang="en-US" sz="1600" dirty="0"/>
              <a:t> 成为工业界与学术界的标配，通过</a:t>
            </a:r>
            <a:r>
              <a:rPr lang="en-US" altLang="zh-CN" sz="1600" dirty="0"/>
              <a:t>Multi-head Self-attention</a:t>
            </a:r>
            <a:r>
              <a:rPr lang="zh-CN" altLang="en-US" sz="1600" dirty="0"/>
              <a:t>捕捉长程物品依赖。 </a:t>
            </a:r>
            <a:endParaRPr lang="en-US" altLang="zh-CN" sz="1600" dirty="0"/>
          </a:p>
          <a:p>
            <a:pPr marL="285750" indent="-285750">
              <a:buFont typeface="Arial" panose="020B0604020202020204" pitchFamily="34" charset="0"/>
              <a:buChar char="•"/>
            </a:pPr>
            <a:r>
              <a:rPr lang="zh-CN" altLang="en-US" sz="1600" b="1" dirty="0"/>
              <a:t>对比自监督学习：</a:t>
            </a:r>
            <a:r>
              <a:rPr lang="zh-CN" altLang="en-US" sz="1600" dirty="0"/>
              <a:t> 通过最大化两个增强视图（正样本对）之间的一致性，在无标注数据下实现高质量表征学习。 </a:t>
            </a:r>
            <a:endParaRPr lang="en-US" altLang="zh-CN" sz="1600" dirty="0"/>
          </a:p>
          <a:p>
            <a:pPr marL="285750" indent="-285750">
              <a:buFont typeface="Arial" panose="020B0604020202020204" pitchFamily="34" charset="0"/>
              <a:buChar char="•"/>
            </a:pPr>
            <a:r>
              <a:rPr lang="zh-CN" altLang="en-US" sz="1600" b="1" dirty="0"/>
              <a:t>待解决问题：</a:t>
            </a:r>
            <a:r>
              <a:rPr lang="zh-CN" altLang="en-US" sz="1600" dirty="0"/>
              <a:t> 现有方法多基于随机扰动（裁剪、重排序），未利用物品语义关联，且忽略了长度不均衡带来的敏感度差异。</a:t>
            </a:r>
            <a:endParaRPr lang="zh-CN" altLang="en-US" sz="1600" dirty="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4"/>
                                        </p:tgtEl>
                                        <p:attrNameLst>
                                          <p:attrName>style.visibility</p:attrName>
                                        </p:attrNameLst>
                                      </p:cBhvr>
                                      <p:to>
                                        <p:strVal val="visible"/>
                                      </p:to>
                                    </p:set>
                                    <p:animEffect transition="in" filter="fade">
                                      <p:cBhvr>
                                        <p:cTn id="39" dur="500"/>
                                        <p:tgtEl>
                                          <p:spTgt spid="2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3" grpId="0" animBg="1"/>
      <p:bldP spid="24" grpId="0"/>
      <p:bldP spid="28" grpId="0"/>
      <p:bldP spid="16" grpId="0" animBg="1"/>
      <p:bldP spid="2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数据介绍及预处理</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数据介绍</a:t>
            </a:r>
          </a:p>
        </p:txBody>
      </p:sp>
      <p:sp>
        <p:nvSpPr>
          <p:cNvPr id="5" name="文本框 4"/>
          <p:cNvSpPr txBox="1"/>
          <p:nvPr/>
        </p:nvSpPr>
        <p:spPr>
          <a:xfrm>
            <a:off x="11492187" y="6409396"/>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sp>
        <p:nvSpPr>
          <p:cNvPr id="6" name="内容占位符 5"/>
          <p:cNvSpPr>
            <a:spLocks noGrp="1"/>
          </p:cNvSpPr>
          <p:nvPr>
            <p:ph idx="1"/>
          </p:nvPr>
        </p:nvSpPr>
        <p:spPr>
          <a:xfrm>
            <a:off x="244434" y="2223402"/>
            <a:ext cx="11703132" cy="4473932"/>
          </a:xfrm>
        </p:spPr>
        <p:txBody>
          <a:bodyPr>
            <a:normAutofit/>
          </a:bodyPr>
          <a:lstStyle/>
          <a:p>
            <a:pPr marL="285750" indent="-285750">
              <a:buFont typeface="Arial" panose="020B0604020202020204" pitchFamily="34" charset="0"/>
              <a:buChar char="•"/>
            </a:pPr>
            <a:r>
              <a:rPr lang="en-US" altLang="zh-CN" sz="1800" b="1" dirty="0"/>
              <a:t>Amazon Beauty &amp; Amazon Sports</a:t>
            </a:r>
            <a:r>
              <a:rPr lang="zh-CN" altLang="en-US" sz="1800" b="1" dirty="0"/>
              <a:t>数据集：</a:t>
            </a:r>
            <a:endParaRPr lang="en-US" altLang="zh-CN" sz="1800" b="1" dirty="0"/>
          </a:p>
          <a:p>
            <a:r>
              <a:rPr lang="en-US" altLang="zh-CN" sz="1800" dirty="0"/>
              <a:t>     </a:t>
            </a:r>
            <a:r>
              <a:rPr lang="zh-CN" altLang="en-US" sz="1600" dirty="0"/>
              <a:t>来源于全球最大的电商平台亚马逊的真实用户购买和评论记录。</a:t>
            </a:r>
            <a:r>
              <a:rPr lang="en-US" altLang="zh-CN" sz="1600" dirty="0"/>
              <a:t>Beauty </a:t>
            </a:r>
            <a:r>
              <a:rPr lang="zh-CN" altLang="en-US" sz="1600" dirty="0"/>
              <a:t>侧重美妆个护产品，</a:t>
            </a:r>
            <a:r>
              <a:rPr lang="en-US" altLang="zh-CN" sz="1600" dirty="0"/>
              <a:t>Sports </a:t>
            </a:r>
            <a:r>
              <a:rPr lang="zh-CN" altLang="en-US" sz="1600" dirty="0"/>
              <a:t>侧重体育和户外用品。</a:t>
            </a:r>
            <a:endParaRPr lang="en-US" altLang="zh-CN" sz="1600" dirty="0"/>
          </a:p>
          <a:p>
            <a:pPr marL="285750" indent="-285750">
              <a:buFont typeface="Arial" panose="020B0604020202020204" pitchFamily="34" charset="0"/>
              <a:buChar char="•"/>
            </a:pPr>
            <a:r>
              <a:rPr lang="en-US" altLang="zh-CN" sz="1800" b="1" dirty="0"/>
              <a:t>Yelp</a:t>
            </a:r>
            <a:r>
              <a:rPr lang="zh-CN" altLang="en-US" sz="1800" dirty="0"/>
              <a:t>数据集</a:t>
            </a:r>
            <a:endParaRPr lang="en-US" altLang="zh-CN" sz="1800" dirty="0"/>
          </a:p>
          <a:p>
            <a:r>
              <a:rPr lang="en-US" altLang="zh-CN" sz="1200" dirty="0"/>
              <a:t>        </a:t>
            </a:r>
            <a:r>
              <a:rPr lang="zh-CN" altLang="en-US" sz="1600" dirty="0"/>
              <a:t>来源于美国最大的点评网站 </a:t>
            </a:r>
            <a:r>
              <a:rPr lang="en-US" altLang="zh-CN" sz="1600" dirty="0"/>
              <a:t>Yelp</a:t>
            </a:r>
            <a:r>
              <a:rPr lang="zh-CN" altLang="en-US" sz="1600" dirty="0"/>
              <a:t>，类似于国内的大众点评。</a:t>
            </a:r>
            <a:endParaRPr lang="en-US" altLang="zh-CN" sz="1600" dirty="0"/>
          </a:p>
          <a:p>
            <a:endParaRPr lang="zh-CN" altLang="en-US" sz="2400" b="1" dirty="0"/>
          </a:p>
        </p:txBody>
      </p:sp>
      <p:sp>
        <p:nvSpPr>
          <p:cNvPr id="10" name="圆角矩形 3"/>
          <p:cNvSpPr/>
          <p:nvPr/>
        </p:nvSpPr>
        <p:spPr>
          <a:xfrm>
            <a:off x="392759" y="1109942"/>
            <a:ext cx="10883735" cy="832557"/>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12" name="文本框 11"/>
          <p:cNvSpPr txBox="1"/>
          <p:nvPr/>
        </p:nvSpPr>
        <p:spPr>
          <a:xfrm>
            <a:off x="432016" y="1101136"/>
            <a:ext cx="2908363" cy="341632"/>
          </a:xfrm>
          <a:prstGeom prst="rect">
            <a:avLst/>
          </a:prstGeom>
          <a:noFill/>
        </p:spPr>
        <p:txBody>
          <a:bodyPr wrap="square" rtlCol="0">
            <a:spAutoFit/>
          </a:bodyPr>
          <a:lstStyle/>
          <a:p>
            <a:pPr>
              <a:lnSpc>
                <a:spcPct val="90000"/>
              </a:lnSpc>
              <a:spcBef>
                <a:spcPts val="1000"/>
              </a:spcBef>
            </a:pPr>
            <a:r>
              <a:rPr lang="zh-CN" altLang="en-US" b="1" dirty="0">
                <a:solidFill>
                  <a:srgbClr val="1898B8"/>
                </a:solidFill>
                <a:latin typeface="微软雅黑" panose="020B0503020204020204" pitchFamily="34" charset="-122"/>
                <a:ea typeface="微软雅黑" panose="020B0503020204020204" pitchFamily="34" charset="-122"/>
              </a:rPr>
              <a:t>数据集选取</a:t>
            </a:r>
          </a:p>
        </p:txBody>
      </p:sp>
      <p:sp>
        <p:nvSpPr>
          <p:cNvPr id="13" name="文本框 12"/>
          <p:cNvSpPr txBox="1"/>
          <p:nvPr/>
        </p:nvSpPr>
        <p:spPr>
          <a:xfrm>
            <a:off x="432016" y="1376899"/>
            <a:ext cx="10650052" cy="584775"/>
          </a:xfrm>
          <a:prstGeom prst="rect">
            <a:avLst/>
          </a:prstGeom>
          <a:noFill/>
        </p:spPr>
        <p:txBody>
          <a:bodyPr wrap="square" rtlCol="0">
            <a:spAutoFit/>
          </a:bodyPr>
          <a:lstStyle/>
          <a:p>
            <a:r>
              <a:rPr lang="zh-CN" altLang="en-US" sz="1600" dirty="0"/>
              <a:t>使用三个公开基准数据集</a:t>
            </a:r>
            <a:endParaRPr lang="en-US" altLang="zh-CN" sz="1600" dirty="0"/>
          </a:p>
          <a:p>
            <a:r>
              <a:rPr lang="en-US" altLang="zh-CN" sz="1600" dirty="0"/>
              <a:t>Beauty &amp; Sports</a:t>
            </a:r>
            <a:r>
              <a:rPr lang="zh-CN" altLang="en-US" sz="1600" dirty="0"/>
              <a:t>：来自</a:t>
            </a:r>
            <a:r>
              <a:rPr lang="en-US" altLang="zh-CN" sz="1600" dirty="0"/>
              <a:t>Amazon</a:t>
            </a:r>
            <a:r>
              <a:rPr lang="zh-CN" altLang="en-US" sz="1600" dirty="0"/>
              <a:t>评论数据的两个子类别                    </a:t>
            </a:r>
            <a:r>
              <a:rPr lang="en-US" altLang="zh-CN" sz="1600" dirty="0"/>
              <a:t>Yelp</a:t>
            </a:r>
            <a:r>
              <a:rPr lang="zh-CN" altLang="en-US" sz="1600" dirty="0"/>
              <a:t>：商家推荐数据集</a:t>
            </a:r>
          </a:p>
        </p:txBody>
      </p:sp>
      <p:graphicFrame>
        <p:nvGraphicFramePr>
          <p:cNvPr id="7" name="表格 6">
            <a:extLst>
              <a:ext uri="{FF2B5EF4-FFF2-40B4-BE49-F238E27FC236}">
                <a16:creationId xmlns:a16="http://schemas.microsoft.com/office/drawing/2014/main" id="{82ACE6E0-6AD8-D925-9C74-2122095E262B}"/>
              </a:ext>
            </a:extLst>
          </p:cNvPr>
          <p:cNvGraphicFramePr/>
          <p:nvPr>
            <p:custDataLst>
              <p:tags r:id="rId1"/>
            </p:custDataLst>
            <p:extLst>
              <p:ext uri="{D42A27DB-BD31-4B8C-83A1-F6EECF244321}">
                <p14:modId xmlns:p14="http://schemas.microsoft.com/office/powerpoint/2010/main" val="250913580"/>
              </p:ext>
            </p:extLst>
          </p:nvPr>
        </p:nvGraphicFramePr>
        <p:xfrm>
          <a:off x="509601" y="3861573"/>
          <a:ext cx="8887287" cy="2057087"/>
        </p:xfrm>
        <a:graphic>
          <a:graphicData uri="http://schemas.openxmlformats.org/drawingml/2006/table">
            <a:tbl>
              <a:tblPr firstRow="1" bandRow="1"/>
              <a:tblGrid>
                <a:gridCol w="1097298">
                  <a:extLst>
                    <a:ext uri="{9D8B030D-6E8A-4147-A177-3AD203B41FA5}">
                      <a16:colId xmlns:a16="http://schemas.microsoft.com/office/drawing/2014/main" val="20000"/>
                    </a:ext>
                  </a:extLst>
                </a:gridCol>
                <a:gridCol w="1002152">
                  <a:extLst>
                    <a:ext uri="{9D8B030D-6E8A-4147-A177-3AD203B41FA5}">
                      <a16:colId xmlns:a16="http://schemas.microsoft.com/office/drawing/2014/main" val="20001"/>
                    </a:ext>
                  </a:extLst>
                </a:gridCol>
                <a:gridCol w="1067827">
                  <a:extLst>
                    <a:ext uri="{9D8B030D-6E8A-4147-A177-3AD203B41FA5}">
                      <a16:colId xmlns:a16="http://schemas.microsoft.com/office/drawing/2014/main" val="20002"/>
                    </a:ext>
                  </a:extLst>
                </a:gridCol>
                <a:gridCol w="973020">
                  <a:extLst>
                    <a:ext uri="{9D8B030D-6E8A-4147-A177-3AD203B41FA5}">
                      <a16:colId xmlns:a16="http://schemas.microsoft.com/office/drawing/2014/main" val="20003"/>
                    </a:ext>
                  </a:extLst>
                </a:gridCol>
                <a:gridCol w="1227803">
                  <a:extLst>
                    <a:ext uri="{9D8B030D-6E8A-4147-A177-3AD203B41FA5}">
                      <a16:colId xmlns:a16="http://schemas.microsoft.com/office/drawing/2014/main" val="20004"/>
                    </a:ext>
                  </a:extLst>
                </a:gridCol>
                <a:gridCol w="1281822">
                  <a:extLst>
                    <a:ext uri="{9D8B030D-6E8A-4147-A177-3AD203B41FA5}">
                      <a16:colId xmlns:a16="http://schemas.microsoft.com/office/drawing/2014/main" val="20005"/>
                    </a:ext>
                  </a:extLst>
                </a:gridCol>
                <a:gridCol w="1144481">
                  <a:extLst>
                    <a:ext uri="{9D8B030D-6E8A-4147-A177-3AD203B41FA5}">
                      <a16:colId xmlns:a16="http://schemas.microsoft.com/office/drawing/2014/main" val="20006"/>
                    </a:ext>
                  </a:extLst>
                </a:gridCol>
                <a:gridCol w="1092884">
                  <a:extLst>
                    <a:ext uri="{9D8B030D-6E8A-4147-A177-3AD203B41FA5}">
                      <a16:colId xmlns:a16="http://schemas.microsoft.com/office/drawing/2014/main" val="20007"/>
                    </a:ext>
                  </a:extLst>
                </a:gridCol>
              </a:tblGrid>
              <a:tr h="617909">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数据集</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用户数</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物品数</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交互数</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平均长度</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a:t>稀疏度</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a:t>数据集</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buNone/>
                      </a:pPr>
                      <a:r>
                        <a:rPr lang="zh-CN" altLang="en-US" dirty="0"/>
                        <a:t>用户数</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extLst>
                  <a:ext uri="{0D108BD9-81ED-4DB2-BD59-A6C34878D82A}">
                    <a16:rowId xmlns:a16="http://schemas.microsoft.com/office/drawing/2014/main" val="10000"/>
                  </a:ext>
                </a:extLst>
              </a:tr>
              <a:tr h="47972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t>Beauty</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22,363</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12,101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198,502</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dirty="0"/>
                        <a:t>8.9</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99.73%</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dirty="0"/>
                        <a:t>Beauty</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22,363</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10001"/>
                  </a:ext>
                </a:extLst>
              </a:tr>
              <a:tr h="47972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t>Sports</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35,598</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18,357</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296,337</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8.3</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99.95%</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t>Sports</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35,598</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10002"/>
                  </a:ext>
                </a:extLst>
              </a:tr>
              <a:tr h="479726">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t>Yelp</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30,431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20,033</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316,354</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10.3</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a:t>99.95%</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t>Yelp</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buNone/>
                      </a:pPr>
                      <a:r>
                        <a:rPr lang="en-US" altLang="zh-CN" dirty="0"/>
                        <a:t>30,431</a:t>
                      </a: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5B14-E57A-A527-57C1-07246D48E28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40B0634-B4FE-0F2E-4C8C-2D24D5462EA1}"/>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数据介绍</a:t>
            </a:r>
          </a:p>
        </p:txBody>
      </p:sp>
      <p:sp>
        <p:nvSpPr>
          <p:cNvPr id="5" name="文本框 4">
            <a:extLst>
              <a:ext uri="{FF2B5EF4-FFF2-40B4-BE49-F238E27FC236}">
                <a16:creationId xmlns:a16="http://schemas.microsoft.com/office/drawing/2014/main" id="{3A3B0906-ED35-9E9C-A372-873A2B710CAC}"/>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2" name="文本框 11">
            <a:extLst>
              <a:ext uri="{FF2B5EF4-FFF2-40B4-BE49-F238E27FC236}">
                <a16:creationId xmlns:a16="http://schemas.microsoft.com/office/drawing/2014/main" id="{B235083D-B787-56A9-F695-87C82FB736EC}"/>
              </a:ext>
            </a:extLst>
          </p:cNvPr>
          <p:cNvSpPr txBox="1"/>
          <p:nvPr/>
        </p:nvSpPr>
        <p:spPr>
          <a:xfrm>
            <a:off x="533563" y="1260111"/>
            <a:ext cx="2908363"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b="1" dirty="0">
                <a:solidFill>
                  <a:srgbClr val="1898B8"/>
                </a:solidFill>
                <a:latin typeface="微软雅黑" panose="020B0503020204020204" pitchFamily="34" charset="-122"/>
                <a:ea typeface="微软雅黑" panose="020B0503020204020204" pitchFamily="34" charset="-122"/>
              </a:rPr>
              <a:t>物品关联度计算</a:t>
            </a:r>
            <a:endPar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sp>
        <p:nvSpPr>
          <p:cNvPr id="8" name="文本框 4">
            <a:extLst>
              <a:ext uri="{FF2B5EF4-FFF2-40B4-BE49-F238E27FC236}">
                <a16:creationId xmlns:a16="http://schemas.microsoft.com/office/drawing/2014/main" id="{91EB8E65-4269-44A7-F1A1-6D9972F4C026}"/>
              </a:ext>
            </a:extLst>
          </p:cNvPr>
          <p:cNvSpPr txBox="1"/>
          <p:nvPr/>
        </p:nvSpPr>
        <p:spPr>
          <a:xfrm>
            <a:off x="82089" y="1667984"/>
            <a:ext cx="8807065" cy="412581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1.</a:t>
            </a:r>
            <a:r>
              <a:rPr kumimoji="0" lang="zh-CN" altLang="en-US"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基于记忆的关联度（</a:t>
            </a:r>
            <a:r>
              <a:rPr kumimoji="0" lang="en-US" altLang="zh-CN" sz="2000" b="1" i="0" u="none" strike="noStrike" kern="1200" cap="none" spc="0" normalizeH="0" baseline="0" noProof="0" dirty="0" err="1">
                <a:ln>
                  <a:noFill/>
                </a:ln>
                <a:solidFill>
                  <a:srgbClr val="000000"/>
                </a:solidFill>
                <a:effectLst/>
                <a:uLnTx/>
                <a:uFillTx/>
                <a:latin typeface="Calibri"/>
                <a:ea typeface="微软雅黑" panose="020B0503020204020204" pitchFamily="34" charset="-122"/>
                <a:cs typeface="+mn-cs"/>
              </a:rPr>
              <a:t>ItemCF</a:t>
            </a:r>
            <a:r>
              <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-IUF</a:t>
            </a:r>
            <a:r>
              <a:rPr kumimoji="0" lang="zh-CN" altLang="en-US"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a:t>
            </a:r>
            <a:endPar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利用协同过滤信号，共同用户越多，关联度越高</a:t>
            </a: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2.</a:t>
            </a:r>
            <a:r>
              <a:rPr kumimoji="0" lang="zh-CN" altLang="en-US"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基于模型的关联度</a:t>
            </a:r>
            <a:endPar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利用</a:t>
            </a:r>
            <a:r>
              <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Transformer</a:t>
            </a:r>
            <a:r>
              <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学习到的物品嵌入向量的点积</a:t>
            </a: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3.</a:t>
            </a:r>
            <a:r>
              <a:rPr kumimoji="0" lang="zh-CN" altLang="en-US"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混合关联度</a:t>
            </a:r>
            <a:endParaRPr kumimoji="0" lang="en-US" altLang="zh-CN" sz="2000" b="1"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endPar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Min-Max</a:t>
            </a:r>
            <a:r>
              <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归一化后取最大值</a:t>
            </a:r>
            <a:endParaRPr kumimoji="0" lang="en-US" altLang="zh-CN"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457200" algn="l" defTabSz="914400" rtl="0" eaLnBrk="1" fontAlgn="auto" latinLnBrk="0" hangingPunct="1">
              <a:lnSpc>
                <a:spcPct val="15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p:txBody>
      </p:sp>
      <p:pic>
        <p:nvPicPr>
          <p:cNvPr id="9" name="图片 8">
            <a:extLst>
              <a:ext uri="{FF2B5EF4-FFF2-40B4-BE49-F238E27FC236}">
                <a16:creationId xmlns:a16="http://schemas.microsoft.com/office/drawing/2014/main" id="{F5E93BE1-A656-67AB-0648-7009B5DBE24B}"/>
              </a:ext>
            </a:extLst>
          </p:cNvPr>
          <p:cNvPicPr>
            <a:picLocks noChangeAspect="1"/>
          </p:cNvPicPr>
          <p:nvPr/>
        </p:nvPicPr>
        <p:blipFill>
          <a:blip r:embed="rId2"/>
          <a:stretch>
            <a:fillRect/>
          </a:stretch>
        </p:blipFill>
        <p:spPr>
          <a:xfrm>
            <a:off x="533563" y="2148762"/>
            <a:ext cx="3805265" cy="528641"/>
          </a:xfrm>
          <a:prstGeom prst="rect">
            <a:avLst/>
          </a:prstGeom>
        </p:spPr>
      </p:pic>
      <p:pic>
        <p:nvPicPr>
          <p:cNvPr id="11" name="图片 10">
            <a:extLst>
              <a:ext uri="{FF2B5EF4-FFF2-40B4-BE49-F238E27FC236}">
                <a16:creationId xmlns:a16="http://schemas.microsoft.com/office/drawing/2014/main" id="{C100C275-F950-69D2-EFD3-05D438C17CAD}"/>
              </a:ext>
            </a:extLst>
          </p:cNvPr>
          <p:cNvPicPr>
            <a:picLocks noChangeAspect="1"/>
          </p:cNvPicPr>
          <p:nvPr/>
        </p:nvPicPr>
        <p:blipFill>
          <a:blip r:embed="rId3"/>
          <a:stretch>
            <a:fillRect/>
          </a:stretch>
        </p:blipFill>
        <p:spPr>
          <a:xfrm>
            <a:off x="637101" y="3686661"/>
            <a:ext cx="2590819" cy="309565"/>
          </a:xfrm>
          <a:prstGeom prst="rect">
            <a:avLst/>
          </a:prstGeom>
        </p:spPr>
      </p:pic>
      <p:pic>
        <p:nvPicPr>
          <p:cNvPr id="14" name="图片 13">
            <a:extLst>
              <a:ext uri="{FF2B5EF4-FFF2-40B4-BE49-F238E27FC236}">
                <a16:creationId xmlns:a16="http://schemas.microsoft.com/office/drawing/2014/main" id="{2699F9D3-7531-62BA-BA52-4D8E6EEC739D}"/>
              </a:ext>
            </a:extLst>
          </p:cNvPr>
          <p:cNvPicPr>
            <a:picLocks noChangeAspect="1"/>
          </p:cNvPicPr>
          <p:nvPr/>
        </p:nvPicPr>
        <p:blipFill>
          <a:blip r:embed="rId4"/>
          <a:stretch>
            <a:fillRect/>
          </a:stretch>
        </p:blipFill>
        <p:spPr>
          <a:xfrm>
            <a:off x="637101" y="5005484"/>
            <a:ext cx="3057547" cy="357190"/>
          </a:xfrm>
          <a:prstGeom prst="rect">
            <a:avLst/>
          </a:prstGeom>
        </p:spPr>
      </p:pic>
      <p:sp>
        <p:nvSpPr>
          <p:cNvPr id="16" name="文本框 15">
            <a:extLst>
              <a:ext uri="{FF2B5EF4-FFF2-40B4-BE49-F238E27FC236}">
                <a16:creationId xmlns:a16="http://schemas.microsoft.com/office/drawing/2014/main" id="{586E36FC-A788-2D4D-D4E4-A55998A7CE65}"/>
              </a:ext>
            </a:extLst>
          </p:cNvPr>
          <p:cNvSpPr txBox="1"/>
          <p:nvPr/>
        </p:nvSpPr>
        <p:spPr>
          <a:xfrm>
            <a:off x="6094211" y="3278622"/>
            <a:ext cx="609600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训练前</a:t>
            </a:r>
            <a:r>
              <a:rPr kumimoji="0" lang="en-US" altLang="zh-CN"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E</a:t>
            </a:r>
            <a:r>
              <a:rPr kumimoji="0" lang="zh-CN" altLang="en-US"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个</a:t>
            </a:r>
            <a:r>
              <a:rPr kumimoji="0" lang="en-US" altLang="zh-CN"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epoch</a:t>
            </a:r>
            <a:r>
              <a:rPr kumimoji="0" lang="zh-CN" altLang="en-US"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使用记忆关联，之后切换为混合关联</a:t>
            </a:r>
            <a:endParaRPr kumimoji="0" lang="en-US" altLang="zh-CN"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Calibri"/>
                <a:ea typeface="微软雅黑" panose="020B0503020204020204" pitchFamily="34" charset="-122"/>
                <a:cs typeface="+mn-cs"/>
              </a:rPr>
              <a:t>（由于模型关联度在训练早期嵌入不够成熟，效果较差）</a:t>
            </a:r>
          </a:p>
        </p:txBody>
      </p:sp>
    </p:spTree>
    <p:extLst>
      <p:ext uri="{BB962C8B-B14F-4D97-AF65-F5344CB8AC3E}">
        <p14:creationId xmlns:p14="http://schemas.microsoft.com/office/powerpoint/2010/main" val="39819191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总体框架及实验结果</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模型总体框架</a:t>
            </a:r>
          </a:p>
        </p:txBody>
      </p:sp>
      <p:sp>
        <p:nvSpPr>
          <p:cNvPr id="5" name="文本框 4"/>
          <p:cNvSpPr txBox="1"/>
          <p:nvPr/>
        </p:nvSpPr>
        <p:spPr>
          <a:xfrm>
            <a:off x="11492187" y="6409396"/>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pic>
        <p:nvPicPr>
          <p:cNvPr id="16" name="图片 15">
            <a:extLst>
              <a:ext uri="{FF2B5EF4-FFF2-40B4-BE49-F238E27FC236}">
                <a16:creationId xmlns:a16="http://schemas.microsoft.com/office/drawing/2014/main" id="{E9A5F588-7A31-C73C-6063-9F5022A36256}"/>
              </a:ext>
            </a:extLst>
          </p:cNvPr>
          <p:cNvPicPr>
            <a:picLocks noChangeAspect="1"/>
          </p:cNvPicPr>
          <p:nvPr/>
        </p:nvPicPr>
        <p:blipFill>
          <a:blip r:embed="rId2"/>
          <a:stretch>
            <a:fillRect/>
          </a:stretch>
        </p:blipFill>
        <p:spPr>
          <a:xfrm>
            <a:off x="275634" y="945120"/>
            <a:ext cx="7272321" cy="3540473"/>
          </a:xfrm>
          <a:prstGeom prst="rect">
            <a:avLst/>
          </a:prstGeom>
        </p:spPr>
      </p:pic>
      <p:sp>
        <p:nvSpPr>
          <p:cNvPr id="17" name="文本框 16">
            <a:extLst>
              <a:ext uri="{FF2B5EF4-FFF2-40B4-BE49-F238E27FC236}">
                <a16:creationId xmlns:a16="http://schemas.microsoft.com/office/drawing/2014/main" id="{FFBEE8AC-9E08-F3B9-FCF6-6C404D006D61}"/>
              </a:ext>
            </a:extLst>
          </p:cNvPr>
          <p:cNvSpPr txBox="1"/>
          <p:nvPr/>
        </p:nvSpPr>
        <p:spPr>
          <a:xfrm>
            <a:off x="7547955" y="875607"/>
            <a:ext cx="4472249" cy="1785104"/>
          </a:xfrm>
          <a:prstGeom prst="rect">
            <a:avLst/>
          </a:prstGeom>
          <a:noFill/>
        </p:spPr>
        <p:txBody>
          <a:bodyPr wrap="square" rtlCol="0">
            <a:spAutoFit/>
          </a:bodyPr>
          <a:lstStyle/>
          <a:p>
            <a:r>
              <a:rPr lang="en-US" altLang="zh-CN" sz="1600" b="1" dirty="0"/>
              <a:t>1. </a:t>
            </a:r>
            <a:r>
              <a:rPr lang="zh-CN" altLang="en-US" sz="1600" b="1" dirty="0"/>
              <a:t>序列输入与特征嵌入 </a:t>
            </a:r>
            <a:r>
              <a:rPr lang="en-US" altLang="zh-CN" sz="1600" b="1" dirty="0"/>
              <a:t>(Input &amp; Embedding)</a:t>
            </a:r>
          </a:p>
          <a:p>
            <a:pPr lvl="0"/>
            <a:r>
              <a:rPr lang="zh-CN" altLang="en-US" sz="1600" b="1" dirty="0"/>
              <a:t>接收数据：</a:t>
            </a:r>
            <a:r>
              <a:rPr lang="zh-CN" altLang="en-US" sz="1600" dirty="0"/>
              <a:t>模型首先接收用户的原始历史交互序列 </a:t>
            </a:r>
            <a:r>
              <a:rPr lang="en-US" altLang="zh-CN" sz="1600" i="1" dirty="0"/>
              <a:t>sᵤ</a:t>
            </a:r>
            <a:r>
              <a:rPr lang="zh-CN" altLang="en-US" sz="1600" dirty="0"/>
              <a:t>（包含一系列物品 </a:t>
            </a:r>
            <a:r>
              <a:rPr lang="en-US" altLang="zh-CN" sz="1600" i="1" dirty="0"/>
              <a:t>v₁, v₂, ..., vₙ</a:t>
            </a:r>
            <a:r>
              <a:rPr lang="zh-CN" altLang="en-US" sz="1600" dirty="0"/>
              <a:t>）。</a:t>
            </a:r>
          </a:p>
          <a:p>
            <a:r>
              <a:rPr lang="zh-CN" altLang="en-US" sz="1600" b="1" dirty="0"/>
              <a:t>特征初始化：</a:t>
            </a:r>
            <a:r>
              <a:rPr lang="zh-CN" altLang="en-US" sz="1600" dirty="0"/>
              <a:t>将序列中的每个离散物品转化为向量表示（输入嵌入），并叠加位置编码（位置编码 </a:t>
            </a:r>
            <a:r>
              <a:rPr lang="zh-CN" altLang="en-US" sz="1600" i="1" dirty="0"/>
              <a:t>⊕</a:t>
            </a:r>
            <a:r>
              <a:rPr lang="zh-CN" altLang="en-US" sz="1600" dirty="0"/>
              <a:t> 输入嵌入），以保留序列的时序信息。</a:t>
            </a:r>
            <a:endParaRPr lang="en-US" altLang="zh-CN" sz="1600" dirty="0"/>
          </a:p>
          <a:p>
            <a:endParaRPr lang="en-US" altLang="zh-CN" sz="1400" dirty="0"/>
          </a:p>
        </p:txBody>
      </p:sp>
      <p:sp>
        <p:nvSpPr>
          <p:cNvPr id="18" name="文本框 17">
            <a:extLst>
              <a:ext uri="{FF2B5EF4-FFF2-40B4-BE49-F238E27FC236}">
                <a16:creationId xmlns:a16="http://schemas.microsoft.com/office/drawing/2014/main" id="{AB947F1F-8936-2B29-7B65-7B8EB16C0A9E}"/>
              </a:ext>
            </a:extLst>
          </p:cNvPr>
          <p:cNvSpPr txBox="1"/>
          <p:nvPr/>
        </p:nvSpPr>
        <p:spPr>
          <a:xfrm>
            <a:off x="7628311" y="2900023"/>
            <a:ext cx="4594169" cy="3077766"/>
          </a:xfrm>
          <a:prstGeom prst="rect">
            <a:avLst/>
          </a:prstGeom>
          <a:noFill/>
        </p:spPr>
        <p:txBody>
          <a:bodyPr wrap="square" rtlCol="0">
            <a:spAutoFit/>
          </a:bodyPr>
          <a:lstStyle/>
          <a:p>
            <a:r>
              <a:rPr lang="en-US" altLang="zh-CN" sz="1600" b="1" dirty="0"/>
              <a:t>2.</a:t>
            </a:r>
            <a:r>
              <a:rPr lang="zh-CN" altLang="en-US" sz="1600" b="1" dirty="0"/>
              <a:t>序列的双分支处理 </a:t>
            </a:r>
            <a:r>
              <a:rPr lang="en-US" altLang="zh-CN" sz="1600" b="1" dirty="0"/>
              <a:t>(Dual-branch Processing)</a:t>
            </a:r>
          </a:p>
          <a:p>
            <a:r>
              <a:rPr lang="zh-CN" altLang="en-US" sz="1600" dirty="0"/>
              <a:t>输入数据在此处分为两个并行的分支进行处理：</a:t>
            </a:r>
          </a:p>
          <a:p>
            <a:pPr lvl="0"/>
            <a:r>
              <a:rPr lang="zh-CN" altLang="en-US" sz="1600" b="1" dirty="0"/>
              <a:t>主任务分支（原始序列）：</a:t>
            </a:r>
            <a:r>
              <a:rPr lang="zh-CN" altLang="en-US" sz="1600" dirty="0"/>
              <a:t>直接保留原始序列 </a:t>
            </a:r>
            <a:r>
              <a:rPr lang="en-US" altLang="zh-CN" sz="1600" i="1" dirty="0"/>
              <a:t>sᵤ</a:t>
            </a:r>
            <a:r>
              <a:rPr lang="zh-CN" altLang="en-US" sz="1600" dirty="0"/>
              <a:t>，为后续的“下一物品预测”做准备。</a:t>
            </a:r>
          </a:p>
          <a:p>
            <a:pPr lvl="0"/>
            <a:r>
              <a:rPr lang="zh-CN" altLang="en-US" sz="1600" b="1" dirty="0"/>
              <a:t>辅助任务分支（数据增强）：</a:t>
            </a:r>
            <a:r>
              <a:rPr lang="zh-CN" altLang="en-US" sz="1600" dirty="0"/>
              <a:t>数据增强模块会根据原始序列的长度进行自适应调整，从选定的增强操作集合（如图片中所示的裁剪 </a:t>
            </a:r>
            <a:r>
              <a:rPr lang="en-US" altLang="zh-CN" sz="1600" dirty="0"/>
              <a:t>Crop</a:t>
            </a:r>
            <a:r>
              <a:rPr lang="zh-CN" altLang="en-US" sz="1600" dirty="0"/>
              <a:t>、掩码 </a:t>
            </a:r>
            <a:r>
              <a:rPr lang="en-US" altLang="zh-CN" sz="1600" dirty="0"/>
              <a:t>Mask</a:t>
            </a:r>
            <a:r>
              <a:rPr lang="zh-CN" altLang="en-US" sz="1600" dirty="0"/>
              <a:t>、重排序 </a:t>
            </a:r>
            <a:r>
              <a:rPr lang="en-US" altLang="zh-CN" sz="1600" dirty="0"/>
              <a:t>Reorder</a:t>
            </a:r>
            <a:r>
              <a:rPr lang="zh-CN" altLang="en-US" sz="1600" dirty="0"/>
              <a:t>、替换 </a:t>
            </a:r>
            <a:r>
              <a:rPr lang="en-US" altLang="zh-CN" sz="1600" dirty="0"/>
              <a:t>Substitute</a:t>
            </a:r>
            <a:r>
              <a:rPr lang="zh-CN" altLang="en-US" sz="1600" dirty="0"/>
              <a:t>、插入 </a:t>
            </a:r>
            <a:r>
              <a:rPr lang="en-US" altLang="zh-CN" sz="1600" dirty="0"/>
              <a:t>Insert </a:t>
            </a:r>
            <a:r>
              <a:rPr lang="zh-CN" altLang="en-US" sz="1600" dirty="0"/>
              <a:t>等）中选择两种操作（</a:t>
            </a:r>
            <a:r>
              <a:rPr lang="en-US" altLang="zh-CN" sz="1600" i="1" dirty="0"/>
              <a:t>a₁ᵘ</a:t>
            </a:r>
            <a:r>
              <a:rPr lang="zh-CN" altLang="en-US" sz="1600" dirty="0"/>
              <a:t> 和 </a:t>
            </a:r>
            <a:r>
              <a:rPr lang="en-US" altLang="zh-CN" sz="1600" i="1" dirty="0"/>
              <a:t>a₂ᵘ</a:t>
            </a:r>
            <a:r>
              <a:rPr lang="zh-CN" altLang="en-US" sz="1600" dirty="0"/>
              <a:t>）。对原始序列分别进行这两种增强方法变换，生成两个不同的增强视图。</a:t>
            </a:r>
            <a:endParaRPr lang="en-US" altLang="zh-CN" sz="1600" dirty="0"/>
          </a:p>
          <a:p>
            <a:endParaRPr lang="zh-CN" altLang="en-US" dirty="0"/>
          </a:p>
        </p:txBody>
      </p:sp>
      <p:sp>
        <p:nvSpPr>
          <p:cNvPr id="19" name="文本框 18">
            <a:extLst>
              <a:ext uri="{FF2B5EF4-FFF2-40B4-BE49-F238E27FC236}">
                <a16:creationId xmlns:a16="http://schemas.microsoft.com/office/drawing/2014/main" id="{C92A1E0C-F74D-B6F0-E81F-EECB5E6809D2}"/>
              </a:ext>
            </a:extLst>
          </p:cNvPr>
          <p:cNvSpPr txBox="1"/>
          <p:nvPr/>
        </p:nvSpPr>
        <p:spPr>
          <a:xfrm>
            <a:off x="443345" y="4576221"/>
            <a:ext cx="6677892" cy="2092881"/>
          </a:xfrm>
          <a:prstGeom prst="rect">
            <a:avLst/>
          </a:prstGeom>
          <a:noFill/>
        </p:spPr>
        <p:txBody>
          <a:bodyPr wrap="square" rtlCol="0">
            <a:spAutoFit/>
          </a:bodyPr>
          <a:lstStyle/>
          <a:p>
            <a:r>
              <a:rPr lang="en-US" altLang="zh-CN" sz="1600" b="1" dirty="0"/>
              <a:t>3. </a:t>
            </a:r>
            <a:r>
              <a:rPr lang="zh-CN" altLang="en-US" sz="1600" b="1" dirty="0"/>
              <a:t>共享序列编码 </a:t>
            </a:r>
            <a:r>
              <a:rPr lang="en-US" altLang="zh-CN" sz="1600" b="1" dirty="0"/>
              <a:t>(Shared Sequence Encoding)</a:t>
            </a:r>
          </a:p>
          <a:p>
            <a:pPr lvl="0"/>
            <a:r>
              <a:rPr lang="zh-CN" altLang="en-US" sz="1600" dirty="0"/>
              <a:t>原始序列和两个生成的增强视图共同输入到一个参数共享的 </a:t>
            </a:r>
            <a:r>
              <a:rPr lang="en-US" altLang="zh-CN" sz="1600" dirty="0"/>
              <a:t>Transformer </a:t>
            </a:r>
            <a:r>
              <a:rPr lang="zh-CN" altLang="en-US" sz="1600" dirty="0"/>
              <a:t>编码器（</a:t>
            </a:r>
            <a:r>
              <a:rPr lang="en-US" altLang="zh-CN" sz="1600" dirty="0" err="1"/>
              <a:t>SeqEnc</a:t>
            </a:r>
            <a:r>
              <a:rPr lang="zh-CN" altLang="en-US" sz="1600" dirty="0"/>
              <a:t>）中。</a:t>
            </a:r>
          </a:p>
          <a:p>
            <a:pPr lvl="0"/>
            <a:r>
              <a:rPr lang="zh-CN" altLang="en-US" sz="1600" dirty="0"/>
              <a:t>编码器通过多层堆叠的多头自注意力机制（</a:t>
            </a:r>
            <a:r>
              <a:rPr lang="en-US" altLang="zh-CN" sz="1600" dirty="0"/>
              <a:t>Multi-Head Self-Attention</a:t>
            </a:r>
            <a:r>
              <a:rPr lang="zh-CN" altLang="en-US" sz="1600" dirty="0"/>
              <a:t>）和前馈神经网络（</a:t>
            </a:r>
            <a:r>
              <a:rPr lang="en-US" altLang="zh-CN" sz="1600" dirty="0"/>
              <a:t>Feed-Forward</a:t>
            </a:r>
            <a:r>
              <a:rPr lang="zh-CN" altLang="en-US" sz="1600" dirty="0"/>
              <a:t>），捕捉序列内部的全局依赖关系。</a:t>
            </a:r>
          </a:p>
          <a:p>
            <a:pPr lvl="0"/>
            <a:r>
              <a:rPr lang="zh-CN" altLang="en-US" sz="1600" dirty="0"/>
              <a:t>编码完成后，输出一组与位置相关的特征嵌入向量：原始序列表示 </a:t>
            </a:r>
            <a:r>
              <a:rPr lang="en-US" altLang="zh-CN" sz="1600" i="1" dirty="0"/>
              <a:t>hᵤ</a:t>
            </a:r>
            <a:r>
              <a:rPr lang="zh-CN" altLang="en-US" sz="1600" dirty="0"/>
              <a:t>，以及增强视图表示 </a:t>
            </a:r>
            <a:r>
              <a:rPr lang="en-US" altLang="zh-CN" sz="1600" i="1" dirty="0"/>
              <a:t>h̃ᵤ¹</a:t>
            </a:r>
            <a:r>
              <a:rPr lang="en-US" altLang="zh-CN" sz="1600" dirty="0"/>
              <a:t> </a:t>
            </a:r>
            <a:r>
              <a:rPr lang="zh-CN" altLang="en-US" sz="1600" dirty="0"/>
              <a:t>和 </a:t>
            </a:r>
            <a:r>
              <a:rPr lang="en-US" altLang="zh-CN" sz="1600" i="1" dirty="0"/>
              <a:t>h̃ᵤ²</a:t>
            </a:r>
            <a:r>
              <a:rPr lang="zh-CN" altLang="en-US" sz="1600" dirty="0"/>
              <a:t>。</a:t>
            </a:r>
          </a:p>
          <a:p>
            <a:endParaRPr lang="zh-CN" altLang="en-US" dirty="0"/>
          </a:p>
        </p:txBody>
      </p:sp>
      <p:sp>
        <p:nvSpPr>
          <p:cNvPr id="23" name="矩形 22">
            <a:extLst>
              <a:ext uri="{FF2B5EF4-FFF2-40B4-BE49-F238E27FC236}">
                <a16:creationId xmlns:a16="http://schemas.microsoft.com/office/drawing/2014/main" id="{428BDAF9-A2CD-F3F4-2594-E8C2221E0FBD}"/>
              </a:ext>
            </a:extLst>
          </p:cNvPr>
          <p:cNvSpPr/>
          <p:nvPr/>
        </p:nvSpPr>
        <p:spPr>
          <a:xfrm>
            <a:off x="275635" y="854492"/>
            <a:ext cx="1968802" cy="13325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A0B8B6A3-6DA2-C93F-4365-54B765F39786}"/>
              </a:ext>
            </a:extLst>
          </p:cNvPr>
          <p:cNvSpPr/>
          <p:nvPr/>
        </p:nvSpPr>
        <p:spPr>
          <a:xfrm>
            <a:off x="2615738" y="1009542"/>
            <a:ext cx="1612669" cy="18722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id="{37F1CA6A-B282-CF74-9F5C-39EE2011D769}"/>
              </a:ext>
            </a:extLst>
          </p:cNvPr>
          <p:cNvSpPr/>
          <p:nvPr/>
        </p:nvSpPr>
        <p:spPr>
          <a:xfrm>
            <a:off x="275634" y="2327018"/>
            <a:ext cx="2018679" cy="11019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连接符: 肘形 3">
            <a:extLst>
              <a:ext uri="{FF2B5EF4-FFF2-40B4-BE49-F238E27FC236}">
                <a16:creationId xmlns:a16="http://schemas.microsoft.com/office/drawing/2014/main" id="{57BD41BD-C915-AAB0-4784-501C1CEFB20F}"/>
              </a:ext>
            </a:extLst>
          </p:cNvPr>
          <p:cNvCxnSpPr>
            <a:stCxn id="25" idx="2"/>
          </p:cNvCxnSpPr>
          <p:nvPr/>
        </p:nvCxnSpPr>
        <p:spPr>
          <a:xfrm rot="16200000" flipH="1">
            <a:off x="4232892" y="481081"/>
            <a:ext cx="417022" cy="6312859"/>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863B0B7A-867D-21E1-2C59-4118F9AAFC7D}"/>
              </a:ext>
            </a:extLst>
          </p:cNvPr>
          <p:cNvCxnSpPr>
            <a:stCxn id="24" idx="2"/>
          </p:cNvCxnSpPr>
          <p:nvPr/>
        </p:nvCxnSpPr>
        <p:spPr>
          <a:xfrm flipH="1">
            <a:off x="3419302" y="2881746"/>
            <a:ext cx="2771" cy="173458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7B7595A0-BC4E-3F5B-E65F-E580580D12D3}"/>
              </a:ext>
            </a:extLst>
          </p:cNvPr>
          <p:cNvCxnSpPr/>
          <p:nvPr/>
        </p:nvCxnSpPr>
        <p:spPr>
          <a:xfrm>
            <a:off x="2244437" y="945120"/>
            <a:ext cx="5353396"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500"/>
                                        <p:tgtEl>
                                          <p:spTgt spid="2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ppt_x"/>
                                          </p:val>
                                        </p:tav>
                                        <p:tav tm="100000">
                                          <p:val>
                                            <p:strVal val="#ppt_x"/>
                                          </p:val>
                                        </p:tav>
                                      </p:tavLst>
                                    </p:anim>
                                    <p:anim calcmode="lin" valueType="num">
                                      <p:cBhvr additive="base">
                                        <p:cTn id="2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fade">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 calcmode="lin" valueType="num">
                                      <p:cBhvr additive="base">
                                        <p:cTn id="37" dur="500" fill="hold"/>
                                        <p:tgtEl>
                                          <p:spTgt spid="18"/>
                                        </p:tgtEl>
                                        <p:attrNameLst>
                                          <p:attrName>ppt_x</p:attrName>
                                        </p:attrNameLst>
                                      </p:cBhvr>
                                      <p:tavLst>
                                        <p:tav tm="0">
                                          <p:val>
                                            <p:strVal val="#ppt_x"/>
                                          </p:val>
                                        </p:tav>
                                        <p:tav tm="100000">
                                          <p:val>
                                            <p:strVal val="#ppt_x"/>
                                          </p:val>
                                        </p:tav>
                                      </p:tavLst>
                                    </p:anim>
                                    <p:anim calcmode="lin" valueType="num">
                                      <p:cBhvr additive="base">
                                        <p:cTn id="3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 calcmode="lin" valueType="num">
                                      <p:cBhvr additive="base">
                                        <p:cTn id="53" dur="500" fill="hold"/>
                                        <p:tgtEl>
                                          <p:spTgt spid="19"/>
                                        </p:tgtEl>
                                        <p:attrNameLst>
                                          <p:attrName>ppt_x</p:attrName>
                                        </p:attrNameLst>
                                      </p:cBhvr>
                                      <p:tavLst>
                                        <p:tav tm="0">
                                          <p:val>
                                            <p:strVal val="#ppt_x"/>
                                          </p:val>
                                        </p:tav>
                                        <p:tav tm="100000">
                                          <p:val>
                                            <p:strVal val="#ppt_x"/>
                                          </p:val>
                                        </p:tav>
                                      </p:tavLst>
                                    </p:anim>
                                    <p:anim calcmode="lin" valueType="num">
                                      <p:cBhvr additive="base">
                                        <p:cTn id="5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3" grpId="0" animBg="1"/>
      <p:bldP spid="24" grpId="0" animBg="1"/>
      <p:bldP spid="2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26B9-2DB2-1419-03B7-EAF7CCAE9FD1}"/>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6F36DE1-FB82-D06D-9DE1-43D5A4BA9D47}"/>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模型总体框架</a:t>
            </a:r>
          </a:p>
        </p:txBody>
      </p:sp>
      <p:sp>
        <p:nvSpPr>
          <p:cNvPr id="5" name="文本框 4">
            <a:extLst>
              <a:ext uri="{FF2B5EF4-FFF2-40B4-BE49-F238E27FC236}">
                <a16:creationId xmlns:a16="http://schemas.microsoft.com/office/drawing/2014/main" id="{779DBA30-F543-BA42-07EA-D9ED6D983A39}"/>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pic>
        <p:nvPicPr>
          <p:cNvPr id="16" name="图片 15">
            <a:extLst>
              <a:ext uri="{FF2B5EF4-FFF2-40B4-BE49-F238E27FC236}">
                <a16:creationId xmlns:a16="http://schemas.microsoft.com/office/drawing/2014/main" id="{DD1E78F1-EF79-AF13-E2B3-18D75F846B84}"/>
              </a:ext>
            </a:extLst>
          </p:cNvPr>
          <p:cNvPicPr>
            <a:picLocks noChangeAspect="1"/>
          </p:cNvPicPr>
          <p:nvPr/>
        </p:nvPicPr>
        <p:blipFill>
          <a:blip r:embed="rId2"/>
          <a:stretch>
            <a:fillRect/>
          </a:stretch>
        </p:blipFill>
        <p:spPr>
          <a:xfrm>
            <a:off x="231301" y="1026951"/>
            <a:ext cx="7272321" cy="3540473"/>
          </a:xfrm>
          <a:prstGeom prst="rect">
            <a:avLst/>
          </a:prstGeom>
        </p:spPr>
      </p:pic>
      <p:sp>
        <p:nvSpPr>
          <p:cNvPr id="17" name="文本框 16">
            <a:extLst>
              <a:ext uri="{FF2B5EF4-FFF2-40B4-BE49-F238E27FC236}">
                <a16:creationId xmlns:a16="http://schemas.microsoft.com/office/drawing/2014/main" id="{39956016-8E83-6715-C340-A0D708924C3E}"/>
              </a:ext>
            </a:extLst>
          </p:cNvPr>
          <p:cNvSpPr txBox="1"/>
          <p:nvPr/>
        </p:nvSpPr>
        <p:spPr>
          <a:xfrm>
            <a:off x="1459920" y="5009804"/>
            <a:ext cx="4067696" cy="1785104"/>
          </a:xfrm>
          <a:prstGeom prst="rect">
            <a:avLst/>
          </a:prstGeom>
          <a:noFill/>
        </p:spPr>
        <p:txBody>
          <a:bodyPr wrap="square" rtlCol="0">
            <a:spAutoFit/>
          </a:bodyPr>
          <a:lstStyle/>
          <a:p>
            <a:r>
              <a:rPr lang="en-US" altLang="zh-CN" sz="1600" b="1" dirty="0"/>
              <a:t>4. </a:t>
            </a:r>
            <a:r>
              <a:rPr lang="zh-CN" altLang="en-US" sz="1600" b="1" dirty="0"/>
              <a:t>特征聚合 </a:t>
            </a:r>
            <a:r>
              <a:rPr lang="en-US" altLang="zh-CN" sz="1600" b="1" dirty="0"/>
              <a:t>(Aggregation)</a:t>
            </a:r>
          </a:p>
          <a:p>
            <a:pPr lvl="0"/>
            <a:r>
              <a:rPr lang="zh-CN" altLang="en-US" sz="1600" dirty="0"/>
              <a:t>编码器输出的各个位置的特征向量会经过一个“聚合层（拼接或平均）”，将局部的物品级表示转化为整体的“序列级表示向量”，分别得到原始序列表示 </a:t>
            </a:r>
            <a:r>
              <a:rPr lang="en-US" altLang="zh-CN" sz="1600" i="1" dirty="0"/>
              <a:t>zᵤ</a:t>
            </a:r>
            <a:r>
              <a:rPr lang="zh-CN" altLang="en-US" sz="1600" dirty="0"/>
              <a:t>，以及增强视图的表示 </a:t>
            </a:r>
            <a:r>
              <a:rPr lang="en-US" altLang="zh-CN" sz="1600" i="1" dirty="0"/>
              <a:t>z̃ᵤ¹</a:t>
            </a:r>
            <a:r>
              <a:rPr lang="zh-CN" altLang="en-US" sz="1600" dirty="0"/>
              <a:t> 和 </a:t>
            </a:r>
            <a:r>
              <a:rPr lang="en-US" altLang="zh-CN" sz="1600" i="1" dirty="0"/>
              <a:t>z̃ᵤ²</a:t>
            </a:r>
            <a:r>
              <a:rPr lang="zh-CN" altLang="en-US" sz="1600" dirty="0"/>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14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8" name="文本框 17">
            <a:extLst>
              <a:ext uri="{FF2B5EF4-FFF2-40B4-BE49-F238E27FC236}">
                <a16:creationId xmlns:a16="http://schemas.microsoft.com/office/drawing/2014/main" id="{E131F850-4EB3-207E-BA55-5A7823A293F1}"/>
              </a:ext>
            </a:extLst>
          </p:cNvPr>
          <p:cNvSpPr txBox="1"/>
          <p:nvPr/>
        </p:nvSpPr>
        <p:spPr>
          <a:xfrm>
            <a:off x="7810302" y="1179174"/>
            <a:ext cx="4333702" cy="1846659"/>
          </a:xfrm>
          <a:prstGeom prst="rect">
            <a:avLst/>
          </a:prstGeom>
          <a:noFill/>
        </p:spPr>
        <p:txBody>
          <a:bodyPr wrap="square" rtlCol="0">
            <a:spAutoFit/>
          </a:bodyPr>
          <a:lstStyle/>
          <a:p>
            <a:r>
              <a:rPr lang="zh-CN" altLang="en-US" sz="1600" b="1" dirty="0"/>
              <a:t>任务二：对比学习最大化一致性（辅助任务）</a:t>
            </a:r>
          </a:p>
          <a:p>
            <a:pPr lvl="0"/>
            <a:r>
              <a:rPr lang="zh-CN" altLang="en-US" sz="1600" dirty="0"/>
              <a:t>提取两个增强视图的序列表示 </a:t>
            </a:r>
            <a:r>
              <a:rPr lang="en-US" altLang="zh-CN" sz="1600" i="1" dirty="0"/>
              <a:t>z̃ᵤ¹</a:t>
            </a:r>
            <a:r>
              <a:rPr lang="zh-CN" altLang="en-US" sz="1600" dirty="0"/>
              <a:t> 和 </a:t>
            </a:r>
            <a:r>
              <a:rPr lang="en-US" altLang="zh-CN" sz="1600" i="1" dirty="0"/>
              <a:t>z̃ᵤ²</a:t>
            </a:r>
            <a:r>
              <a:rPr lang="zh-CN" altLang="en-US" sz="1600" dirty="0"/>
              <a:t> 组成正样本对，而同一小批量（</a:t>
            </a:r>
            <a:r>
              <a:rPr lang="en-US" altLang="zh-CN" sz="1600" dirty="0"/>
              <a:t>Mini-batch</a:t>
            </a:r>
            <a:r>
              <a:rPr lang="zh-CN" altLang="en-US" sz="1600" dirty="0"/>
              <a:t>）内其他序列的增强视图则作为负样本。利用 </a:t>
            </a:r>
            <a:r>
              <a:rPr lang="en-US" altLang="zh-CN" sz="1600" dirty="0"/>
              <a:t>NT-</a:t>
            </a:r>
            <a:r>
              <a:rPr lang="en-US" altLang="zh-CN" sz="1600" dirty="0" err="1"/>
              <a:t>Xent</a:t>
            </a:r>
            <a:r>
              <a:rPr lang="en-US" altLang="zh-CN" sz="1600" dirty="0"/>
              <a:t> </a:t>
            </a:r>
            <a:r>
              <a:rPr lang="zh-CN" altLang="en-US" sz="1600" dirty="0"/>
              <a:t>损失拉近正样本对在向量空间中的距离（最大化一致性），同时推远负样本的距离。</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19" name="文本框 18">
            <a:extLst>
              <a:ext uri="{FF2B5EF4-FFF2-40B4-BE49-F238E27FC236}">
                <a16:creationId xmlns:a16="http://schemas.microsoft.com/office/drawing/2014/main" id="{D55A3333-5DDF-8BA4-8E71-08F918BD2781}"/>
              </a:ext>
            </a:extLst>
          </p:cNvPr>
          <p:cNvSpPr txBox="1"/>
          <p:nvPr/>
        </p:nvSpPr>
        <p:spPr>
          <a:xfrm>
            <a:off x="7769631" y="3897073"/>
            <a:ext cx="4248695" cy="2585323"/>
          </a:xfrm>
          <a:prstGeom prst="rect">
            <a:avLst/>
          </a:prstGeom>
          <a:noFill/>
        </p:spPr>
        <p:txBody>
          <a:bodyPr wrap="square" rtlCol="0">
            <a:spAutoFit/>
          </a:bodyPr>
          <a:lstStyle/>
          <a:p>
            <a:r>
              <a:rPr lang="en-US" altLang="zh-CN" sz="1600" b="1" dirty="0"/>
              <a:t>5. </a:t>
            </a:r>
            <a:r>
              <a:rPr lang="zh-CN" altLang="en-US" sz="1600" b="1" dirty="0"/>
              <a:t>多任务联合优化 </a:t>
            </a:r>
            <a:r>
              <a:rPr lang="en-US" altLang="zh-CN" sz="1600" b="1" dirty="0"/>
              <a:t>(Multi-task Optimization)</a:t>
            </a:r>
          </a:p>
          <a:p>
            <a:r>
              <a:rPr lang="zh-CN" altLang="en-US" sz="1600" dirty="0"/>
              <a:t>在模型的输出端，上述生成的表示向量将被用于计算两部分损失函数，并进行联合优化：</a:t>
            </a:r>
          </a:p>
          <a:p>
            <a:r>
              <a:rPr lang="zh-CN" altLang="en-US" sz="1600" b="1" dirty="0"/>
              <a:t>任务一：下一物品预测（主任务）</a:t>
            </a:r>
          </a:p>
          <a:p>
            <a:pPr lvl="0"/>
            <a:r>
              <a:rPr lang="zh-CN" altLang="en-US" sz="1600" dirty="0"/>
              <a:t>提取原始序列的表示 </a:t>
            </a:r>
            <a:r>
              <a:rPr lang="en-US" altLang="zh-CN" sz="1600" i="1" dirty="0"/>
              <a:t>hᵤ</a:t>
            </a:r>
            <a:r>
              <a:rPr lang="zh-CN" altLang="en-US" sz="1600" dirty="0"/>
              <a:t>，将其与候选物品的嵌入矩阵 </a:t>
            </a:r>
            <a:r>
              <a:rPr lang="en-US" altLang="zh-CN" sz="1600" i="1" dirty="0"/>
              <a:t>E</a:t>
            </a:r>
            <a:r>
              <a:rPr lang="zh-CN" altLang="en-US" sz="1600" dirty="0"/>
              <a:t> 进行点积匹配，计算出偏好得分矩阵 </a:t>
            </a:r>
            <a:r>
              <a:rPr lang="en-US" altLang="zh-CN" sz="1600" i="1" dirty="0"/>
              <a:t>Ŷ</a:t>
            </a:r>
            <a:r>
              <a:rPr lang="zh-CN" altLang="en-US" sz="1600" dirty="0"/>
              <a:t>。随后通过 </a:t>
            </a:r>
            <a:r>
              <a:rPr lang="en-US" altLang="zh-CN" sz="1600" dirty="0" err="1"/>
              <a:t>Softmax</a:t>
            </a:r>
            <a:r>
              <a:rPr lang="en-US" altLang="zh-CN" sz="1600" dirty="0"/>
              <a:t> </a:t>
            </a:r>
            <a:r>
              <a:rPr lang="zh-CN" altLang="en-US" sz="1600" dirty="0"/>
              <a:t>归一化输出概率分布，并计算交叉熵损失（推荐损失），用于预测用户下一个最可能交互的物品。</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
        <p:nvSpPr>
          <p:cNvPr id="2" name="矩形 1">
            <a:extLst>
              <a:ext uri="{FF2B5EF4-FFF2-40B4-BE49-F238E27FC236}">
                <a16:creationId xmlns:a16="http://schemas.microsoft.com/office/drawing/2014/main" id="{FFA8EAE5-B264-762F-0DAE-E1D336EAFA04}"/>
              </a:ext>
            </a:extLst>
          </p:cNvPr>
          <p:cNvSpPr/>
          <p:nvPr/>
        </p:nvSpPr>
        <p:spPr>
          <a:xfrm>
            <a:off x="5238329" y="2762716"/>
            <a:ext cx="2312395" cy="180470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DB7911C-0649-9908-FBB0-27C305F534B5}"/>
              </a:ext>
            </a:extLst>
          </p:cNvPr>
          <p:cNvSpPr/>
          <p:nvPr/>
        </p:nvSpPr>
        <p:spPr>
          <a:xfrm>
            <a:off x="2328878" y="2937404"/>
            <a:ext cx="2780677" cy="144617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29EE17E6-2E5F-ED88-C91F-DD9C9AD3A684}"/>
              </a:ext>
            </a:extLst>
          </p:cNvPr>
          <p:cNvSpPr/>
          <p:nvPr/>
        </p:nvSpPr>
        <p:spPr>
          <a:xfrm>
            <a:off x="5191226" y="1097519"/>
            <a:ext cx="2312395" cy="160134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a:extLst>
              <a:ext uri="{FF2B5EF4-FFF2-40B4-BE49-F238E27FC236}">
                <a16:creationId xmlns:a16="http://schemas.microsoft.com/office/drawing/2014/main" id="{F921ADBC-1865-3AEB-917C-3A8C035D4573}"/>
              </a:ext>
            </a:extLst>
          </p:cNvPr>
          <p:cNvCxnSpPr>
            <a:stCxn id="4" idx="2"/>
          </p:cNvCxnSpPr>
          <p:nvPr/>
        </p:nvCxnSpPr>
        <p:spPr>
          <a:xfrm flipH="1">
            <a:off x="3701935" y="4383578"/>
            <a:ext cx="17282" cy="6262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DCC6B67E-9856-C573-71EC-C4504456542A}"/>
              </a:ext>
            </a:extLst>
          </p:cNvPr>
          <p:cNvCxnSpPr>
            <a:cxnSpLocks/>
            <a:stCxn id="6" idx="3"/>
          </p:cNvCxnSpPr>
          <p:nvPr/>
        </p:nvCxnSpPr>
        <p:spPr>
          <a:xfrm flipV="1">
            <a:off x="7503621" y="1898191"/>
            <a:ext cx="376844" cy="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连接符: 肘形 9">
            <a:extLst>
              <a:ext uri="{FF2B5EF4-FFF2-40B4-BE49-F238E27FC236}">
                <a16:creationId xmlns:a16="http://schemas.microsoft.com/office/drawing/2014/main" id="{5D0A6880-8FF7-B1B0-48E4-B4682AA7670F}"/>
              </a:ext>
            </a:extLst>
          </p:cNvPr>
          <p:cNvCxnSpPr>
            <a:cxnSpLocks/>
          </p:cNvCxnSpPr>
          <p:nvPr/>
        </p:nvCxnSpPr>
        <p:spPr>
          <a:xfrm rot="16200000" flipH="1">
            <a:off x="6795263" y="4324507"/>
            <a:ext cx="669594" cy="1155428"/>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104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additive="base">
                                        <p:cTn id="17" dur="500" fill="hold"/>
                                        <p:tgtEl>
                                          <p:spTgt spid="17"/>
                                        </p:tgtEl>
                                        <p:attrNameLst>
                                          <p:attrName>ppt_x</p:attrName>
                                        </p:attrNameLst>
                                      </p:cBhvr>
                                      <p:tavLst>
                                        <p:tav tm="0">
                                          <p:val>
                                            <p:strVal val="#ppt_x"/>
                                          </p:val>
                                        </p:tav>
                                        <p:tav tm="100000">
                                          <p:val>
                                            <p:strVal val="#ppt_x"/>
                                          </p:val>
                                        </p:tav>
                                      </p:tavLst>
                                    </p:anim>
                                    <p:anim calcmode="lin" valueType="num">
                                      <p:cBhvr additive="base">
                                        <p:cTn id="1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additive="base">
                                        <p:cTn id="33" dur="500" fill="hold"/>
                                        <p:tgtEl>
                                          <p:spTgt spid="19"/>
                                        </p:tgtEl>
                                        <p:attrNameLst>
                                          <p:attrName>ppt_x</p:attrName>
                                        </p:attrNameLst>
                                      </p:cBhvr>
                                      <p:tavLst>
                                        <p:tav tm="0">
                                          <p:val>
                                            <p:strVal val="#ppt_x"/>
                                          </p:val>
                                        </p:tav>
                                        <p:tav tm="100000">
                                          <p:val>
                                            <p:strVal val="#ppt_x"/>
                                          </p:val>
                                        </p:tav>
                                      </p:tavLst>
                                    </p:anim>
                                    <p:anim calcmode="lin" valueType="num">
                                      <p:cBhvr additive="base">
                                        <p:cTn id="3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 calcmode="lin" valueType="num">
                                      <p:cBhvr additive="base">
                                        <p:cTn id="49" dur="500" fill="hold"/>
                                        <p:tgtEl>
                                          <p:spTgt spid="18"/>
                                        </p:tgtEl>
                                        <p:attrNameLst>
                                          <p:attrName>ppt_x</p:attrName>
                                        </p:attrNameLst>
                                      </p:cBhvr>
                                      <p:tavLst>
                                        <p:tav tm="0">
                                          <p:val>
                                            <p:strVal val="#ppt_x"/>
                                          </p:val>
                                        </p:tav>
                                        <p:tav tm="100000">
                                          <p:val>
                                            <p:strVal val="#ppt_x"/>
                                          </p:val>
                                        </p:tav>
                                      </p:tavLst>
                                    </p:anim>
                                    <p:anim calcmode="lin" valueType="num">
                                      <p:cBhvr additive="base">
                                        <p:cTn id="5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 grpId="0" animBg="1"/>
      <p:bldP spid="4"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p:cNvSpPr txBox="1"/>
          <p:nvPr/>
        </p:nvSpPr>
        <p:spPr>
          <a:xfrm>
            <a:off x="11492187" y="6409396"/>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sp>
        <p:nvSpPr>
          <p:cNvPr id="10" name="文本框 9"/>
          <p:cNvSpPr txBox="1"/>
          <p:nvPr/>
        </p:nvSpPr>
        <p:spPr>
          <a:xfrm>
            <a:off x="332509" y="914130"/>
            <a:ext cx="2908363" cy="341632"/>
          </a:xfrm>
          <a:prstGeom prst="rect">
            <a:avLst/>
          </a:prstGeom>
          <a:noFill/>
        </p:spPr>
        <p:txBody>
          <a:bodyPr wrap="square" rtlCol="0">
            <a:spAutoFit/>
          </a:bodyPr>
          <a:lstStyle/>
          <a:p>
            <a:pPr>
              <a:lnSpc>
                <a:spcPct val="90000"/>
              </a:lnSpc>
              <a:spcBef>
                <a:spcPts val="1000"/>
              </a:spcBef>
            </a:pPr>
            <a:r>
              <a:rPr lang="zh-CN" altLang="en-US" b="1" dirty="0">
                <a:solidFill>
                  <a:srgbClr val="1898B8"/>
                </a:solidFill>
                <a:latin typeface="微软雅黑" panose="020B0503020204020204" pitchFamily="34" charset="-122"/>
                <a:ea typeface="微软雅黑" panose="020B0503020204020204" pitchFamily="34" charset="-122"/>
              </a:rPr>
              <a:t>数据增强方法 </a:t>
            </a:r>
            <a:r>
              <a:rPr lang="en-US" altLang="zh-CN" b="1" dirty="0">
                <a:solidFill>
                  <a:srgbClr val="1898B8"/>
                </a:solidFill>
                <a:latin typeface="微软雅黑" panose="020B0503020204020204" pitchFamily="34" charset="-122"/>
                <a:ea typeface="微软雅黑" panose="020B0503020204020204" pitchFamily="34" charset="-122"/>
              </a:rPr>
              <a:t>— </a:t>
            </a:r>
            <a:r>
              <a:rPr lang="zh-CN" altLang="en-US" b="1" dirty="0">
                <a:solidFill>
                  <a:srgbClr val="1898B8"/>
                </a:solidFill>
                <a:latin typeface="微软雅黑" panose="020B0503020204020204" pitchFamily="34" charset="-122"/>
                <a:ea typeface="微软雅黑" panose="020B0503020204020204" pitchFamily="34" charset="-122"/>
              </a:rPr>
              <a:t>信息增强</a:t>
            </a:r>
          </a:p>
        </p:txBody>
      </p:sp>
      <p:pic>
        <p:nvPicPr>
          <p:cNvPr id="7" name="图片 6">
            <a:extLst>
              <a:ext uri="{FF2B5EF4-FFF2-40B4-BE49-F238E27FC236}">
                <a16:creationId xmlns:a16="http://schemas.microsoft.com/office/drawing/2014/main" id="{68D2FC83-41C0-C303-64E9-0E7461362553}"/>
              </a:ext>
            </a:extLst>
          </p:cNvPr>
          <p:cNvPicPr>
            <a:picLocks noChangeAspect="1"/>
          </p:cNvPicPr>
          <p:nvPr/>
        </p:nvPicPr>
        <p:blipFill>
          <a:blip r:embed="rId2"/>
          <a:stretch>
            <a:fillRect/>
          </a:stretch>
        </p:blipFill>
        <p:spPr>
          <a:xfrm>
            <a:off x="6308642" y="1139761"/>
            <a:ext cx="5055710" cy="4186303"/>
          </a:xfrm>
          <a:prstGeom prst="rect">
            <a:avLst/>
          </a:prstGeom>
        </p:spPr>
      </p:pic>
      <p:sp>
        <p:nvSpPr>
          <p:cNvPr id="8" name="文本框 7">
            <a:extLst>
              <a:ext uri="{FF2B5EF4-FFF2-40B4-BE49-F238E27FC236}">
                <a16:creationId xmlns:a16="http://schemas.microsoft.com/office/drawing/2014/main" id="{8A4B9A83-6D1C-648C-7DDA-B6E5A85593DD}"/>
              </a:ext>
            </a:extLst>
          </p:cNvPr>
          <p:cNvSpPr txBox="1"/>
          <p:nvPr/>
        </p:nvSpPr>
        <p:spPr>
          <a:xfrm>
            <a:off x="332509" y="1305341"/>
            <a:ext cx="5879869" cy="4247317"/>
          </a:xfrm>
          <a:prstGeom prst="rect">
            <a:avLst/>
          </a:prstGeom>
          <a:noFill/>
        </p:spPr>
        <p:txBody>
          <a:bodyPr wrap="square" rtlCol="0">
            <a:spAutoFit/>
          </a:bodyPr>
          <a:lstStyle/>
          <a:p>
            <a:endParaRPr lang="en-US" altLang="zh-CN" sz="1400" b="1" dirty="0"/>
          </a:p>
          <a:p>
            <a:r>
              <a:rPr lang="zh-CN" altLang="en-US" sz="1400" b="1" dirty="0"/>
              <a:t>一、 替换（</a:t>
            </a:r>
            <a:r>
              <a:rPr lang="en-US" altLang="zh-CN" sz="1400" b="1" dirty="0"/>
              <a:t>Substitution</a:t>
            </a:r>
            <a:r>
              <a:rPr lang="zh-CN" altLang="en-US" sz="1400" b="1" dirty="0"/>
              <a:t>）：基于相关性的“语义平替”</a:t>
            </a:r>
          </a:p>
          <a:p>
            <a:r>
              <a:rPr lang="en-US" altLang="zh-CN" sz="1400" b="1" dirty="0"/>
              <a:t>1. </a:t>
            </a:r>
            <a:r>
              <a:rPr lang="zh-CN" altLang="en-US" sz="1400" b="1" dirty="0"/>
              <a:t>运行机制</a:t>
            </a:r>
            <a:r>
              <a:rPr lang="zh-CN" altLang="en-US" sz="1400" dirty="0"/>
              <a:t> 模型首先会通过算法（如 </a:t>
            </a:r>
            <a:r>
              <a:rPr lang="en-US" altLang="zh-CN" sz="1400" dirty="0" err="1"/>
              <a:t>ItemCF</a:t>
            </a:r>
            <a:r>
              <a:rPr lang="en-US" altLang="zh-CN" sz="1400" dirty="0"/>
              <a:t> </a:t>
            </a:r>
            <a:r>
              <a:rPr lang="zh-CN" altLang="en-US" sz="1400" dirty="0"/>
              <a:t>协同过滤，或物品 </a:t>
            </a:r>
            <a:r>
              <a:rPr lang="en-US" altLang="zh-CN" sz="1400" dirty="0"/>
              <a:t>Embedding </a:t>
            </a:r>
            <a:r>
              <a:rPr lang="zh-CN" altLang="en-US" sz="1400" dirty="0"/>
              <a:t>向量的余弦相似度）计算出全局物品的“相似度矩阵”。在进行数据增强时，模型会选中序列中的某个物品，并在相似度矩阵中找到它的“高分相似物品”，用后者将前者替换掉。</a:t>
            </a:r>
          </a:p>
          <a:p>
            <a:r>
              <a:rPr lang="en-US" altLang="zh-CN" sz="1400" b="1" dirty="0"/>
              <a:t>2. </a:t>
            </a:r>
            <a:r>
              <a:rPr lang="zh-CN" altLang="en-US" sz="1400" b="1" dirty="0"/>
              <a:t>具象化场景</a:t>
            </a:r>
            <a:endParaRPr lang="zh-CN" altLang="en-US" sz="1400" dirty="0"/>
          </a:p>
          <a:p>
            <a:r>
              <a:rPr lang="zh-CN" altLang="en-US" sz="1400" b="1" dirty="0"/>
              <a:t>原始序列：</a:t>
            </a:r>
            <a:r>
              <a:rPr lang="zh-CN" altLang="en-US" sz="1400" dirty="0"/>
              <a:t> </a:t>
            </a:r>
            <a:r>
              <a:rPr lang="en-US" altLang="zh-CN" sz="1400" dirty="0"/>
              <a:t>[iPhone 14 -&gt; </a:t>
            </a:r>
            <a:r>
              <a:rPr lang="zh-CN" altLang="en-US" sz="1400" dirty="0"/>
              <a:t>苹果原装手机壳 </a:t>
            </a:r>
            <a:r>
              <a:rPr lang="en-US" altLang="zh-CN" sz="1400" dirty="0"/>
              <a:t>-&gt; 20W</a:t>
            </a:r>
            <a:r>
              <a:rPr lang="zh-CN" altLang="en-US" sz="1400" dirty="0"/>
              <a:t>充电头</a:t>
            </a:r>
            <a:r>
              <a:rPr lang="en-US" altLang="zh-CN" sz="1400" dirty="0"/>
              <a:t>]</a:t>
            </a:r>
            <a:endParaRPr lang="zh-CN" altLang="en-US" sz="1400" dirty="0"/>
          </a:p>
          <a:p>
            <a:r>
              <a:rPr lang="zh-CN" altLang="en-US" sz="1400" b="1" dirty="0"/>
              <a:t>替换操作：</a:t>
            </a:r>
            <a:r>
              <a:rPr lang="zh-CN" altLang="en-US" sz="1400" dirty="0"/>
              <a:t> 系统选中了“</a:t>
            </a:r>
            <a:r>
              <a:rPr lang="en-US" altLang="zh-CN" sz="1400" dirty="0"/>
              <a:t>iPhone 14”</a:t>
            </a:r>
            <a:r>
              <a:rPr lang="zh-CN" altLang="en-US" sz="1400" dirty="0"/>
              <a:t>，并用相似度极高的“</a:t>
            </a:r>
            <a:r>
              <a:rPr lang="en-US" altLang="zh-CN" sz="1400" dirty="0"/>
              <a:t>iPhone 14 Pro”</a:t>
            </a:r>
            <a:r>
              <a:rPr lang="zh-CN" altLang="en-US" sz="1400" dirty="0"/>
              <a:t>进行替换。</a:t>
            </a:r>
          </a:p>
          <a:p>
            <a:r>
              <a:rPr lang="zh-CN" altLang="en-US" sz="1400" b="1" dirty="0"/>
              <a:t>增强后的视图：</a:t>
            </a:r>
            <a:r>
              <a:rPr lang="zh-CN" altLang="en-US" sz="1400" dirty="0"/>
              <a:t> </a:t>
            </a:r>
            <a:r>
              <a:rPr lang="en-US" altLang="zh-CN" sz="1400" dirty="0"/>
              <a:t>[iPhone 14 Pro -&gt; </a:t>
            </a:r>
            <a:r>
              <a:rPr lang="zh-CN" altLang="en-US" sz="1400" dirty="0"/>
              <a:t>苹果原装手机壳 </a:t>
            </a:r>
            <a:r>
              <a:rPr lang="en-US" altLang="zh-CN" sz="1400" dirty="0"/>
              <a:t>-&gt; 20W</a:t>
            </a:r>
            <a:r>
              <a:rPr lang="zh-CN" altLang="en-US" sz="1400" dirty="0"/>
              <a:t>充电头</a:t>
            </a:r>
            <a:r>
              <a:rPr lang="en-US" altLang="zh-CN" sz="1400" dirty="0"/>
              <a:t>]</a:t>
            </a:r>
            <a:endParaRPr lang="zh-CN" altLang="en-US" sz="1400" dirty="0"/>
          </a:p>
          <a:p>
            <a:r>
              <a:rPr lang="en-US" altLang="zh-CN" sz="1400" b="1" dirty="0"/>
              <a:t>3. </a:t>
            </a:r>
            <a:r>
              <a:rPr lang="zh-CN" altLang="en-US" sz="1400" b="1" dirty="0"/>
              <a:t>核心优势</a:t>
            </a:r>
            <a:endParaRPr lang="zh-CN" altLang="en-US" sz="1400" dirty="0"/>
          </a:p>
          <a:p>
            <a:r>
              <a:rPr lang="zh-CN" altLang="en-US" sz="1400" b="1" dirty="0"/>
              <a:t>意图不丢失：</a:t>
            </a:r>
            <a:r>
              <a:rPr lang="zh-CN" altLang="en-US" sz="1400" dirty="0"/>
              <a:t> 无论用户最初看的是普通版还是 </a:t>
            </a:r>
            <a:r>
              <a:rPr lang="en-US" altLang="zh-CN" sz="1400" dirty="0"/>
              <a:t>Pro </a:t>
            </a:r>
            <a:r>
              <a:rPr lang="zh-CN" altLang="en-US" sz="1400" dirty="0"/>
              <a:t>版，其“购买苹果生态配件”的底层转移逻辑是完全一致的。这种替换既制造了模型需要的“差异（扰动）”，又没有引入噪声。</a:t>
            </a:r>
          </a:p>
          <a:p>
            <a:r>
              <a:rPr lang="zh-CN" altLang="en-US" sz="1400" b="1" dirty="0"/>
              <a:t>构建高质量正样本：</a:t>
            </a:r>
            <a:r>
              <a:rPr lang="zh-CN" altLang="en-US" sz="1400" dirty="0"/>
              <a:t> 这种增强方式对模型提出了“认知挑战”</a:t>
            </a:r>
            <a:r>
              <a:rPr lang="en-US" altLang="zh-CN" sz="1400" dirty="0"/>
              <a:t>——</a:t>
            </a:r>
            <a:r>
              <a:rPr lang="zh-CN" altLang="en-US" sz="1400" dirty="0"/>
              <a:t>模型必须学会忽略商品表面的细微差别（普通版 </a:t>
            </a:r>
            <a:r>
              <a:rPr lang="en-US" altLang="zh-CN" sz="1400" dirty="0"/>
              <a:t>vs Pro</a:t>
            </a:r>
            <a:r>
              <a:rPr lang="zh-CN" altLang="en-US" sz="1400" dirty="0"/>
              <a:t>版），提取出背后共同的用户意图（高级表征）。</a:t>
            </a:r>
          </a:p>
          <a:p>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4DE9-7AEF-2A59-3A0F-4E858ABF2176}"/>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2A043F1-3E33-333B-92E5-C356021B3B90}"/>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71A66A9D-661E-2F09-CD41-4FD488C4498E}"/>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78F2BFB4-1BC6-551C-E4BA-8254771D913A}"/>
              </a:ext>
            </a:extLst>
          </p:cNvPr>
          <p:cNvSpPr txBox="1"/>
          <p:nvPr/>
        </p:nvSpPr>
        <p:spPr>
          <a:xfrm>
            <a:off x="404552" y="1124719"/>
            <a:ext cx="2908363"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数据增强方法 </a:t>
            </a:r>
            <a:r>
              <a:rPr kumimoji="0" lang="en-US" altLang="zh-CN"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 </a:t>
            </a:r>
            <a:r>
              <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信息增强</a:t>
            </a:r>
          </a:p>
        </p:txBody>
      </p:sp>
      <p:pic>
        <p:nvPicPr>
          <p:cNvPr id="7" name="图片 6">
            <a:extLst>
              <a:ext uri="{FF2B5EF4-FFF2-40B4-BE49-F238E27FC236}">
                <a16:creationId xmlns:a16="http://schemas.microsoft.com/office/drawing/2014/main" id="{E6F23A53-33F1-55F7-E36E-F534C22B5F7E}"/>
              </a:ext>
            </a:extLst>
          </p:cNvPr>
          <p:cNvPicPr>
            <a:picLocks noChangeAspect="1"/>
          </p:cNvPicPr>
          <p:nvPr/>
        </p:nvPicPr>
        <p:blipFill>
          <a:blip r:embed="rId2"/>
          <a:stretch>
            <a:fillRect/>
          </a:stretch>
        </p:blipFill>
        <p:spPr>
          <a:xfrm>
            <a:off x="6522049" y="1370790"/>
            <a:ext cx="4769553" cy="3949355"/>
          </a:xfrm>
          <a:prstGeom prst="rect">
            <a:avLst/>
          </a:prstGeom>
        </p:spPr>
      </p:pic>
      <p:sp>
        <p:nvSpPr>
          <p:cNvPr id="8" name="文本框 7">
            <a:extLst>
              <a:ext uri="{FF2B5EF4-FFF2-40B4-BE49-F238E27FC236}">
                <a16:creationId xmlns:a16="http://schemas.microsoft.com/office/drawing/2014/main" id="{22E98E9B-A414-BD38-B22E-3D048AFCBFAE}"/>
              </a:ext>
            </a:extLst>
          </p:cNvPr>
          <p:cNvSpPr txBox="1"/>
          <p:nvPr/>
        </p:nvSpPr>
        <p:spPr>
          <a:xfrm>
            <a:off x="323106" y="1714384"/>
            <a:ext cx="5512430" cy="4678204"/>
          </a:xfrm>
          <a:prstGeom prst="rect">
            <a:avLst/>
          </a:prstGeom>
          <a:noFill/>
        </p:spPr>
        <p:txBody>
          <a:bodyPr wrap="square" rtlCol="0">
            <a:spAutoFit/>
          </a:bodyPr>
          <a:lstStyle/>
          <a:p>
            <a:r>
              <a:rPr lang="zh-CN" altLang="en-US" sz="1400" b="1" dirty="0"/>
              <a:t>二、 插入（</a:t>
            </a:r>
            <a:r>
              <a:rPr lang="en-US" altLang="zh-CN" sz="1400" b="1" dirty="0"/>
              <a:t>Insertion</a:t>
            </a:r>
            <a:r>
              <a:rPr lang="zh-CN" altLang="en-US" sz="1400" b="1" dirty="0"/>
              <a:t>）：基于上下文的“意图补全”</a:t>
            </a:r>
          </a:p>
          <a:p>
            <a:r>
              <a:rPr lang="en-US" altLang="zh-CN" sz="1400" b="1" dirty="0"/>
              <a:t>1.</a:t>
            </a:r>
            <a:r>
              <a:rPr lang="zh-CN" altLang="en-US" sz="1400" b="1" dirty="0"/>
              <a:t>运行机制</a:t>
            </a:r>
            <a:r>
              <a:rPr lang="zh-CN" altLang="en-US" sz="1400" dirty="0"/>
              <a:t> </a:t>
            </a:r>
            <a:endParaRPr lang="en-US" altLang="zh-CN" sz="1400" dirty="0"/>
          </a:p>
          <a:p>
            <a:r>
              <a:rPr lang="zh-CN" altLang="en-US" sz="1400" dirty="0"/>
              <a:t>对于较短的序列，模型会分析序列中相邻的物品，寻找与这些物品频繁“共现（</a:t>
            </a:r>
            <a:r>
              <a:rPr lang="en-US" altLang="zh-CN" sz="1400" dirty="0"/>
              <a:t>Co-occurrence</a:t>
            </a:r>
            <a:r>
              <a:rPr lang="zh-CN" altLang="en-US" sz="1400" dirty="0"/>
              <a:t>）”或高度相关的其他物品。然后，将这个“桥梁物品”平滑地插入到序列的适当位置中。</a:t>
            </a:r>
            <a:endParaRPr lang="en-US" altLang="zh-CN" sz="1400" dirty="0"/>
          </a:p>
          <a:p>
            <a:pPr marL="342900" indent="-342900">
              <a:buAutoNum type="arabicPeriod"/>
            </a:pPr>
            <a:endParaRPr lang="zh-CN" altLang="en-US" sz="1400" dirty="0"/>
          </a:p>
          <a:p>
            <a:r>
              <a:rPr lang="en-US" altLang="zh-CN" sz="1400" b="1" dirty="0"/>
              <a:t>2. </a:t>
            </a:r>
            <a:r>
              <a:rPr lang="zh-CN" altLang="en-US" sz="1400" b="1" dirty="0"/>
              <a:t>具象化场景</a:t>
            </a:r>
            <a:endParaRPr lang="zh-CN" altLang="en-US" sz="1400" dirty="0"/>
          </a:p>
          <a:p>
            <a:r>
              <a:rPr lang="zh-CN" altLang="en-US" sz="1400" b="1" dirty="0"/>
              <a:t>原始短序列：</a:t>
            </a:r>
            <a:r>
              <a:rPr lang="zh-CN" altLang="en-US" sz="1400" dirty="0"/>
              <a:t> </a:t>
            </a:r>
            <a:r>
              <a:rPr lang="en-US" altLang="zh-CN" sz="1400" dirty="0"/>
              <a:t>[iPad Pro -&gt; _________ -&gt; </a:t>
            </a:r>
            <a:r>
              <a:rPr lang="zh-CN" altLang="en-US" sz="1400" dirty="0"/>
              <a:t>妙控键盘</a:t>
            </a:r>
            <a:r>
              <a:rPr lang="en-US" altLang="zh-CN" sz="1400" dirty="0"/>
              <a:t>]</a:t>
            </a:r>
            <a:r>
              <a:rPr lang="zh-CN" altLang="en-US" sz="1400" dirty="0"/>
              <a:t>（长度仅为 </a:t>
            </a:r>
            <a:r>
              <a:rPr lang="en-US" altLang="zh-CN" sz="1400" dirty="0"/>
              <a:t>2</a:t>
            </a:r>
            <a:r>
              <a:rPr lang="zh-CN" altLang="en-US" sz="1400" dirty="0"/>
              <a:t>）</a:t>
            </a:r>
          </a:p>
          <a:p>
            <a:r>
              <a:rPr lang="zh-CN" altLang="en-US" sz="1400" b="1" dirty="0"/>
              <a:t>插入操作：</a:t>
            </a:r>
            <a:r>
              <a:rPr lang="zh-CN" altLang="en-US" sz="1400" dirty="0"/>
              <a:t> 系统发现，买过这两样东西的人，大概率也会关注“</a:t>
            </a:r>
            <a:r>
              <a:rPr lang="en-US" altLang="zh-CN" sz="1400" dirty="0"/>
              <a:t>Apple Pencil</a:t>
            </a:r>
            <a:r>
              <a:rPr lang="zh-CN" altLang="en-US" sz="1400" dirty="0"/>
              <a:t>（触控笔）”。于是将其作为关联项插入。</a:t>
            </a:r>
          </a:p>
          <a:p>
            <a:r>
              <a:rPr lang="zh-CN" altLang="en-US" sz="1400" b="1" dirty="0"/>
              <a:t>增强后的视图：</a:t>
            </a:r>
            <a:r>
              <a:rPr lang="zh-CN" altLang="en-US" sz="1400" dirty="0"/>
              <a:t> </a:t>
            </a:r>
            <a:r>
              <a:rPr lang="en-US" altLang="zh-CN" sz="1400" dirty="0"/>
              <a:t>[iPad Pro -&gt; Apple Pencil -&gt; </a:t>
            </a:r>
            <a:r>
              <a:rPr lang="zh-CN" altLang="en-US" sz="1400" dirty="0"/>
              <a:t>妙控键盘</a:t>
            </a:r>
            <a:r>
              <a:rPr lang="en-US" altLang="zh-CN" sz="1400" dirty="0"/>
              <a:t>]</a:t>
            </a:r>
            <a:r>
              <a:rPr lang="zh-CN" altLang="en-US" sz="1400" dirty="0"/>
              <a:t>（长度扩充为 </a:t>
            </a:r>
            <a:r>
              <a:rPr lang="en-US" altLang="zh-CN" sz="1400" dirty="0"/>
              <a:t>3</a:t>
            </a:r>
            <a:r>
              <a:rPr lang="zh-CN" altLang="en-US" sz="1400" dirty="0"/>
              <a:t>）</a:t>
            </a:r>
            <a:endParaRPr lang="en-US" altLang="zh-CN" sz="1400" dirty="0"/>
          </a:p>
          <a:p>
            <a:endParaRPr lang="zh-CN" altLang="en-US" sz="1400" dirty="0"/>
          </a:p>
          <a:p>
            <a:r>
              <a:rPr lang="en-US" altLang="zh-CN" sz="1400" b="1" dirty="0"/>
              <a:t>3. </a:t>
            </a:r>
            <a:r>
              <a:rPr lang="zh-CN" altLang="en-US" sz="1400" b="1" dirty="0"/>
              <a:t>核心优势</a:t>
            </a:r>
            <a:endParaRPr lang="zh-CN" altLang="en-US" sz="1400" dirty="0"/>
          </a:p>
          <a:p>
            <a:r>
              <a:rPr lang="zh-CN" altLang="en-US" sz="1400" b="1" dirty="0"/>
              <a:t>直接破解冷启动：</a:t>
            </a:r>
            <a:r>
              <a:rPr lang="zh-CN" altLang="en-US" sz="1400" dirty="0"/>
              <a:t> 对于极度稀疏的长尾用户，插入操作直接</a:t>
            </a:r>
            <a:r>
              <a:rPr lang="zh-CN" altLang="en-US" sz="1400" b="1" dirty="0"/>
              <a:t>物理增加了序列的长度</a:t>
            </a:r>
            <a:r>
              <a:rPr lang="zh-CN" altLang="en-US" sz="1400" dirty="0"/>
              <a:t>。它相当于利用全局的群体智慧（其他用户的共现行为），来帮当前用户“脑补”出一条更完整的兴趣演变路径。</a:t>
            </a:r>
          </a:p>
          <a:p>
            <a:r>
              <a:rPr lang="zh-CN" altLang="en-US" sz="1400" b="1" dirty="0"/>
              <a:t>增强时序连贯性：</a:t>
            </a:r>
            <a:r>
              <a:rPr lang="zh-CN" altLang="en-US" sz="1400" dirty="0"/>
              <a:t> 插入的不是随机噪声，而是符合逻辑的过渡物品，这使得 </a:t>
            </a:r>
            <a:r>
              <a:rPr lang="en-US" altLang="zh-CN" sz="1400" dirty="0"/>
              <a:t>Transformer </a:t>
            </a:r>
            <a:r>
              <a:rPr lang="zh-CN" altLang="en-US" sz="1400" dirty="0"/>
              <a:t>编码器能更好地学习到物品间“</a:t>
            </a:r>
            <a:r>
              <a:rPr lang="en-US" altLang="zh-CN" sz="1400" dirty="0"/>
              <a:t>A -&gt; B -&gt; C”</a:t>
            </a:r>
            <a:r>
              <a:rPr lang="zh-CN" altLang="en-US" sz="1400" dirty="0"/>
              <a:t>的顺滑转移模式。</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53985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p:cNvSpPr txBox="1"/>
          <p:nvPr/>
        </p:nvSpPr>
        <p:spPr>
          <a:xfrm>
            <a:off x="11492187" y="6409396"/>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pic>
        <p:nvPicPr>
          <p:cNvPr id="4" name="图片 3">
            <a:extLst>
              <a:ext uri="{FF2B5EF4-FFF2-40B4-BE49-F238E27FC236}">
                <a16:creationId xmlns:a16="http://schemas.microsoft.com/office/drawing/2014/main" id="{893C4C9F-34E0-991F-14FA-047C24A2BE86}"/>
              </a:ext>
            </a:extLst>
          </p:cNvPr>
          <p:cNvPicPr>
            <a:picLocks noChangeAspect="1"/>
          </p:cNvPicPr>
          <p:nvPr/>
        </p:nvPicPr>
        <p:blipFill>
          <a:blip r:embed="rId2"/>
          <a:stretch>
            <a:fillRect/>
          </a:stretch>
        </p:blipFill>
        <p:spPr>
          <a:xfrm>
            <a:off x="6555781" y="1329284"/>
            <a:ext cx="4389500" cy="4554107"/>
          </a:xfrm>
          <a:prstGeom prst="rect">
            <a:avLst/>
          </a:prstGeom>
        </p:spPr>
      </p:pic>
      <p:sp>
        <p:nvSpPr>
          <p:cNvPr id="6" name="文本框 5">
            <a:extLst>
              <a:ext uri="{FF2B5EF4-FFF2-40B4-BE49-F238E27FC236}">
                <a16:creationId xmlns:a16="http://schemas.microsoft.com/office/drawing/2014/main" id="{64C6084B-5BFE-8BA7-4C44-BB62D2EA0087}"/>
              </a:ext>
            </a:extLst>
          </p:cNvPr>
          <p:cNvSpPr txBox="1"/>
          <p:nvPr/>
        </p:nvSpPr>
        <p:spPr>
          <a:xfrm>
            <a:off x="396316" y="1596675"/>
            <a:ext cx="5439219" cy="3539430"/>
          </a:xfrm>
          <a:prstGeom prst="rect">
            <a:avLst/>
          </a:prstGeom>
          <a:noFill/>
        </p:spPr>
        <p:txBody>
          <a:bodyPr wrap="square" rtlCol="0">
            <a:spAutoFit/>
          </a:bodyPr>
          <a:lstStyle/>
          <a:p>
            <a:r>
              <a:rPr lang="zh-CN" altLang="en-US" sz="1600" dirty="0"/>
              <a:t>在对比自监督学习模块中，正样本对的具体构造流程如下：针对包含 </a:t>
            </a:r>
            <a:r>
              <a:rPr lang="en-US" altLang="zh-CN" sz="1600" dirty="0"/>
              <a:t>N </a:t>
            </a:r>
            <a:r>
              <a:rPr lang="zh-CN" altLang="en-US" sz="1600" dirty="0"/>
              <a:t>个序列的 </a:t>
            </a:r>
            <a:r>
              <a:rPr lang="en-US" altLang="zh-CN" sz="1600" dirty="0"/>
              <a:t>mini-batch</a:t>
            </a:r>
            <a:r>
              <a:rPr lang="zh-CN" altLang="en-US" sz="1600" dirty="0"/>
              <a:t>，数据增强模块会为每一个原始序列 </a:t>
            </a:r>
            <a:r>
              <a:rPr lang="en-US" altLang="zh-CN" sz="1600" dirty="0" err="1"/>
              <a:t>s_u</a:t>
            </a:r>
            <a:r>
              <a:rPr lang="en-US" altLang="zh-CN" sz="1600" dirty="0"/>
              <a:t> </a:t>
            </a:r>
            <a:r>
              <a:rPr lang="zh-CN" altLang="en-US" sz="1600" dirty="0"/>
              <a:t>采样并应用两种增强操作，使其变换并生成 </a:t>
            </a:r>
            <a:r>
              <a:rPr lang="en-US" altLang="zh-CN" sz="1600" dirty="0"/>
              <a:t>2N </a:t>
            </a:r>
            <a:r>
              <a:rPr lang="zh-CN" altLang="en-US" sz="1600" dirty="0"/>
              <a:t>个增强视图 。其中，由同一个原始序列 </a:t>
            </a:r>
            <a:r>
              <a:rPr lang="en-US" altLang="zh-CN" sz="1600" dirty="0" err="1"/>
              <a:t>s_u</a:t>
            </a:r>
            <a:r>
              <a:rPr lang="en-US" altLang="zh-CN" sz="1600" dirty="0"/>
              <a:t> </a:t>
            </a:r>
            <a:r>
              <a:rPr lang="zh-CN" altLang="en-US" sz="1600" dirty="0"/>
              <a:t>衍生出的两个增强视图（记为 </a:t>
            </a:r>
            <a:r>
              <a:rPr lang="en-US" altLang="zh-CN" sz="1600" dirty="0"/>
              <a:t>s̃_{2u-1}</a:t>
            </a:r>
            <a:r>
              <a:rPr lang="zh-CN" altLang="en-US" sz="1600" dirty="0"/>
              <a:t>和</a:t>
            </a:r>
            <a:r>
              <a:rPr lang="en-US" altLang="zh-CN" sz="1600" dirty="0"/>
              <a:t> s̃_{2u})</a:t>
            </a:r>
            <a:r>
              <a:rPr lang="zh-CN" altLang="en-US" sz="1600" dirty="0"/>
              <a:t>被组合成一个正样本对 。而在同一个批次中，来自其他序列的 </a:t>
            </a:r>
            <a:r>
              <a:rPr lang="en-US" altLang="zh-CN" sz="1600" dirty="0"/>
              <a:t>2(N-1)</a:t>
            </a:r>
            <a:r>
              <a:rPr lang="zh-CN" altLang="en-US" sz="1600" dirty="0"/>
              <a:t>个增强视图则全部被视作负样本 。随后，这些视图会输入到共享参数的</a:t>
            </a:r>
            <a:r>
              <a:rPr lang="en-US" altLang="zh-CN" sz="1600" dirty="0"/>
              <a:t>Transformer</a:t>
            </a:r>
            <a:r>
              <a:rPr lang="zh-CN" altLang="en-US" sz="1600" dirty="0"/>
              <a:t>编码器中提取出单一的序列级表示向量，进而在表示空间内计算视图间的相似度，并利用</a:t>
            </a:r>
            <a:r>
              <a:rPr lang="en-US" altLang="zh-CN" sz="1600" dirty="0"/>
              <a:t>NT-</a:t>
            </a:r>
            <a:r>
              <a:rPr lang="en-US" altLang="zh-CN" sz="1600" dirty="0" err="1"/>
              <a:t>Xent</a:t>
            </a:r>
            <a:r>
              <a:rPr lang="zh-CN" altLang="en-US" sz="1600" dirty="0"/>
              <a:t>损失最大化正样本对之间的一致性</a:t>
            </a:r>
            <a:endParaRPr lang="en-US" altLang="zh-CN" sz="1600" dirty="0"/>
          </a:p>
          <a:p>
            <a:endParaRPr lang="en-US" altLang="zh-CN" sz="1600" dirty="0"/>
          </a:p>
          <a:p>
            <a:endParaRPr lang="en-US" altLang="zh-CN" sz="1600" dirty="0"/>
          </a:p>
          <a:p>
            <a:endParaRPr lang="en-US" altLang="zh-CN" sz="1600" dirty="0"/>
          </a:p>
          <a:p>
            <a:r>
              <a:rPr lang="zh-CN" altLang="en-US" sz="1600" dirty="0"/>
              <a:t>构建样本对后进行</a:t>
            </a:r>
            <a:r>
              <a:rPr lang="en-US" altLang="zh-CN" sz="1600" dirty="0"/>
              <a:t>NT-</a:t>
            </a:r>
            <a:r>
              <a:rPr lang="en-US" altLang="zh-CN" sz="1600" dirty="0" err="1"/>
              <a:t>Xent</a:t>
            </a:r>
            <a:r>
              <a:rPr lang="zh-CN" altLang="en-US" sz="1600" dirty="0"/>
              <a:t>损失函数计算：</a:t>
            </a:r>
          </a:p>
        </p:txBody>
      </p:sp>
      <p:sp>
        <p:nvSpPr>
          <p:cNvPr id="7" name="文本框 6">
            <a:extLst>
              <a:ext uri="{FF2B5EF4-FFF2-40B4-BE49-F238E27FC236}">
                <a16:creationId xmlns:a16="http://schemas.microsoft.com/office/drawing/2014/main" id="{93FA68A1-F469-C173-6FBF-5618D89C6B0F}"/>
              </a:ext>
            </a:extLst>
          </p:cNvPr>
          <p:cNvSpPr txBox="1"/>
          <p:nvPr/>
        </p:nvSpPr>
        <p:spPr>
          <a:xfrm>
            <a:off x="559723" y="1158468"/>
            <a:ext cx="2937164"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对比自监督学习目标</a:t>
            </a:r>
          </a:p>
        </p:txBody>
      </p:sp>
      <p:pic>
        <p:nvPicPr>
          <p:cNvPr id="11" name="图片 10">
            <a:extLst>
              <a:ext uri="{FF2B5EF4-FFF2-40B4-BE49-F238E27FC236}">
                <a16:creationId xmlns:a16="http://schemas.microsoft.com/office/drawing/2014/main" id="{B635A9AE-BABC-53CD-DBA4-886245ACB6C2}"/>
              </a:ext>
            </a:extLst>
          </p:cNvPr>
          <p:cNvPicPr>
            <a:picLocks noChangeAspect="1"/>
          </p:cNvPicPr>
          <p:nvPr/>
        </p:nvPicPr>
        <p:blipFill>
          <a:blip r:embed="rId3"/>
          <a:stretch>
            <a:fillRect/>
          </a:stretch>
        </p:blipFill>
        <p:spPr>
          <a:xfrm>
            <a:off x="396316" y="5106376"/>
            <a:ext cx="5511262" cy="8961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24B19-C4DA-E88C-5AB1-F9D82C90894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72088A42-2ED1-4A69-F1DE-A15C85D59A4B}"/>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5A713131-3B3B-7D7C-C2A0-FFB390B72AAF}"/>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C14C7354-62F5-1E51-37A2-3B3F1279056F}"/>
              </a:ext>
            </a:extLst>
          </p:cNvPr>
          <p:cNvSpPr txBox="1"/>
          <p:nvPr/>
        </p:nvSpPr>
        <p:spPr>
          <a:xfrm>
            <a:off x="404552" y="1124719"/>
            <a:ext cx="3358343"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kumimoji="0" lang="en-US" altLang="zh-CN"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NT-</a:t>
            </a:r>
            <a:r>
              <a:rPr kumimoji="0" lang="en-US" altLang="zh-CN" sz="1800" b="1" i="0" u="none" strike="noStrike" kern="1200" cap="none" spc="0" normalizeH="0" baseline="0" noProof="0" dirty="0" err="1">
                <a:ln>
                  <a:noFill/>
                </a:ln>
                <a:solidFill>
                  <a:srgbClr val="1898B8"/>
                </a:solidFill>
                <a:effectLst/>
                <a:uLnTx/>
                <a:uFillTx/>
                <a:latin typeface="微软雅黑" panose="020B0503020204020204" pitchFamily="34" charset="-122"/>
                <a:ea typeface="微软雅黑" panose="020B0503020204020204" pitchFamily="34" charset="-122"/>
                <a:cs typeface="+mn-cs"/>
              </a:rPr>
              <a:t>Xent</a:t>
            </a:r>
            <a:r>
              <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损失函数的详细解读</a:t>
            </a:r>
          </a:p>
        </p:txBody>
      </p:sp>
      <p:sp>
        <p:nvSpPr>
          <p:cNvPr id="8" name="文本框 7">
            <a:extLst>
              <a:ext uri="{FF2B5EF4-FFF2-40B4-BE49-F238E27FC236}">
                <a16:creationId xmlns:a16="http://schemas.microsoft.com/office/drawing/2014/main" id="{11758F14-2630-0047-783C-6D0FE2EF9F34}"/>
              </a:ext>
            </a:extLst>
          </p:cNvPr>
          <p:cNvSpPr txBox="1"/>
          <p:nvPr/>
        </p:nvSpPr>
        <p:spPr>
          <a:xfrm>
            <a:off x="404551" y="3138597"/>
            <a:ext cx="5979623" cy="2339102"/>
          </a:xfrm>
          <a:prstGeom prst="rect">
            <a:avLst/>
          </a:prstGeom>
          <a:noFill/>
        </p:spPr>
        <p:txBody>
          <a:bodyPr wrap="square" rtlCol="0">
            <a:spAutoFit/>
          </a:bodyPr>
          <a:lstStyle/>
          <a:p>
            <a:r>
              <a:rPr lang="zh-CN" altLang="en-US" sz="1600" b="1" dirty="0"/>
              <a:t>分子</a:t>
            </a:r>
            <a:r>
              <a:rPr lang="zh-CN" altLang="en-US" sz="1600" dirty="0"/>
              <a:t>：正样本对的相似度得分取指数。</a:t>
            </a:r>
            <a:r>
              <a:rPr lang="en-US" altLang="zh-CN" sz="1600" dirty="0"/>
              <a:t>sim(·)</a:t>
            </a:r>
            <a:r>
              <a:rPr lang="zh-CN" altLang="en-US" sz="1600" dirty="0"/>
              <a:t>是点积，衡量两个增强视图的表示有多接近。我们希望这个值尽可能大。</a:t>
            </a:r>
          </a:p>
          <a:p>
            <a:r>
              <a:rPr lang="zh-CN" altLang="en-US" sz="1600" b="1" dirty="0"/>
              <a:t>分母 </a:t>
            </a:r>
            <a:r>
              <a:rPr lang="zh-CN" altLang="en-US" sz="1600" dirty="0"/>
              <a:t>：当前视图与所有其他视图（包括正样本和负样本）的相似度得分之和。指示函数 𝟙</a:t>
            </a:r>
            <a:r>
              <a:rPr lang="en-US" altLang="zh-CN" sz="1600" dirty="0"/>
              <a:t>(m≠2u-1) </a:t>
            </a:r>
            <a:r>
              <a:rPr lang="zh-CN" altLang="en-US" sz="1600" dirty="0"/>
              <a:t>排除了自身，所以求和范围是</a:t>
            </a:r>
            <a:r>
              <a:rPr lang="en-US" altLang="zh-CN" sz="1600" dirty="0"/>
              <a:t>2N-1</a:t>
            </a:r>
            <a:r>
              <a:rPr lang="zh-CN" altLang="en-US" sz="1600" dirty="0"/>
              <a:t>个视图。</a:t>
            </a:r>
          </a:p>
          <a:p>
            <a:r>
              <a:rPr lang="zh-CN" altLang="en-US" sz="1600" b="1" dirty="0"/>
              <a:t>整体形式 </a:t>
            </a:r>
            <a:r>
              <a:rPr lang="zh-CN" altLang="en-US" sz="1600" dirty="0"/>
              <a:t>：是一个</a:t>
            </a:r>
            <a:r>
              <a:rPr lang="en-US" altLang="zh-CN" sz="1600" dirty="0" err="1"/>
              <a:t>softmax</a:t>
            </a:r>
            <a:r>
              <a:rPr lang="zh-CN" altLang="en-US" sz="1600" dirty="0"/>
              <a:t>交叉熵的形式。可以理解为一个</a:t>
            </a:r>
            <a:r>
              <a:rPr lang="en-US" altLang="zh-CN" sz="1600" dirty="0"/>
              <a:t>2N-1</a:t>
            </a:r>
            <a:r>
              <a:rPr lang="zh-CN" altLang="en-US" sz="1600" dirty="0"/>
              <a:t>路的分类任务</a:t>
            </a:r>
            <a:r>
              <a:rPr lang="en-US" altLang="zh-CN" sz="1600" dirty="0"/>
              <a:t>——</a:t>
            </a:r>
            <a:r>
              <a:rPr lang="zh-CN" altLang="en-US" sz="1600" dirty="0"/>
              <a:t>给定 </a:t>
            </a:r>
            <a:r>
              <a:rPr lang="en-US" altLang="zh-CN" sz="1600" dirty="0"/>
              <a:t>h̃₂ᵤ₋₁</a:t>
            </a:r>
            <a:r>
              <a:rPr lang="zh-CN" altLang="en-US" sz="1600" dirty="0"/>
              <a:t>，在其余</a:t>
            </a:r>
            <a:r>
              <a:rPr lang="en-US" altLang="zh-CN" sz="1600" dirty="0"/>
              <a:t>2N-1</a:t>
            </a:r>
            <a:r>
              <a:rPr lang="zh-CN" altLang="en-US" sz="1600" dirty="0"/>
              <a:t>个视图中，模型要把正样本 </a:t>
            </a:r>
            <a:r>
              <a:rPr lang="en-US" altLang="zh-CN" sz="1600" dirty="0"/>
              <a:t>h̃₂ᵤ "</a:t>
            </a:r>
            <a:r>
              <a:rPr lang="zh-CN" altLang="en-US" sz="1600" dirty="0"/>
              <a:t>识别</a:t>
            </a:r>
            <a:r>
              <a:rPr lang="en-US" altLang="zh-CN" sz="1600" dirty="0"/>
              <a:t>"</a:t>
            </a:r>
            <a:r>
              <a:rPr lang="zh-CN" altLang="en-US" sz="1600" dirty="0"/>
              <a:t>出来。</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pic>
        <p:nvPicPr>
          <p:cNvPr id="4" name="图片 3">
            <a:extLst>
              <a:ext uri="{FF2B5EF4-FFF2-40B4-BE49-F238E27FC236}">
                <a16:creationId xmlns:a16="http://schemas.microsoft.com/office/drawing/2014/main" id="{C0A9011F-BF15-699B-09DB-5E4F3CBAEC27}"/>
              </a:ext>
            </a:extLst>
          </p:cNvPr>
          <p:cNvPicPr>
            <a:picLocks noChangeAspect="1"/>
          </p:cNvPicPr>
          <p:nvPr/>
        </p:nvPicPr>
        <p:blipFill>
          <a:blip r:embed="rId2"/>
          <a:stretch>
            <a:fillRect/>
          </a:stretch>
        </p:blipFill>
        <p:spPr>
          <a:xfrm>
            <a:off x="248831" y="1734820"/>
            <a:ext cx="6992882" cy="1180176"/>
          </a:xfrm>
          <a:prstGeom prst="rect">
            <a:avLst/>
          </a:prstGeom>
        </p:spPr>
      </p:pic>
      <p:sp>
        <p:nvSpPr>
          <p:cNvPr id="6" name="文本框 5">
            <a:extLst>
              <a:ext uri="{FF2B5EF4-FFF2-40B4-BE49-F238E27FC236}">
                <a16:creationId xmlns:a16="http://schemas.microsoft.com/office/drawing/2014/main" id="{5FE6F759-5819-6784-A3FB-82F728798EC6}"/>
              </a:ext>
            </a:extLst>
          </p:cNvPr>
          <p:cNvSpPr txBox="1"/>
          <p:nvPr/>
        </p:nvSpPr>
        <p:spPr>
          <a:xfrm>
            <a:off x="7891686" y="1908477"/>
            <a:ext cx="3895763" cy="2308324"/>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当正样本对的相似度远高于所有负样本对时，分子接近分母，比值接近</a:t>
            </a:r>
            <a:r>
              <a:rPr lang="en-US" altLang="zh-CN" dirty="0">
                <a:solidFill>
                  <a:srgbClr val="000000"/>
                </a:solidFill>
                <a:latin typeface="Calibri"/>
                <a:ea typeface="微软雅黑" panose="020B0503020204020204" pitchFamily="34" charset="-122"/>
              </a:rPr>
              <a:t>1</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-log</a:t>
            </a:r>
            <a:r>
              <a:rPr lang="zh-CN" altLang="en-US" dirty="0">
                <a:solidFill>
                  <a:srgbClr val="000000"/>
                </a:solidFill>
                <a:latin typeface="Calibri"/>
                <a:ea typeface="微软雅黑" panose="020B0503020204020204" pitchFamily="34" charset="-122"/>
              </a:rPr>
              <a:t>接近</a:t>
            </a:r>
            <a:r>
              <a:rPr lang="en-US" altLang="zh-CN" dirty="0">
                <a:solidFill>
                  <a:srgbClr val="000000"/>
                </a:solidFill>
                <a:latin typeface="Calibri"/>
                <a:ea typeface="微软雅黑" panose="020B0503020204020204" pitchFamily="34" charset="-122"/>
              </a:rPr>
              <a:t>0</a:t>
            </a:r>
            <a:r>
              <a:rPr lang="zh-CN" altLang="en-US" dirty="0">
                <a:solidFill>
                  <a:srgbClr val="000000"/>
                </a:solidFill>
                <a:latin typeface="Calibri"/>
                <a:ea typeface="微软雅黑" panose="020B0503020204020204" pitchFamily="34" charset="-122"/>
              </a:rPr>
              <a:t>，损失很小。反之，如果正样本的相似度和负样本差不多甚至更低，损失就会很大。优化这个损失等价于让编码器学会把同一用户的不同增强视图映射到表示空间中相近的位置，同时推开不同用户的表示</a:t>
            </a:r>
          </a:p>
        </p:txBody>
      </p:sp>
    </p:spTree>
    <p:extLst>
      <p:ext uri="{BB962C8B-B14F-4D97-AF65-F5344CB8AC3E}">
        <p14:creationId xmlns:p14="http://schemas.microsoft.com/office/powerpoint/2010/main" val="395399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8"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0CD9A-4C50-5B43-CF38-F24EFA2545B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D044B78E-E8A1-4436-58E2-F1C729B15638}"/>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C10F49B2-BC3F-7558-70BC-2A0C55D65E75}"/>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FD4CF87D-440A-4524-C091-4BF51CF43CB7}"/>
              </a:ext>
            </a:extLst>
          </p:cNvPr>
          <p:cNvSpPr txBox="1"/>
          <p:nvPr/>
        </p:nvSpPr>
        <p:spPr>
          <a:xfrm>
            <a:off x="459970" y="1143041"/>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多任务联合训练</a:t>
            </a:r>
          </a:p>
        </p:txBody>
      </p:sp>
      <p:pic>
        <p:nvPicPr>
          <p:cNvPr id="7" name="图片 6">
            <a:extLst>
              <a:ext uri="{FF2B5EF4-FFF2-40B4-BE49-F238E27FC236}">
                <a16:creationId xmlns:a16="http://schemas.microsoft.com/office/drawing/2014/main" id="{E236C751-1909-27B0-51D5-33D170C1CEDF}"/>
              </a:ext>
            </a:extLst>
          </p:cNvPr>
          <p:cNvPicPr>
            <a:picLocks noChangeAspect="1"/>
          </p:cNvPicPr>
          <p:nvPr/>
        </p:nvPicPr>
        <p:blipFill>
          <a:blip r:embed="rId2"/>
          <a:stretch>
            <a:fillRect/>
          </a:stretch>
        </p:blipFill>
        <p:spPr>
          <a:xfrm>
            <a:off x="404552" y="1750390"/>
            <a:ext cx="5627096" cy="810838"/>
          </a:xfrm>
          <a:prstGeom prst="rect">
            <a:avLst/>
          </a:prstGeom>
        </p:spPr>
      </p:pic>
      <p:sp>
        <p:nvSpPr>
          <p:cNvPr id="9" name="文本框 8">
            <a:extLst>
              <a:ext uri="{FF2B5EF4-FFF2-40B4-BE49-F238E27FC236}">
                <a16:creationId xmlns:a16="http://schemas.microsoft.com/office/drawing/2014/main" id="{7A6E9892-17A3-8A4F-3A50-687877015A0C}"/>
              </a:ext>
            </a:extLst>
          </p:cNvPr>
          <p:cNvSpPr txBox="1"/>
          <p:nvPr/>
        </p:nvSpPr>
        <p:spPr>
          <a:xfrm>
            <a:off x="509601" y="2667930"/>
            <a:ext cx="7574680" cy="2246769"/>
          </a:xfrm>
          <a:prstGeom prst="rect">
            <a:avLst/>
          </a:prstGeom>
          <a:noFill/>
        </p:spPr>
        <p:txBody>
          <a:bodyPr wrap="square" rtlCol="0">
            <a:spAutoFit/>
          </a:bodyPr>
          <a:lstStyle/>
          <a:p>
            <a:pPr defTabSz="914400"/>
            <a:r>
              <a:rPr lang="en-US" altLang="zh-CN" sz="2000" dirty="0" err="1">
                <a:solidFill>
                  <a:srgbClr val="000000"/>
                </a:solidFill>
                <a:latin typeface="Calibri"/>
                <a:ea typeface="微软雅黑" panose="020B0503020204020204" pitchFamily="34" charset="-122"/>
              </a:rPr>
              <a:t>Lrec</a:t>
            </a:r>
            <a:r>
              <a:rPr lang="en-US" altLang="zh-CN" sz="2000" dirty="0">
                <a:solidFill>
                  <a:srgbClr val="000000"/>
                </a:solidFill>
                <a:latin typeface="Calibri"/>
                <a:ea typeface="微软雅黑" panose="020B0503020204020204" pitchFamily="34" charset="-122"/>
              </a:rPr>
              <a:t> </a:t>
            </a:r>
            <a:r>
              <a:rPr lang="zh-CN" altLang="en-US" sz="2000" dirty="0">
                <a:solidFill>
                  <a:srgbClr val="000000"/>
                </a:solidFill>
                <a:latin typeface="Calibri"/>
                <a:ea typeface="微软雅黑" panose="020B0503020204020204" pitchFamily="34" charset="-122"/>
              </a:rPr>
              <a:t>直接优化</a:t>
            </a:r>
            <a:r>
              <a:rPr lang="en-US" altLang="zh-CN" sz="2000" dirty="0">
                <a:solidFill>
                  <a:srgbClr val="000000"/>
                </a:solidFill>
                <a:latin typeface="Calibri"/>
                <a:ea typeface="微软雅黑" panose="020B0503020204020204" pitchFamily="34" charset="-122"/>
              </a:rPr>
              <a:t>"</a:t>
            </a:r>
            <a:r>
              <a:rPr lang="zh-CN" altLang="en-US" sz="2000" dirty="0">
                <a:solidFill>
                  <a:srgbClr val="000000"/>
                </a:solidFill>
                <a:latin typeface="Calibri"/>
                <a:ea typeface="微软雅黑" panose="020B0503020204020204" pitchFamily="34" charset="-122"/>
              </a:rPr>
              <a:t>预测下一个物品</a:t>
            </a:r>
            <a:r>
              <a:rPr lang="en-US" altLang="zh-CN" sz="2000" dirty="0">
                <a:solidFill>
                  <a:srgbClr val="000000"/>
                </a:solidFill>
                <a:latin typeface="Calibri"/>
                <a:ea typeface="微软雅黑" panose="020B0503020204020204" pitchFamily="34" charset="-122"/>
              </a:rPr>
              <a:t>"</a:t>
            </a:r>
            <a:r>
              <a:rPr lang="zh-CN" altLang="en-US" sz="2000" dirty="0">
                <a:solidFill>
                  <a:srgbClr val="000000"/>
                </a:solidFill>
                <a:latin typeface="Calibri"/>
                <a:ea typeface="微软雅黑" panose="020B0503020204020204" pitchFamily="34" charset="-122"/>
              </a:rPr>
              <a:t>这个任务目标，但它只能从有标签的序列中学习。</a:t>
            </a:r>
            <a:endParaRPr lang="en-US" altLang="zh-CN" sz="2000" dirty="0">
              <a:solidFill>
                <a:srgbClr val="000000"/>
              </a:solidFill>
              <a:latin typeface="Calibri"/>
              <a:ea typeface="微软雅黑" panose="020B0503020204020204" pitchFamily="34" charset="-122"/>
            </a:endParaRPr>
          </a:p>
          <a:p>
            <a:pPr defTabSz="914400"/>
            <a:r>
              <a:rPr lang="en-US" altLang="zh-CN" sz="2000" dirty="0" err="1">
                <a:solidFill>
                  <a:srgbClr val="000000"/>
                </a:solidFill>
                <a:latin typeface="Calibri"/>
                <a:ea typeface="微软雅黑" panose="020B0503020204020204" pitchFamily="34" charset="-122"/>
              </a:rPr>
              <a:t>Lssl</a:t>
            </a:r>
            <a:r>
              <a:rPr lang="en-US" altLang="zh-CN" sz="2000" dirty="0">
                <a:solidFill>
                  <a:srgbClr val="000000"/>
                </a:solidFill>
                <a:latin typeface="Calibri"/>
                <a:ea typeface="微软雅黑" panose="020B0503020204020204" pitchFamily="34" charset="-122"/>
              </a:rPr>
              <a:t> </a:t>
            </a:r>
            <a:r>
              <a:rPr lang="zh-CN" altLang="en-US" sz="2000" dirty="0">
                <a:solidFill>
                  <a:srgbClr val="000000"/>
                </a:solidFill>
                <a:latin typeface="Calibri"/>
                <a:ea typeface="微软雅黑" panose="020B0503020204020204" pitchFamily="34" charset="-122"/>
              </a:rPr>
              <a:t>从无标签的增强视图中提取监督信号，让编码器学会捕捉序列的本质结构，即使在数据稀疏的情况下也能获得有意义的梯度。两者联合训练时，对比学习相当于给编码器提供了一种正则化</a:t>
            </a:r>
            <a:r>
              <a:rPr lang="en-US" altLang="zh-CN" sz="2000" dirty="0">
                <a:solidFill>
                  <a:srgbClr val="000000"/>
                </a:solidFill>
                <a:latin typeface="Calibri"/>
                <a:ea typeface="微软雅黑" panose="020B0503020204020204" pitchFamily="34" charset="-122"/>
              </a:rPr>
              <a:t>——</a:t>
            </a:r>
            <a:r>
              <a:rPr lang="zh-CN" altLang="en-US" sz="2000" dirty="0">
                <a:solidFill>
                  <a:srgbClr val="000000"/>
                </a:solidFill>
                <a:latin typeface="Calibri"/>
                <a:ea typeface="微软雅黑" panose="020B0503020204020204" pitchFamily="34" charset="-122"/>
              </a:rPr>
              <a:t>它不仅要预测准下一个物品，还要确保学到的表示具有对增强操作的不变性。</a:t>
            </a:r>
          </a:p>
        </p:txBody>
      </p:sp>
    </p:spTree>
    <p:extLst>
      <p:ext uri="{BB962C8B-B14F-4D97-AF65-F5344CB8AC3E}">
        <p14:creationId xmlns:p14="http://schemas.microsoft.com/office/powerpoint/2010/main" val="170108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ppt_x"/>
                                          </p:val>
                                        </p:tav>
                                        <p:tav tm="100000">
                                          <p:val>
                                            <p:strVal val="#ppt_x"/>
                                          </p:val>
                                        </p:tav>
                                      </p:tavLst>
                                    </p:anim>
                                    <p:anim calcmode="lin" valueType="num">
                                      <p:cBhvr additive="base">
                                        <p:cTn id="1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3A2F1-75C4-A318-A01D-BCF8848A963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AB82A64B-7BF7-8053-2370-C11985012B8A}"/>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5EE34C2A-94A7-1881-E0D1-8092DCB39B28}"/>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9ADB894B-C45B-478F-64B4-99C8F3F6EA31}"/>
              </a:ext>
            </a:extLst>
          </p:cNvPr>
          <p:cNvSpPr txBox="1"/>
          <p:nvPr/>
        </p:nvSpPr>
        <p:spPr>
          <a:xfrm>
            <a:off x="670561" y="1042044"/>
            <a:ext cx="3308466"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b="1" dirty="0">
                <a:solidFill>
                  <a:srgbClr val="1898B8"/>
                </a:solidFill>
                <a:latin typeface="微软雅黑" panose="020B0503020204020204" pitchFamily="34" charset="-122"/>
                <a:ea typeface="微软雅黑" panose="020B0503020204020204" pitchFamily="34" charset="-122"/>
              </a:rPr>
              <a:t>整体性能比较</a:t>
            </a:r>
            <a:endPar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 name="表格 1">
            <a:extLst>
              <a:ext uri="{FF2B5EF4-FFF2-40B4-BE49-F238E27FC236}">
                <a16:creationId xmlns:a16="http://schemas.microsoft.com/office/drawing/2014/main" id="{1FD4E823-DF84-E4D1-40EA-A7A71990265E}"/>
              </a:ext>
            </a:extLst>
          </p:cNvPr>
          <p:cNvGraphicFramePr>
            <a:graphicFrameLocks noGrp="1"/>
          </p:cNvGraphicFramePr>
          <p:nvPr>
            <p:extLst>
              <p:ext uri="{D42A27DB-BD31-4B8C-83A1-F6EECF244321}">
                <p14:modId xmlns:p14="http://schemas.microsoft.com/office/powerpoint/2010/main" val="1217351133"/>
              </p:ext>
            </p:extLst>
          </p:nvPr>
        </p:nvGraphicFramePr>
        <p:xfrm>
          <a:off x="718617" y="1484398"/>
          <a:ext cx="7444480" cy="4924993"/>
        </p:xfrm>
        <a:graphic>
          <a:graphicData uri="http://schemas.openxmlformats.org/drawingml/2006/table">
            <a:tbl>
              <a:tblPr firstRow="1" bandRow="1"/>
              <a:tblGrid>
                <a:gridCol w="1029891">
                  <a:extLst>
                    <a:ext uri="{9D8B030D-6E8A-4147-A177-3AD203B41FA5}">
                      <a16:colId xmlns:a16="http://schemas.microsoft.com/office/drawing/2014/main" val="2459909641"/>
                    </a:ext>
                  </a:extLst>
                </a:gridCol>
                <a:gridCol w="1141425">
                  <a:extLst>
                    <a:ext uri="{9D8B030D-6E8A-4147-A177-3AD203B41FA5}">
                      <a16:colId xmlns:a16="http://schemas.microsoft.com/office/drawing/2014/main" val="3269074880"/>
                    </a:ext>
                  </a:extLst>
                </a:gridCol>
                <a:gridCol w="918356">
                  <a:extLst>
                    <a:ext uri="{9D8B030D-6E8A-4147-A177-3AD203B41FA5}">
                      <a16:colId xmlns:a16="http://schemas.microsoft.com/office/drawing/2014/main" val="3023269130"/>
                    </a:ext>
                  </a:extLst>
                </a:gridCol>
                <a:gridCol w="1029891">
                  <a:extLst>
                    <a:ext uri="{9D8B030D-6E8A-4147-A177-3AD203B41FA5}">
                      <a16:colId xmlns:a16="http://schemas.microsoft.com/office/drawing/2014/main" val="3420755490"/>
                    </a:ext>
                  </a:extLst>
                </a:gridCol>
                <a:gridCol w="1029891">
                  <a:extLst>
                    <a:ext uri="{9D8B030D-6E8A-4147-A177-3AD203B41FA5}">
                      <a16:colId xmlns:a16="http://schemas.microsoft.com/office/drawing/2014/main" val="31905039"/>
                    </a:ext>
                  </a:extLst>
                </a:gridCol>
                <a:gridCol w="1029891">
                  <a:extLst>
                    <a:ext uri="{9D8B030D-6E8A-4147-A177-3AD203B41FA5}">
                      <a16:colId xmlns:a16="http://schemas.microsoft.com/office/drawing/2014/main" val="1053030866"/>
                    </a:ext>
                  </a:extLst>
                </a:gridCol>
                <a:gridCol w="1265135">
                  <a:extLst>
                    <a:ext uri="{9D8B030D-6E8A-4147-A177-3AD203B41FA5}">
                      <a16:colId xmlns:a16="http://schemas.microsoft.com/office/drawing/2014/main" val="3172927504"/>
                    </a:ext>
                  </a:extLst>
                </a:gridCol>
              </a:tblGrid>
              <a:tr h="41907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dataset</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Metric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BPR</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Caser</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S3-Rec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a:t>CL4SRec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err="1"/>
                        <a:t>infoSSLRec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extLst>
                  <a:ext uri="{0D108BD9-81ED-4DB2-BD59-A6C34878D82A}">
                    <a16:rowId xmlns:a16="http://schemas.microsoft.com/office/drawing/2014/main" val="1496693708"/>
                  </a:ext>
                </a:extLst>
              </a:tr>
              <a:tr h="375059">
                <a:tc rowSpan="6">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ltLang="zh-CN" dirty="0"/>
                    </a:p>
                    <a:p>
                      <a:pPr algn="ctr"/>
                      <a:endParaRPr lang="en-US" altLang="zh-CN" dirty="0"/>
                    </a:p>
                    <a:p>
                      <a:pPr algn="ctr"/>
                      <a:endParaRPr lang="en-US" altLang="zh-CN" dirty="0"/>
                    </a:p>
                    <a:p>
                      <a:pPr algn="ctr"/>
                      <a:r>
                        <a:rPr lang="en-US" altLang="zh-CN" dirty="0"/>
                        <a:t>Beauty</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sz="1400" dirty="0"/>
                        <a:t>HR@5</a:t>
                      </a:r>
                      <a:endParaRPr lang="zh-CN" altLang="en-US" sz="14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0.0253</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0.0270</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0.0189</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0.0403</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0.0504</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2255036771"/>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0.0396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0.0453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0.0307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0.0641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0.0726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3623062123"/>
                  </a:ext>
                </a:extLst>
              </a:tr>
              <a:tr h="38026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0.0605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0.0724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0.0487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0.0972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0.1035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1650620958"/>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NDCG@5</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0.0164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0.0167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0.0115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0.0265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0.0339</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979882140"/>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sz="1400" dirty="0"/>
                        <a:t>NDCG@10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0.0210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0.0225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0.0153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0.0343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0.0410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209235641"/>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0.0262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0.0294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0.0198</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0.0425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0.0488</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3820896852"/>
                  </a:ext>
                </a:extLst>
              </a:tr>
              <a:tr h="375059">
                <a:tc rowSpan="6">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endParaRPr lang="en-US" altLang="zh-CN" dirty="0"/>
                    </a:p>
                    <a:p>
                      <a:endParaRPr lang="en-US" altLang="zh-CN" dirty="0"/>
                    </a:p>
                    <a:p>
                      <a:endParaRPr lang="en-US" altLang="zh-CN" dirty="0"/>
                    </a:p>
                    <a:p>
                      <a:r>
                        <a:rPr lang="en-US" altLang="zh-CN" dirty="0"/>
                        <a:t>Sports</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sz="1400" dirty="0"/>
                        <a:t>HR@5</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0.0131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0.0146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0.0121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0.0232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0.0259</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654296640"/>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0.0208</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0.0250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0.0205</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0.0367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0.0417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2946166292"/>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0.0314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0.0396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0.0344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0.0553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0.0603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3398977281"/>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NDCG@5</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0.0086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0.0092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0.0084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0.0146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0.0173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4093882374"/>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0.0111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0.0126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0.0111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0.0190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0.0224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815034751"/>
                  </a:ext>
                </a:extLst>
              </a:tr>
              <a:tr h="37505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0.0137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0.0162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0.0146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0.0236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l"/>
                      <a:r>
                        <a:rPr lang="en-US" altLang="zh-CN" dirty="0"/>
                        <a:t>0.0270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2102947045"/>
                  </a:ext>
                </a:extLst>
              </a:tr>
            </a:tbl>
          </a:graphicData>
        </a:graphic>
      </p:graphicFrame>
      <p:sp>
        <p:nvSpPr>
          <p:cNvPr id="4" name="文本框 3">
            <a:extLst>
              <a:ext uri="{FF2B5EF4-FFF2-40B4-BE49-F238E27FC236}">
                <a16:creationId xmlns:a16="http://schemas.microsoft.com/office/drawing/2014/main" id="{CE4E1DDF-8FE6-710F-619F-8DA5C72A20C9}"/>
              </a:ext>
            </a:extLst>
          </p:cNvPr>
          <p:cNvSpPr txBox="1"/>
          <p:nvPr/>
        </p:nvSpPr>
        <p:spPr>
          <a:xfrm>
            <a:off x="8260632" y="2310958"/>
            <a:ext cx="3474335" cy="1200329"/>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非顺序模型代表：</a:t>
            </a:r>
            <a:r>
              <a:rPr lang="en-US" altLang="zh-CN" dirty="0">
                <a:solidFill>
                  <a:srgbClr val="000000"/>
                </a:solidFill>
                <a:latin typeface="Calibri"/>
                <a:ea typeface="微软雅黑" panose="020B0503020204020204" pitchFamily="34" charset="-122"/>
              </a:rPr>
              <a:t>BPR</a:t>
            </a:r>
          </a:p>
          <a:p>
            <a:pPr defTabSz="914400"/>
            <a:r>
              <a:rPr lang="zh-CN" altLang="en-US" dirty="0">
                <a:solidFill>
                  <a:srgbClr val="000000"/>
                </a:solidFill>
                <a:latin typeface="Calibri"/>
                <a:ea typeface="微软雅黑" panose="020B0503020204020204" pitchFamily="34" charset="-122"/>
              </a:rPr>
              <a:t>基于</a:t>
            </a:r>
            <a:r>
              <a:rPr lang="en-US" altLang="zh-CN" dirty="0">
                <a:solidFill>
                  <a:srgbClr val="000000"/>
                </a:solidFill>
                <a:latin typeface="Calibri"/>
                <a:ea typeface="微软雅黑" panose="020B0503020204020204" pitchFamily="34" charset="-122"/>
              </a:rPr>
              <a:t>CNN</a:t>
            </a:r>
            <a:r>
              <a:rPr lang="zh-CN" altLang="en-US" dirty="0">
                <a:solidFill>
                  <a:srgbClr val="000000"/>
                </a:solidFill>
                <a:latin typeface="Calibri"/>
                <a:ea typeface="微软雅黑" panose="020B0503020204020204" pitchFamily="34" charset="-122"/>
              </a:rPr>
              <a:t>的模型：</a:t>
            </a:r>
            <a:r>
              <a:rPr lang="en-US" altLang="zh-CN" dirty="0">
                <a:solidFill>
                  <a:srgbClr val="000000"/>
                </a:solidFill>
                <a:latin typeface="Calibri"/>
                <a:ea typeface="微软雅黑" panose="020B0503020204020204" pitchFamily="34" charset="-122"/>
              </a:rPr>
              <a:t>Caser</a:t>
            </a:r>
          </a:p>
          <a:p>
            <a:pPr defTabSz="914400"/>
            <a:r>
              <a:rPr lang="zh-CN" altLang="en-US" dirty="0">
                <a:solidFill>
                  <a:srgbClr val="000000"/>
                </a:solidFill>
                <a:latin typeface="Calibri"/>
                <a:ea typeface="微软雅黑" panose="020B0503020204020204" pitchFamily="34" charset="-122"/>
              </a:rPr>
              <a:t>基于</a:t>
            </a:r>
            <a:r>
              <a:rPr lang="en-US" altLang="zh-CN" dirty="0">
                <a:solidFill>
                  <a:srgbClr val="000000"/>
                </a:solidFill>
                <a:latin typeface="Calibri"/>
                <a:ea typeface="微软雅黑" panose="020B0503020204020204" pitchFamily="34" charset="-122"/>
              </a:rPr>
              <a:t>transformer</a:t>
            </a:r>
            <a:r>
              <a:rPr lang="zh-CN" altLang="en-US" dirty="0">
                <a:solidFill>
                  <a:srgbClr val="000000"/>
                </a:solidFill>
                <a:latin typeface="Calibri"/>
                <a:ea typeface="微软雅黑" panose="020B0503020204020204" pitchFamily="34" charset="-122"/>
              </a:rPr>
              <a:t>的模型：</a:t>
            </a:r>
            <a:r>
              <a:rPr lang="en-US" altLang="zh-CN" dirty="0">
                <a:solidFill>
                  <a:srgbClr val="000000"/>
                </a:solidFill>
                <a:latin typeface="Calibri"/>
                <a:ea typeface="微软雅黑" panose="020B0503020204020204" pitchFamily="34" charset="-122"/>
              </a:rPr>
              <a:t>S3-Rec</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a:t>
            </a:r>
            <a:r>
              <a:rPr lang="en-US" altLang="zh-CN" dirty="0" err="1">
                <a:solidFill>
                  <a:srgbClr val="000000"/>
                </a:solidFill>
                <a:latin typeface="Calibri"/>
                <a:ea typeface="微软雅黑" panose="020B0503020204020204" pitchFamily="34" charset="-122"/>
              </a:rPr>
              <a:t>infoSSLRec</a:t>
            </a:r>
            <a:endParaRPr lang="zh-CN" altLang="en-US" dirty="0">
              <a:solidFill>
                <a:srgbClr val="000000"/>
              </a:solidFill>
              <a:latin typeface="Calibri"/>
              <a:ea typeface="微软雅黑" panose="020B0503020204020204" pitchFamily="34" charset="-122"/>
            </a:endParaRPr>
          </a:p>
        </p:txBody>
      </p:sp>
    </p:spTree>
    <p:extLst>
      <p:ext uri="{BB962C8B-B14F-4D97-AF65-F5344CB8AC3E}">
        <p14:creationId xmlns:p14="http://schemas.microsoft.com/office/powerpoint/2010/main" val="538135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CD72E-BA4B-A8D1-06FF-18191B8566C5}"/>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F079D5A2-F071-7955-40CE-81AA8F602C93}"/>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F472B223-6315-424D-80C0-5DDA8E760C33}"/>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A94EF35E-F94B-F9DF-F9E4-0944FB2FAAB4}"/>
              </a:ext>
            </a:extLst>
          </p:cNvPr>
          <p:cNvSpPr txBox="1"/>
          <p:nvPr/>
        </p:nvSpPr>
        <p:spPr>
          <a:xfrm>
            <a:off x="695542" y="1230014"/>
            <a:ext cx="3358343" cy="3416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b="1" dirty="0">
                <a:solidFill>
                  <a:srgbClr val="1898B8"/>
                </a:solidFill>
                <a:latin typeface="微软雅黑" panose="020B0503020204020204" pitchFamily="34" charset="-122"/>
                <a:ea typeface="微软雅黑" panose="020B0503020204020204" pitchFamily="34" charset="-122"/>
              </a:rPr>
              <a:t>整体性能比较</a:t>
            </a:r>
            <a:endParaRPr kumimoji="0" lang="zh-CN" altLang="en-US" sz="18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graphicFrame>
        <p:nvGraphicFramePr>
          <p:cNvPr id="2" name="表格 1">
            <a:extLst>
              <a:ext uri="{FF2B5EF4-FFF2-40B4-BE49-F238E27FC236}">
                <a16:creationId xmlns:a16="http://schemas.microsoft.com/office/drawing/2014/main" id="{63715584-6943-1DC2-04C3-B00450858B2B}"/>
              </a:ext>
            </a:extLst>
          </p:cNvPr>
          <p:cNvGraphicFramePr>
            <a:graphicFrameLocks noGrp="1"/>
          </p:cNvGraphicFramePr>
          <p:nvPr>
            <p:extLst>
              <p:ext uri="{D42A27DB-BD31-4B8C-83A1-F6EECF244321}">
                <p14:modId xmlns:p14="http://schemas.microsoft.com/office/powerpoint/2010/main" val="1551074143"/>
              </p:ext>
            </p:extLst>
          </p:nvPr>
        </p:nvGraphicFramePr>
        <p:xfrm>
          <a:off x="695542" y="1844197"/>
          <a:ext cx="7210705" cy="2608324"/>
        </p:xfrm>
        <a:graphic>
          <a:graphicData uri="http://schemas.openxmlformats.org/drawingml/2006/table">
            <a:tbl>
              <a:tblPr firstRow="1" bandRow="1"/>
              <a:tblGrid>
                <a:gridCol w="997994">
                  <a:extLst>
                    <a:ext uri="{9D8B030D-6E8A-4147-A177-3AD203B41FA5}">
                      <a16:colId xmlns:a16="http://schemas.microsoft.com/office/drawing/2014/main" val="2459909641"/>
                    </a:ext>
                  </a:extLst>
                </a:gridCol>
                <a:gridCol w="1106074">
                  <a:extLst>
                    <a:ext uri="{9D8B030D-6E8A-4147-A177-3AD203B41FA5}">
                      <a16:colId xmlns:a16="http://schemas.microsoft.com/office/drawing/2014/main" val="3269074880"/>
                    </a:ext>
                  </a:extLst>
                </a:gridCol>
                <a:gridCol w="889914">
                  <a:extLst>
                    <a:ext uri="{9D8B030D-6E8A-4147-A177-3AD203B41FA5}">
                      <a16:colId xmlns:a16="http://schemas.microsoft.com/office/drawing/2014/main" val="3023269130"/>
                    </a:ext>
                  </a:extLst>
                </a:gridCol>
                <a:gridCol w="997994">
                  <a:extLst>
                    <a:ext uri="{9D8B030D-6E8A-4147-A177-3AD203B41FA5}">
                      <a16:colId xmlns:a16="http://schemas.microsoft.com/office/drawing/2014/main" val="3420755490"/>
                    </a:ext>
                  </a:extLst>
                </a:gridCol>
                <a:gridCol w="997994">
                  <a:extLst>
                    <a:ext uri="{9D8B030D-6E8A-4147-A177-3AD203B41FA5}">
                      <a16:colId xmlns:a16="http://schemas.microsoft.com/office/drawing/2014/main" val="31905039"/>
                    </a:ext>
                  </a:extLst>
                </a:gridCol>
                <a:gridCol w="997994">
                  <a:extLst>
                    <a:ext uri="{9D8B030D-6E8A-4147-A177-3AD203B41FA5}">
                      <a16:colId xmlns:a16="http://schemas.microsoft.com/office/drawing/2014/main" val="15802232"/>
                    </a:ext>
                  </a:extLst>
                </a:gridCol>
                <a:gridCol w="1222741">
                  <a:extLst>
                    <a:ext uri="{9D8B030D-6E8A-4147-A177-3AD203B41FA5}">
                      <a16:colId xmlns:a16="http://schemas.microsoft.com/office/drawing/2014/main" val="3172927504"/>
                    </a:ext>
                  </a:extLst>
                </a:gridCol>
              </a:tblGrid>
              <a:tr h="40868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dataset</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Metric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BPR</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Caser</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S3-Rec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a:t>CL4SRec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r>
                        <a:rPr lang="en-US" altLang="zh-CN" dirty="0" err="1"/>
                        <a:t>infoSSLRec</a:t>
                      </a:r>
                      <a:endParaRPr lang="zh-CN" altLang="en-US" dirty="0"/>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4874CB"/>
                    </a:solidFill>
                  </a:tcPr>
                </a:tc>
                <a:extLst>
                  <a:ext uri="{0D108BD9-81ED-4DB2-BD59-A6C34878D82A}">
                    <a16:rowId xmlns:a16="http://schemas.microsoft.com/office/drawing/2014/main" val="1496693708"/>
                  </a:ext>
                </a:extLst>
              </a:tr>
              <a:tr h="261257">
                <a:tc rowSpan="6">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endParaRPr lang="en-US" altLang="zh-CN" dirty="0"/>
                    </a:p>
                    <a:p>
                      <a:pPr algn="ctr"/>
                      <a:endParaRPr lang="en-US" altLang="zh-CN" dirty="0"/>
                    </a:p>
                    <a:p>
                      <a:pPr algn="ctr"/>
                      <a:endParaRPr lang="en-US" altLang="zh-CN" dirty="0"/>
                    </a:p>
                    <a:p>
                      <a:pPr algn="ctr"/>
                      <a:r>
                        <a:rPr lang="en-US" altLang="zh-CN" dirty="0"/>
                        <a:t>Yelp</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sz="1400" dirty="0"/>
                        <a:t>HR@5</a:t>
                      </a:r>
                      <a:endParaRPr lang="zh-CN" altLang="en-US" sz="1400"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0.0163</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0.0151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0.0101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0.0227</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0.0231</a:t>
                      </a:r>
                      <a:endParaRPr lang="zh-CN" altLang="en-US" dirty="0"/>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2255036771"/>
                  </a:ext>
                </a:extLst>
              </a:tr>
              <a:tr h="258985">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0.0270</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0.0261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0.0176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0.0384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0.0396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3623062123"/>
                  </a:ext>
                </a:extLst>
              </a:tr>
              <a:tr h="370840">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HR@20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0.0433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0.0447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0.0314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0.0623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0.0649</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1650620958"/>
                  </a:ext>
                </a:extLst>
              </a:tr>
              <a:tr h="311836">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NDCG@5</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0.0101</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0.0096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0.0068</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0.0143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0.0146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979882140"/>
                  </a:ext>
                </a:extLst>
              </a:tr>
              <a:tr h="0">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sz="1400" dirty="0"/>
                        <a:t>NDCG@10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0.0136</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0.0132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0.0092</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0.0194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0.0199</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40000"/>
                      </a:srgbClr>
                    </a:solidFill>
                  </a:tcPr>
                </a:tc>
                <a:extLst>
                  <a:ext uri="{0D108BD9-81ED-4DB2-BD59-A6C34878D82A}">
                    <a16:rowId xmlns:a16="http://schemas.microsoft.com/office/drawing/2014/main" val="209235641"/>
                  </a:ext>
                </a:extLst>
              </a:tr>
              <a:tr h="203799">
                <a:tc vMerge="1">
                  <a:txBody>
                    <a:bodyPr/>
                    <a:lstStyle/>
                    <a:p>
                      <a:endParaRPr lang="zh-CN" altLang="en-US" dirty="0"/>
                    </a:p>
                  </a:txBody>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400" dirty="0"/>
                        <a:t>NDCG@20</a:t>
                      </a:r>
                      <a:endParaRPr lang="zh-CN" altLang="en-US" sz="140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0.0177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0.0178</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0.0127</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0.0254</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r>
                        <a:rPr lang="en-US" altLang="zh-CN" dirty="0"/>
                        <a:t>0.0263</a:t>
                      </a:r>
                      <a:endParaRPr lang="zh-CN" alt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4874CB">
                        <a:tint val="20000"/>
                      </a:srgbClr>
                    </a:solidFill>
                  </a:tcPr>
                </a:tc>
                <a:extLst>
                  <a:ext uri="{0D108BD9-81ED-4DB2-BD59-A6C34878D82A}">
                    <a16:rowId xmlns:a16="http://schemas.microsoft.com/office/drawing/2014/main" val="3820896852"/>
                  </a:ext>
                </a:extLst>
              </a:tr>
            </a:tbl>
          </a:graphicData>
        </a:graphic>
      </p:graphicFrame>
      <p:sp>
        <p:nvSpPr>
          <p:cNvPr id="4" name="文本框 3">
            <a:extLst>
              <a:ext uri="{FF2B5EF4-FFF2-40B4-BE49-F238E27FC236}">
                <a16:creationId xmlns:a16="http://schemas.microsoft.com/office/drawing/2014/main" id="{448C4B40-387C-7410-BFBE-CBC013A98CAC}"/>
              </a:ext>
            </a:extLst>
          </p:cNvPr>
          <p:cNvSpPr txBox="1"/>
          <p:nvPr/>
        </p:nvSpPr>
        <p:spPr>
          <a:xfrm>
            <a:off x="695542" y="4653028"/>
            <a:ext cx="7343767" cy="1200329"/>
          </a:xfrm>
          <a:prstGeom prst="rect">
            <a:avLst/>
          </a:prstGeom>
          <a:noFill/>
        </p:spPr>
        <p:txBody>
          <a:bodyPr wrap="square" rtlCol="0">
            <a:spAutoFit/>
          </a:bodyPr>
          <a:lstStyle/>
          <a:p>
            <a:pPr defTabSz="914400"/>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在所有数据集的所有指标上均取得最优。相比基线</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a:t>
            </a:r>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在</a:t>
            </a:r>
            <a:r>
              <a:rPr lang="en-US" altLang="zh-CN" dirty="0">
                <a:solidFill>
                  <a:srgbClr val="000000"/>
                </a:solidFill>
                <a:latin typeface="Calibri"/>
                <a:ea typeface="微软雅黑" panose="020B0503020204020204" pitchFamily="34" charset="-122"/>
              </a:rPr>
              <a:t>Beauty</a:t>
            </a:r>
            <a:r>
              <a:rPr lang="zh-CN" altLang="en-US" dirty="0">
                <a:solidFill>
                  <a:srgbClr val="000000"/>
                </a:solidFill>
                <a:latin typeface="Calibri"/>
                <a:ea typeface="微软雅黑" panose="020B0503020204020204" pitchFamily="34" charset="-122"/>
              </a:rPr>
              <a:t>上平均提升</a:t>
            </a:r>
            <a:r>
              <a:rPr lang="en-US" altLang="zh-CN" dirty="0">
                <a:solidFill>
                  <a:srgbClr val="000000"/>
                </a:solidFill>
                <a:latin typeface="Calibri"/>
                <a:ea typeface="微软雅黑" panose="020B0503020204020204" pitchFamily="34" charset="-122"/>
              </a:rPr>
              <a:t>22.47%</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Sports</a:t>
            </a:r>
            <a:r>
              <a:rPr lang="zh-CN" altLang="en-US" dirty="0">
                <a:solidFill>
                  <a:srgbClr val="000000"/>
                </a:solidFill>
                <a:latin typeface="Calibri"/>
                <a:ea typeface="微软雅黑" panose="020B0503020204020204" pitchFamily="34" charset="-122"/>
              </a:rPr>
              <a:t>上平均提升</a:t>
            </a:r>
            <a:r>
              <a:rPr lang="en-US" altLang="zh-CN" dirty="0">
                <a:solidFill>
                  <a:srgbClr val="000000"/>
                </a:solidFill>
                <a:latin typeface="Calibri"/>
                <a:ea typeface="微软雅黑" panose="020B0503020204020204" pitchFamily="34" charset="-122"/>
              </a:rPr>
              <a:t>23.39%</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Yelp</a:t>
            </a:r>
            <a:r>
              <a:rPr lang="zh-CN" altLang="en-US" dirty="0">
                <a:solidFill>
                  <a:srgbClr val="000000"/>
                </a:solidFill>
                <a:latin typeface="Calibri"/>
                <a:ea typeface="微软雅黑" panose="020B0503020204020204" pitchFamily="34" charset="-122"/>
              </a:rPr>
              <a:t>上平均提升</a:t>
            </a:r>
            <a:r>
              <a:rPr lang="en-US" altLang="zh-CN" dirty="0">
                <a:solidFill>
                  <a:srgbClr val="000000"/>
                </a:solidFill>
                <a:latin typeface="Calibri"/>
                <a:ea typeface="微软雅黑" panose="020B0503020204020204" pitchFamily="34" charset="-122"/>
              </a:rPr>
              <a:t>4.67%</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Sports</a:t>
            </a:r>
            <a:r>
              <a:rPr lang="zh-CN" altLang="en-US" dirty="0">
                <a:solidFill>
                  <a:srgbClr val="000000"/>
                </a:solidFill>
                <a:latin typeface="Calibri"/>
                <a:ea typeface="微软雅黑" panose="020B0503020204020204" pitchFamily="34" charset="-122"/>
              </a:rPr>
              <a:t>和</a:t>
            </a:r>
            <a:r>
              <a:rPr lang="en-US" altLang="zh-CN" dirty="0">
                <a:solidFill>
                  <a:srgbClr val="000000"/>
                </a:solidFill>
                <a:latin typeface="Calibri"/>
                <a:ea typeface="微软雅黑" panose="020B0503020204020204" pitchFamily="34" charset="-122"/>
              </a:rPr>
              <a:t>Beauty</a:t>
            </a:r>
            <a:r>
              <a:rPr lang="zh-CN" altLang="en-US" dirty="0">
                <a:solidFill>
                  <a:srgbClr val="000000"/>
                </a:solidFill>
                <a:latin typeface="Calibri"/>
                <a:ea typeface="微软雅黑" panose="020B0503020204020204" pitchFamily="34" charset="-122"/>
              </a:rPr>
              <a:t>提升更大，因为其平均序列长度更短，冷启动问题更严重，</a:t>
            </a:r>
            <a:r>
              <a:rPr lang="en-US" altLang="zh-CN" dirty="0">
                <a:solidFill>
                  <a:srgbClr val="000000"/>
                </a:solidFill>
                <a:latin typeface="Calibri"/>
                <a:ea typeface="微软雅黑" panose="020B0503020204020204" pitchFamily="34" charset="-122"/>
              </a:rPr>
              <a:t>SSL</a:t>
            </a:r>
            <a:r>
              <a:rPr lang="zh-CN" altLang="en-US" dirty="0">
                <a:solidFill>
                  <a:srgbClr val="000000"/>
                </a:solidFill>
                <a:latin typeface="Calibri"/>
                <a:ea typeface="微软雅黑" panose="020B0503020204020204" pitchFamily="34" charset="-122"/>
              </a:rPr>
              <a:t>带来的收益更显著。</a:t>
            </a:r>
          </a:p>
        </p:txBody>
      </p:sp>
    </p:spTree>
    <p:extLst>
      <p:ext uri="{BB962C8B-B14F-4D97-AF65-F5344CB8AC3E}">
        <p14:creationId xmlns:p14="http://schemas.microsoft.com/office/powerpoint/2010/main" val="3562802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D76A1-2C20-7C82-201E-321D31AB1C2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E98B7DA8-96D8-4A2B-75AC-674FE98EA18A}"/>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6F93383B-F46E-E122-C641-FF05C0A84FD5}"/>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CA1D1FF4-844B-F271-29F2-0B9D822FD0F8}"/>
              </a:ext>
            </a:extLst>
          </p:cNvPr>
          <p:cNvSpPr txBox="1"/>
          <p:nvPr/>
        </p:nvSpPr>
        <p:spPr>
          <a:xfrm>
            <a:off x="692727" y="1116281"/>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增强方法分析</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332D0945-8497-61A0-6166-F714E775911E}"/>
              </a:ext>
            </a:extLst>
          </p:cNvPr>
          <p:cNvPicPr>
            <a:picLocks noChangeAspect="1"/>
          </p:cNvPicPr>
          <p:nvPr/>
        </p:nvPicPr>
        <p:blipFill>
          <a:blip r:embed="rId2"/>
          <a:stretch>
            <a:fillRect/>
          </a:stretch>
        </p:blipFill>
        <p:spPr>
          <a:xfrm>
            <a:off x="827007" y="2149024"/>
            <a:ext cx="5696784" cy="1588285"/>
          </a:xfrm>
          <a:prstGeom prst="rect">
            <a:avLst/>
          </a:prstGeom>
        </p:spPr>
      </p:pic>
      <p:pic>
        <p:nvPicPr>
          <p:cNvPr id="4" name="图片 3">
            <a:extLst>
              <a:ext uri="{FF2B5EF4-FFF2-40B4-BE49-F238E27FC236}">
                <a16:creationId xmlns:a16="http://schemas.microsoft.com/office/drawing/2014/main" id="{24D673A4-147F-4D6F-5AAF-1B658061C8FD}"/>
              </a:ext>
            </a:extLst>
          </p:cNvPr>
          <p:cNvPicPr>
            <a:picLocks noChangeAspect="1"/>
          </p:cNvPicPr>
          <p:nvPr/>
        </p:nvPicPr>
        <p:blipFill>
          <a:blip r:embed="rId3"/>
          <a:stretch>
            <a:fillRect/>
          </a:stretch>
        </p:blipFill>
        <p:spPr>
          <a:xfrm>
            <a:off x="827007" y="3737309"/>
            <a:ext cx="5696785" cy="1620477"/>
          </a:xfrm>
          <a:prstGeom prst="rect">
            <a:avLst/>
          </a:prstGeom>
        </p:spPr>
      </p:pic>
      <p:sp>
        <p:nvSpPr>
          <p:cNvPr id="6" name="文本框 5">
            <a:extLst>
              <a:ext uri="{FF2B5EF4-FFF2-40B4-BE49-F238E27FC236}">
                <a16:creationId xmlns:a16="http://schemas.microsoft.com/office/drawing/2014/main" id="{60EC8704-7090-6953-8340-6B7E91D02E21}"/>
              </a:ext>
            </a:extLst>
          </p:cNvPr>
          <p:cNvSpPr txBox="1"/>
          <p:nvPr/>
        </p:nvSpPr>
        <p:spPr>
          <a:xfrm>
            <a:off x="757950" y="1523192"/>
            <a:ext cx="6120726" cy="663610"/>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留一法消融实验</a:t>
            </a:r>
            <a:r>
              <a:rPr lang="zh-CN" altLang="en-US" dirty="0">
                <a:solidFill>
                  <a:srgbClr val="000000"/>
                </a:solidFill>
                <a:latin typeface="Calibri"/>
                <a:ea typeface="微软雅黑" panose="020B0503020204020204" pitchFamily="34" charset="-122"/>
              </a:rPr>
              <a:t>（</a:t>
            </a:r>
            <a:r>
              <a:rPr lang="en-US" altLang="zh-CN" b="1" dirty="0">
                <a:solidFill>
                  <a:srgbClr val="000000"/>
                </a:solidFill>
                <a:latin typeface="Calibri"/>
                <a:ea typeface="微软雅黑" panose="020B0503020204020204" pitchFamily="34" charset="-122"/>
              </a:rPr>
              <a:t>Leave-One-Out</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 </a:t>
            </a:r>
            <a:r>
              <a:rPr lang="zh-CN" altLang="en-US" dirty="0">
                <a:solidFill>
                  <a:srgbClr val="000000"/>
                </a:solidFill>
                <a:latin typeface="Calibri"/>
                <a:ea typeface="微软雅黑" panose="020B0503020204020204" pitchFamily="34" charset="-122"/>
              </a:rPr>
              <a:t>从完整增强集</a:t>
            </a:r>
            <a:r>
              <a:rPr lang="en-US" altLang="zh-CN" dirty="0">
                <a:solidFill>
                  <a:srgbClr val="000000"/>
                </a:solidFill>
                <a:latin typeface="Calibri"/>
                <a:ea typeface="微软雅黑" panose="020B0503020204020204" pitchFamily="34" charset="-122"/>
              </a:rPr>
              <a:t>{M,C,R,S,I}</a:t>
            </a:r>
            <a:r>
              <a:rPr lang="zh-CN" altLang="en-US" dirty="0">
                <a:solidFill>
                  <a:srgbClr val="000000"/>
                </a:solidFill>
                <a:latin typeface="Calibri"/>
                <a:ea typeface="微软雅黑" panose="020B0503020204020204" pitchFamily="34" charset="-122"/>
              </a:rPr>
              <a:t>中每次移除一种，观察性能变化。</a:t>
            </a:r>
          </a:p>
        </p:txBody>
      </p:sp>
      <p:sp>
        <p:nvSpPr>
          <p:cNvPr id="8" name="文本框 7">
            <a:extLst>
              <a:ext uri="{FF2B5EF4-FFF2-40B4-BE49-F238E27FC236}">
                <a16:creationId xmlns:a16="http://schemas.microsoft.com/office/drawing/2014/main" id="{BEB7F46A-4877-3A34-9858-C52B1A266533}"/>
              </a:ext>
            </a:extLst>
          </p:cNvPr>
          <p:cNvSpPr txBox="1"/>
          <p:nvPr/>
        </p:nvSpPr>
        <p:spPr>
          <a:xfrm>
            <a:off x="953844" y="5433464"/>
            <a:ext cx="7355269" cy="923330"/>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移除</a:t>
            </a:r>
            <a:r>
              <a:rPr lang="en-US" altLang="zh-CN" dirty="0">
                <a:solidFill>
                  <a:srgbClr val="000000"/>
                </a:solidFill>
                <a:latin typeface="Calibri"/>
                <a:ea typeface="微软雅黑" panose="020B0503020204020204" pitchFamily="34" charset="-122"/>
              </a:rPr>
              <a:t>Insert</a:t>
            </a:r>
            <a:r>
              <a:rPr lang="zh-CN" altLang="en-US" dirty="0">
                <a:solidFill>
                  <a:srgbClr val="000000"/>
                </a:solidFill>
                <a:latin typeface="Calibri"/>
                <a:ea typeface="微软雅黑" panose="020B0503020204020204" pitchFamily="34" charset="-122"/>
              </a:rPr>
              <a:t>或</a:t>
            </a:r>
            <a:r>
              <a:rPr lang="en-US" altLang="zh-CN" dirty="0">
                <a:solidFill>
                  <a:srgbClr val="000000"/>
                </a:solidFill>
                <a:latin typeface="Calibri"/>
                <a:ea typeface="微软雅黑" panose="020B0503020204020204" pitchFamily="34" charset="-122"/>
              </a:rPr>
              <a:t>Substitute</a:t>
            </a:r>
            <a:r>
              <a:rPr lang="zh-CN" altLang="en-US" dirty="0">
                <a:solidFill>
                  <a:srgbClr val="000000"/>
                </a:solidFill>
                <a:latin typeface="Calibri"/>
                <a:ea typeface="微软雅黑" panose="020B0503020204020204" pitchFamily="34" charset="-122"/>
              </a:rPr>
              <a:t>后性能持续下降；移除</a:t>
            </a:r>
            <a:r>
              <a:rPr lang="en-US" altLang="zh-CN" dirty="0">
                <a:solidFill>
                  <a:srgbClr val="000000"/>
                </a:solidFill>
                <a:latin typeface="Calibri"/>
                <a:ea typeface="微软雅黑" panose="020B0503020204020204" pitchFamily="34" charset="-122"/>
              </a:rPr>
              <a:t>Crop</a:t>
            </a:r>
            <a:r>
              <a:rPr lang="zh-CN" altLang="en-US" dirty="0">
                <a:solidFill>
                  <a:srgbClr val="000000"/>
                </a:solidFill>
                <a:latin typeface="Calibri"/>
                <a:ea typeface="微软雅黑" panose="020B0503020204020204" pitchFamily="34" charset="-122"/>
              </a:rPr>
              <a:t>或</a:t>
            </a:r>
            <a:r>
              <a:rPr lang="en-US" altLang="zh-CN" dirty="0">
                <a:solidFill>
                  <a:srgbClr val="000000"/>
                </a:solidFill>
                <a:latin typeface="Calibri"/>
                <a:ea typeface="微软雅黑" panose="020B0503020204020204" pitchFamily="34" charset="-122"/>
              </a:rPr>
              <a:t>Reorder</a:t>
            </a:r>
            <a:r>
              <a:rPr lang="zh-CN" altLang="en-US" dirty="0">
                <a:solidFill>
                  <a:srgbClr val="000000"/>
                </a:solidFill>
                <a:latin typeface="Calibri"/>
                <a:ea typeface="微软雅黑" panose="020B0503020204020204" pitchFamily="34" charset="-122"/>
              </a:rPr>
              <a:t>后性能反而在</a:t>
            </a:r>
            <a:r>
              <a:rPr lang="en-US" altLang="zh-CN" dirty="0">
                <a:solidFill>
                  <a:srgbClr val="000000"/>
                </a:solidFill>
                <a:latin typeface="Calibri"/>
                <a:ea typeface="微软雅黑" panose="020B0503020204020204" pitchFamily="34" charset="-122"/>
              </a:rPr>
              <a:t>Beauty</a:t>
            </a:r>
            <a:r>
              <a:rPr lang="zh-CN" altLang="en-US" dirty="0">
                <a:solidFill>
                  <a:srgbClr val="000000"/>
                </a:solidFill>
                <a:latin typeface="Calibri"/>
                <a:ea typeface="微软雅黑" panose="020B0503020204020204" pitchFamily="34" charset="-122"/>
              </a:rPr>
              <a:t>上显著提升。说明随机增强会破坏物品关联，信息性增强才是关键</a:t>
            </a:r>
          </a:p>
        </p:txBody>
      </p:sp>
    </p:spTree>
    <p:extLst>
      <p:ext uri="{BB962C8B-B14F-4D97-AF65-F5344CB8AC3E}">
        <p14:creationId xmlns:p14="http://schemas.microsoft.com/office/powerpoint/2010/main" val="43367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CFF9B-DE9B-949E-622A-C2DEB60AE85F}"/>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8E7192A0-DA3A-EA57-F1BD-59F55225D809}"/>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43D3F675-6342-A2B4-DB7B-796E31F42466}"/>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F5436162-95AC-1CFC-6FC8-00FE88A3D10F}"/>
              </a:ext>
            </a:extLst>
          </p:cNvPr>
          <p:cNvSpPr txBox="1"/>
          <p:nvPr/>
        </p:nvSpPr>
        <p:spPr>
          <a:xfrm>
            <a:off x="997527" y="1200718"/>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增强方法分析</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E32DD2D5-447D-6603-20F4-148395E40662}"/>
              </a:ext>
            </a:extLst>
          </p:cNvPr>
          <p:cNvPicPr>
            <a:picLocks noChangeAspect="1"/>
          </p:cNvPicPr>
          <p:nvPr/>
        </p:nvPicPr>
        <p:blipFill>
          <a:blip r:embed="rId2"/>
          <a:stretch>
            <a:fillRect/>
          </a:stretch>
        </p:blipFill>
        <p:spPr>
          <a:xfrm>
            <a:off x="1070901" y="2134473"/>
            <a:ext cx="4924441" cy="2488484"/>
          </a:xfrm>
          <a:prstGeom prst="rect">
            <a:avLst/>
          </a:prstGeom>
        </p:spPr>
      </p:pic>
      <p:sp>
        <p:nvSpPr>
          <p:cNvPr id="4" name="文本框 3">
            <a:extLst>
              <a:ext uri="{FF2B5EF4-FFF2-40B4-BE49-F238E27FC236}">
                <a16:creationId xmlns:a16="http://schemas.microsoft.com/office/drawing/2014/main" id="{8E2DF1A7-BE71-C71C-C102-B8E2FD0DEFD9}"/>
              </a:ext>
            </a:extLst>
          </p:cNvPr>
          <p:cNvSpPr txBox="1"/>
          <p:nvPr/>
        </p:nvSpPr>
        <p:spPr>
          <a:xfrm>
            <a:off x="1070901" y="1698585"/>
            <a:ext cx="6120726" cy="369332"/>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成对比较</a:t>
            </a:r>
            <a:r>
              <a:rPr lang="en-US" altLang="zh-CN" dirty="0">
                <a:solidFill>
                  <a:srgbClr val="000000"/>
                </a:solidFill>
                <a:latin typeface="Calibri"/>
                <a:ea typeface="微软雅黑" panose="020B0503020204020204" pitchFamily="34" charset="-122"/>
              </a:rPr>
              <a:t>:</a:t>
            </a:r>
            <a:r>
              <a:rPr lang="zh-CN" altLang="en-US" dirty="0">
                <a:solidFill>
                  <a:srgbClr val="000000"/>
                </a:solidFill>
                <a:latin typeface="Calibri"/>
                <a:ea typeface="微软雅黑" panose="020B0503020204020204" pitchFamily="34" charset="-122"/>
              </a:rPr>
              <a:t>只使用两种增强算子组合</a:t>
            </a:r>
            <a:r>
              <a:rPr lang="en-US" altLang="zh-CN" dirty="0">
                <a:solidFill>
                  <a:srgbClr val="000000"/>
                </a:solidFill>
                <a:latin typeface="Calibri"/>
                <a:ea typeface="微软雅黑" panose="020B0503020204020204" pitchFamily="34" charset="-122"/>
              </a:rPr>
              <a:t>,</a:t>
            </a:r>
            <a:r>
              <a:rPr lang="zh-CN" altLang="en-US" dirty="0">
                <a:solidFill>
                  <a:srgbClr val="000000"/>
                </a:solidFill>
                <a:latin typeface="Calibri"/>
                <a:ea typeface="微软雅黑" panose="020B0503020204020204" pitchFamily="34" charset="-122"/>
              </a:rPr>
              <a:t>分别训练。</a:t>
            </a:r>
          </a:p>
        </p:txBody>
      </p:sp>
      <p:sp>
        <p:nvSpPr>
          <p:cNvPr id="6" name="文本框 5">
            <a:extLst>
              <a:ext uri="{FF2B5EF4-FFF2-40B4-BE49-F238E27FC236}">
                <a16:creationId xmlns:a16="http://schemas.microsoft.com/office/drawing/2014/main" id="{555F3959-4A37-04F9-5947-1A460904B21A}"/>
              </a:ext>
            </a:extLst>
          </p:cNvPr>
          <p:cNvSpPr txBox="1"/>
          <p:nvPr/>
        </p:nvSpPr>
        <p:spPr>
          <a:xfrm>
            <a:off x="1070901" y="4697750"/>
            <a:ext cx="7355269" cy="923330"/>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同类算子对角线中，</a:t>
            </a:r>
            <a:r>
              <a:rPr lang="en-US" altLang="zh-CN" dirty="0">
                <a:solidFill>
                  <a:srgbClr val="000000"/>
                </a:solidFill>
                <a:latin typeface="Calibri"/>
                <a:ea typeface="微软雅黑" panose="020B0503020204020204" pitchFamily="34" charset="-122"/>
              </a:rPr>
              <a:t>Insert</a:t>
            </a:r>
            <a:r>
              <a:rPr lang="zh-CN" altLang="en-US" dirty="0">
                <a:solidFill>
                  <a:srgbClr val="000000"/>
                </a:solidFill>
                <a:latin typeface="Calibri"/>
                <a:ea typeface="微软雅黑" panose="020B0503020204020204" pitchFamily="34" charset="-122"/>
              </a:rPr>
              <a:t>和</a:t>
            </a:r>
            <a:r>
              <a:rPr lang="en-US" altLang="zh-CN" dirty="0">
                <a:solidFill>
                  <a:srgbClr val="000000"/>
                </a:solidFill>
                <a:latin typeface="Calibri"/>
                <a:ea typeface="微软雅黑" panose="020B0503020204020204" pitchFamily="34" charset="-122"/>
              </a:rPr>
              <a:t>Substitute</a:t>
            </a:r>
            <a:r>
              <a:rPr lang="zh-CN" altLang="en-US" dirty="0">
                <a:solidFill>
                  <a:srgbClr val="000000"/>
                </a:solidFill>
                <a:latin typeface="Calibri"/>
                <a:ea typeface="微软雅黑" panose="020B0503020204020204" pitchFamily="34" charset="-122"/>
              </a:rPr>
              <a:t>表现最好；不同算子组合通常优于相同算子；多种算子组合优于仅两种。</a:t>
            </a:r>
            <a:r>
              <a:rPr lang="en-US" altLang="zh-CN" dirty="0">
                <a:solidFill>
                  <a:srgbClr val="000000"/>
                </a:solidFill>
                <a:latin typeface="Calibri"/>
                <a:ea typeface="微软雅黑" panose="020B0503020204020204" pitchFamily="34" charset="-122"/>
              </a:rPr>
              <a:t>Substitute</a:t>
            </a:r>
            <a:r>
              <a:rPr lang="zh-CN" altLang="en-US" dirty="0">
                <a:solidFill>
                  <a:srgbClr val="000000"/>
                </a:solidFill>
                <a:latin typeface="Calibri"/>
                <a:ea typeface="微软雅黑" panose="020B0503020204020204" pitchFamily="34" charset="-122"/>
              </a:rPr>
              <a:t>在</a:t>
            </a:r>
            <a:r>
              <a:rPr lang="en-US" altLang="zh-CN" dirty="0">
                <a:solidFill>
                  <a:srgbClr val="000000"/>
                </a:solidFill>
                <a:latin typeface="Calibri"/>
                <a:ea typeface="微软雅黑" panose="020B0503020204020204" pitchFamily="34" charset="-122"/>
              </a:rPr>
              <a:t>Beauty</a:t>
            </a:r>
            <a:r>
              <a:rPr lang="zh-CN" altLang="en-US" dirty="0">
                <a:solidFill>
                  <a:srgbClr val="000000"/>
                </a:solidFill>
                <a:latin typeface="Calibri"/>
                <a:ea typeface="微软雅黑" panose="020B0503020204020204" pitchFamily="34" charset="-122"/>
              </a:rPr>
              <a:t>上作为单独算子表现好，在</a:t>
            </a:r>
            <a:r>
              <a:rPr lang="en-US" altLang="zh-CN" dirty="0">
                <a:solidFill>
                  <a:srgbClr val="000000"/>
                </a:solidFill>
                <a:latin typeface="Calibri"/>
                <a:ea typeface="微软雅黑" panose="020B0503020204020204" pitchFamily="34" charset="-122"/>
              </a:rPr>
              <a:t>Sports</a:t>
            </a:r>
            <a:r>
              <a:rPr lang="zh-CN" altLang="en-US" dirty="0">
                <a:solidFill>
                  <a:srgbClr val="000000"/>
                </a:solidFill>
                <a:latin typeface="Calibri"/>
                <a:ea typeface="微软雅黑" panose="020B0503020204020204" pitchFamily="34" charset="-122"/>
              </a:rPr>
              <a:t>上更适合作为互补视图。</a:t>
            </a:r>
          </a:p>
        </p:txBody>
      </p:sp>
    </p:spTree>
    <p:extLst>
      <p:ext uri="{BB962C8B-B14F-4D97-AF65-F5344CB8AC3E}">
        <p14:creationId xmlns:p14="http://schemas.microsoft.com/office/powerpoint/2010/main" val="781731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26E66-01AC-45FB-FCA1-68E08494BF9C}"/>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BE66DCE-581C-88A7-8C85-D1BB90861AAE}"/>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8BEBA3A0-2A8C-1043-DCF4-42B02C647CD5}"/>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FFA528C2-1C6F-FC97-B1C1-20535D3A4EF6}"/>
              </a:ext>
            </a:extLst>
          </p:cNvPr>
          <p:cNvSpPr txBox="1"/>
          <p:nvPr/>
        </p:nvSpPr>
        <p:spPr>
          <a:xfrm>
            <a:off x="459970" y="1143041"/>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rPr>
              <a:t>增强方法分析</a:t>
            </a:r>
          </a:p>
        </p:txBody>
      </p:sp>
      <p:pic>
        <p:nvPicPr>
          <p:cNvPr id="2" name="图片 1">
            <a:extLst>
              <a:ext uri="{FF2B5EF4-FFF2-40B4-BE49-F238E27FC236}">
                <a16:creationId xmlns:a16="http://schemas.microsoft.com/office/drawing/2014/main" id="{A9A2AED4-A1D1-D123-6E16-D7345DB3967B}"/>
              </a:ext>
            </a:extLst>
          </p:cNvPr>
          <p:cNvPicPr>
            <a:picLocks noChangeAspect="1"/>
          </p:cNvPicPr>
          <p:nvPr/>
        </p:nvPicPr>
        <p:blipFill>
          <a:blip r:embed="rId2"/>
          <a:stretch>
            <a:fillRect/>
          </a:stretch>
        </p:blipFill>
        <p:spPr>
          <a:xfrm>
            <a:off x="948982" y="2198970"/>
            <a:ext cx="6063931" cy="1762225"/>
          </a:xfrm>
          <a:prstGeom prst="rect">
            <a:avLst/>
          </a:prstGeom>
        </p:spPr>
      </p:pic>
      <p:pic>
        <p:nvPicPr>
          <p:cNvPr id="4" name="图片 3">
            <a:extLst>
              <a:ext uri="{FF2B5EF4-FFF2-40B4-BE49-F238E27FC236}">
                <a16:creationId xmlns:a16="http://schemas.microsoft.com/office/drawing/2014/main" id="{7111B87F-7A5A-3849-0A46-03F3313241DA}"/>
              </a:ext>
            </a:extLst>
          </p:cNvPr>
          <p:cNvPicPr>
            <a:picLocks noChangeAspect="1"/>
          </p:cNvPicPr>
          <p:nvPr/>
        </p:nvPicPr>
        <p:blipFill>
          <a:blip r:embed="rId3"/>
          <a:stretch>
            <a:fillRect/>
          </a:stretch>
        </p:blipFill>
        <p:spPr>
          <a:xfrm>
            <a:off x="948981" y="3961195"/>
            <a:ext cx="6063931" cy="1669048"/>
          </a:xfrm>
          <a:prstGeom prst="rect">
            <a:avLst/>
          </a:prstGeom>
        </p:spPr>
      </p:pic>
      <p:sp>
        <p:nvSpPr>
          <p:cNvPr id="6" name="文本框 5">
            <a:extLst>
              <a:ext uri="{FF2B5EF4-FFF2-40B4-BE49-F238E27FC236}">
                <a16:creationId xmlns:a16="http://schemas.microsoft.com/office/drawing/2014/main" id="{71959C03-CED5-EFB4-C64B-C2BD8B40205A}"/>
              </a:ext>
            </a:extLst>
          </p:cNvPr>
          <p:cNvSpPr txBox="1"/>
          <p:nvPr/>
        </p:nvSpPr>
        <p:spPr>
          <a:xfrm>
            <a:off x="920583" y="1593291"/>
            <a:ext cx="6120726" cy="663610"/>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短序列增强集选择</a:t>
            </a:r>
            <a:r>
              <a:rPr lang="en-US" altLang="zh-CN" dirty="0">
                <a:solidFill>
                  <a:srgbClr val="000000"/>
                </a:solidFill>
                <a:latin typeface="Calibri"/>
                <a:ea typeface="微软雅黑" panose="020B0503020204020204" pitchFamily="34" charset="-122"/>
              </a:rPr>
              <a:t>:</a:t>
            </a:r>
            <a:r>
              <a:rPr lang="zh-CN" altLang="en-US" dirty="0">
                <a:solidFill>
                  <a:srgbClr val="000000"/>
                </a:solidFill>
                <a:latin typeface="Calibri"/>
                <a:ea typeface="微软雅黑" panose="020B0503020204020204" pitchFamily="34" charset="-122"/>
              </a:rPr>
              <a:t>对短序列尝试不同的增强组合，如</a:t>
            </a:r>
            <a:r>
              <a:rPr lang="en-US" altLang="zh-CN" dirty="0">
                <a:solidFill>
                  <a:srgbClr val="000000"/>
                </a:solidFill>
                <a:latin typeface="Calibri"/>
                <a:ea typeface="微软雅黑" panose="020B0503020204020204" pitchFamily="34" charset="-122"/>
              </a:rPr>
              <a:t>{S,I}</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{S,I,M}</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{S,I,R}</a:t>
            </a:r>
            <a:r>
              <a:rPr lang="zh-CN" altLang="en-US" dirty="0">
                <a:solidFill>
                  <a:srgbClr val="000000"/>
                </a:solidFill>
                <a:latin typeface="Calibri"/>
                <a:ea typeface="微软雅黑" panose="020B0503020204020204" pitchFamily="34" charset="-122"/>
              </a:rPr>
              <a:t>等</a:t>
            </a:r>
          </a:p>
        </p:txBody>
      </p:sp>
      <p:sp>
        <p:nvSpPr>
          <p:cNvPr id="7" name="文本框 6">
            <a:extLst>
              <a:ext uri="{FF2B5EF4-FFF2-40B4-BE49-F238E27FC236}">
                <a16:creationId xmlns:a16="http://schemas.microsoft.com/office/drawing/2014/main" id="{BB85CCA4-D2CA-E0C9-6EE5-B5138176829D}"/>
              </a:ext>
            </a:extLst>
          </p:cNvPr>
          <p:cNvSpPr txBox="1"/>
          <p:nvPr/>
        </p:nvSpPr>
        <p:spPr>
          <a:xfrm>
            <a:off x="948165" y="5808492"/>
            <a:ext cx="7355269" cy="646331"/>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所有包含信息性增强的组合都优于只是用随机增强的</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{S,I,M}</a:t>
            </a:r>
            <a:r>
              <a:rPr lang="zh-CN" altLang="en-US" dirty="0">
                <a:solidFill>
                  <a:srgbClr val="000000"/>
                </a:solidFill>
                <a:latin typeface="Calibri"/>
                <a:ea typeface="微软雅黑" panose="020B0503020204020204" pitchFamily="34" charset="-122"/>
              </a:rPr>
              <a:t>最优；</a:t>
            </a:r>
            <a:r>
              <a:rPr lang="en-US" altLang="zh-CN" dirty="0">
                <a:solidFill>
                  <a:srgbClr val="000000"/>
                </a:solidFill>
                <a:latin typeface="Calibri"/>
                <a:ea typeface="微软雅黑" panose="020B0503020204020204" pitchFamily="34" charset="-122"/>
              </a:rPr>
              <a:t>{S,I,M}</a:t>
            </a:r>
            <a:r>
              <a:rPr lang="zh-CN" altLang="en-US" dirty="0">
                <a:solidFill>
                  <a:srgbClr val="000000"/>
                </a:solidFill>
                <a:latin typeface="Calibri"/>
                <a:ea typeface="微软雅黑" panose="020B0503020204020204" pitchFamily="34" charset="-122"/>
              </a:rPr>
              <a:t>优于</a:t>
            </a:r>
            <a:r>
              <a:rPr lang="en-US" altLang="zh-CN" dirty="0">
                <a:solidFill>
                  <a:srgbClr val="000000"/>
                </a:solidFill>
                <a:latin typeface="Calibri"/>
                <a:ea typeface="微软雅黑" panose="020B0503020204020204" pitchFamily="34" charset="-122"/>
              </a:rPr>
              <a:t>{S,I,M,R,C}</a:t>
            </a:r>
            <a:r>
              <a:rPr lang="zh-CN" altLang="en-US" dirty="0">
                <a:solidFill>
                  <a:srgbClr val="000000"/>
                </a:solidFill>
                <a:latin typeface="Calibri"/>
                <a:ea typeface="微软雅黑" panose="020B0503020204020204" pitchFamily="34" charset="-122"/>
              </a:rPr>
              <a:t>，证实对短序列区分增强策略的必要性</a:t>
            </a:r>
          </a:p>
        </p:txBody>
      </p:sp>
    </p:spTree>
    <p:extLst>
      <p:ext uri="{BB962C8B-B14F-4D97-AF65-F5344CB8AC3E}">
        <p14:creationId xmlns:p14="http://schemas.microsoft.com/office/powerpoint/2010/main" val="127093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2EBB-C914-C3CF-BECD-E9AE2A298454}"/>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EACA23B-9751-7ED9-B73C-4BA346057008}"/>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60DCBAA7-51BF-BB7F-1E06-8D55A836D776}"/>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DC423896-6302-C862-F52A-CBC5A004C4E7}"/>
              </a:ext>
            </a:extLst>
          </p:cNvPr>
          <p:cNvSpPr txBox="1"/>
          <p:nvPr/>
        </p:nvSpPr>
        <p:spPr>
          <a:xfrm>
            <a:off x="942798" y="1196890"/>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鲁棒性分析</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sp>
        <p:nvSpPr>
          <p:cNvPr id="6" name="文本框 5">
            <a:extLst>
              <a:ext uri="{FF2B5EF4-FFF2-40B4-BE49-F238E27FC236}">
                <a16:creationId xmlns:a16="http://schemas.microsoft.com/office/drawing/2014/main" id="{77A6A6C9-890D-2D74-ABB7-0879897772B2}"/>
              </a:ext>
            </a:extLst>
          </p:cNvPr>
          <p:cNvSpPr txBox="1"/>
          <p:nvPr/>
        </p:nvSpPr>
        <p:spPr>
          <a:xfrm>
            <a:off x="992331" y="1658415"/>
            <a:ext cx="8941120" cy="369332"/>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分别使用</a:t>
            </a:r>
            <a:r>
              <a:rPr lang="en-US" altLang="zh-CN" dirty="0">
                <a:solidFill>
                  <a:srgbClr val="000000"/>
                </a:solidFill>
                <a:latin typeface="Calibri"/>
                <a:ea typeface="微软雅黑" panose="020B0503020204020204" pitchFamily="34" charset="-122"/>
              </a:rPr>
              <a:t>25%</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50%</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75%</a:t>
            </a:r>
            <a:r>
              <a:rPr lang="zh-CN" altLang="en-US"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100%</a:t>
            </a:r>
            <a:r>
              <a:rPr lang="zh-CN" altLang="en-US" dirty="0">
                <a:solidFill>
                  <a:srgbClr val="000000"/>
                </a:solidFill>
                <a:latin typeface="Calibri"/>
                <a:ea typeface="微软雅黑" panose="020B0503020204020204" pitchFamily="34" charset="-122"/>
              </a:rPr>
              <a:t>训练数据训练，测试集不变，比较</a:t>
            </a:r>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和</a:t>
            </a:r>
            <a:r>
              <a:rPr lang="en-US" altLang="zh-CN" dirty="0">
                <a:solidFill>
                  <a:srgbClr val="000000"/>
                </a:solidFill>
                <a:latin typeface="Calibri"/>
                <a:ea typeface="微软雅黑" panose="020B0503020204020204" pitchFamily="34" charset="-122"/>
              </a:rPr>
              <a:t>CL4SRec</a:t>
            </a:r>
            <a:endParaRPr lang="zh-CN" altLang="en-US" dirty="0">
              <a:solidFill>
                <a:srgbClr val="000000"/>
              </a:solidFill>
              <a:latin typeface="Calibri"/>
              <a:ea typeface="微软雅黑" panose="020B0503020204020204" pitchFamily="34" charset="-122"/>
            </a:endParaRPr>
          </a:p>
        </p:txBody>
      </p:sp>
      <p:sp>
        <p:nvSpPr>
          <p:cNvPr id="7" name="文本框 6">
            <a:extLst>
              <a:ext uri="{FF2B5EF4-FFF2-40B4-BE49-F238E27FC236}">
                <a16:creationId xmlns:a16="http://schemas.microsoft.com/office/drawing/2014/main" id="{9A2803F7-0240-9842-4042-33ABC4E9B937}"/>
              </a:ext>
            </a:extLst>
          </p:cNvPr>
          <p:cNvSpPr txBox="1"/>
          <p:nvPr/>
        </p:nvSpPr>
        <p:spPr>
          <a:xfrm>
            <a:off x="942798" y="5565913"/>
            <a:ext cx="8522946" cy="920080"/>
          </a:xfrm>
          <a:prstGeom prst="rect">
            <a:avLst/>
          </a:prstGeom>
          <a:noFill/>
        </p:spPr>
        <p:txBody>
          <a:bodyPr wrap="square" rtlCol="0">
            <a:spAutoFit/>
          </a:bodyPr>
          <a:lstStyle/>
          <a:p>
            <a:pPr defTabSz="914400"/>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始终优于没有信息增强方法的</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，且性能下降更慢。在</a:t>
            </a:r>
            <a:r>
              <a:rPr lang="en-US" altLang="zh-CN" dirty="0">
                <a:solidFill>
                  <a:srgbClr val="000000"/>
                </a:solidFill>
                <a:latin typeface="Calibri"/>
                <a:ea typeface="微软雅黑" panose="020B0503020204020204" pitchFamily="34" charset="-122"/>
              </a:rPr>
              <a:t>Sports</a:t>
            </a:r>
            <a:r>
              <a:rPr lang="zh-CN" altLang="en-US" dirty="0">
                <a:solidFill>
                  <a:srgbClr val="000000"/>
                </a:solidFill>
                <a:latin typeface="Calibri"/>
                <a:ea typeface="微软雅黑" panose="020B0503020204020204" pitchFamily="34" charset="-122"/>
              </a:rPr>
              <a:t>上，</a:t>
            </a:r>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用</a:t>
            </a:r>
            <a:r>
              <a:rPr lang="en-US" altLang="zh-CN" dirty="0">
                <a:solidFill>
                  <a:srgbClr val="000000"/>
                </a:solidFill>
                <a:latin typeface="Calibri"/>
                <a:ea typeface="微软雅黑" panose="020B0503020204020204" pitchFamily="34" charset="-122"/>
              </a:rPr>
              <a:t>75%</a:t>
            </a:r>
            <a:r>
              <a:rPr lang="zh-CN" altLang="en-US" dirty="0">
                <a:solidFill>
                  <a:srgbClr val="000000"/>
                </a:solidFill>
                <a:latin typeface="Calibri"/>
                <a:ea typeface="微软雅黑" panose="020B0503020204020204" pitchFamily="34" charset="-122"/>
              </a:rPr>
              <a:t>数据即达到</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用</a:t>
            </a:r>
            <a:r>
              <a:rPr lang="en-US" altLang="zh-CN" dirty="0">
                <a:solidFill>
                  <a:srgbClr val="000000"/>
                </a:solidFill>
                <a:latin typeface="Calibri"/>
                <a:ea typeface="微软雅黑" panose="020B0503020204020204" pitchFamily="34" charset="-122"/>
              </a:rPr>
              <a:t>100%</a:t>
            </a:r>
            <a:r>
              <a:rPr lang="zh-CN" altLang="en-US" dirty="0">
                <a:solidFill>
                  <a:srgbClr val="000000"/>
                </a:solidFill>
                <a:latin typeface="Calibri"/>
                <a:ea typeface="微软雅黑" panose="020B0503020204020204" pitchFamily="34" charset="-122"/>
              </a:rPr>
              <a:t>数据的性能；</a:t>
            </a:r>
            <a:r>
              <a:rPr lang="en-US" altLang="zh-CN" dirty="0">
                <a:solidFill>
                  <a:srgbClr val="000000"/>
                </a:solidFill>
                <a:latin typeface="Calibri"/>
                <a:ea typeface="微软雅黑" panose="020B0503020204020204" pitchFamily="34" charset="-122"/>
              </a:rPr>
              <a:t>50%</a:t>
            </a:r>
            <a:r>
              <a:rPr lang="zh-CN" altLang="en-US" dirty="0">
                <a:solidFill>
                  <a:srgbClr val="000000"/>
                </a:solidFill>
                <a:latin typeface="Calibri"/>
                <a:ea typeface="微软雅黑" panose="020B0503020204020204" pitchFamily="34" charset="-122"/>
              </a:rPr>
              <a:t>数据时</a:t>
            </a:r>
            <a:r>
              <a:rPr lang="en-US" altLang="zh-CN" dirty="0">
                <a:solidFill>
                  <a:srgbClr val="000000"/>
                </a:solidFill>
                <a:latin typeface="Calibri"/>
                <a:ea typeface="微软雅黑" panose="020B0503020204020204" pitchFamily="34" charset="-122"/>
              </a:rPr>
              <a:t>CL4SRec</a:t>
            </a:r>
            <a:r>
              <a:rPr lang="zh-CN" altLang="en-US" dirty="0">
                <a:solidFill>
                  <a:srgbClr val="000000"/>
                </a:solidFill>
                <a:latin typeface="Calibri"/>
                <a:ea typeface="微软雅黑" panose="020B0503020204020204" pitchFamily="34" charset="-122"/>
              </a:rPr>
              <a:t>性能下降</a:t>
            </a:r>
            <a:r>
              <a:rPr lang="en-US" altLang="zh-CN" dirty="0">
                <a:solidFill>
                  <a:srgbClr val="000000"/>
                </a:solidFill>
                <a:latin typeface="Calibri"/>
                <a:ea typeface="微软雅黑" panose="020B0503020204020204" pitchFamily="34" charset="-122"/>
              </a:rPr>
              <a:t>76.19%</a:t>
            </a:r>
            <a:r>
              <a:rPr lang="zh-CN" altLang="en-US" dirty="0">
                <a:solidFill>
                  <a:srgbClr val="000000"/>
                </a:solidFill>
                <a:latin typeface="Calibri"/>
                <a:ea typeface="微软雅黑" panose="020B0503020204020204" pitchFamily="34" charset="-122"/>
              </a:rPr>
              <a:t>，</a:t>
            </a:r>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仅下降</a:t>
            </a:r>
            <a:r>
              <a:rPr lang="en-US" altLang="zh-CN" dirty="0">
                <a:solidFill>
                  <a:srgbClr val="000000"/>
                </a:solidFill>
                <a:latin typeface="Calibri"/>
                <a:ea typeface="微软雅黑" panose="020B0503020204020204" pitchFamily="34" charset="-122"/>
              </a:rPr>
              <a:t>34%</a:t>
            </a:r>
            <a:r>
              <a:rPr lang="zh-CN" altLang="en-US" dirty="0">
                <a:solidFill>
                  <a:srgbClr val="000000"/>
                </a:solidFill>
                <a:latin typeface="Calibri"/>
                <a:ea typeface="微软雅黑" panose="020B0503020204020204" pitchFamily="34" charset="-122"/>
              </a:rPr>
              <a:t>。</a:t>
            </a:r>
          </a:p>
        </p:txBody>
      </p:sp>
      <p:pic>
        <p:nvPicPr>
          <p:cNvPr id="12" name="图片 11">
            <a:extLst>
              <a:ext uri="{FF2B5EF4-FFF2-40B4-BE49-F238E27FC236}">
                <a16:creationId xmlns:a16="http://schemas.microsoft.com/office/drawing/2014/main" id="{5F1C0D58-F9BB-D3E7-A22A-699FFC6520F6}"/>
              </a:ext>
            </a:extLst>
          </p:cNvPr>
          <p:cNvPicPr>
            <a:picLocks noChangeAspect="1"/>
          </p:cNvPicPr>
          <p:nvPr/>
        </p:nvPicPr>
        <p:blipFill>
          <a:blip r:embed="rId2"/>
          <a:stretch>
            <a:fillRect/>
          </a:stretch>
        </p:blipFill>
        <p:spPr>
          <a:xfrm>
            <a:off x="942798" y="2027747"/>
            <a:ext cx="5289273" cy="1780638"/>
          </a:xfrm>
          <a:prstGeom prst="rect">
            <a:avLst/>
          </a:prstGeom>
        </p:spPr>
      </p:pic>
      <p:pic>
        <p:nvPicPr>
          <p:cNvPr id="16" name="图片 15">
            <a:extLst>
              <a:ext uri="{FF2B5EF4-FFF2-40B4-BE49-F238E27FC236}">
                <a16:creationId xmlns:a16="http://schemas.microsoft.com/office/drawing/2014/main" id="{24F2091F-7A7C-8756-52C8-34F237FA5EF9}"/>
              </a:ext>
            </a:extLst>
          </p:cNvPr>
          <p:cNvPicPr>
            <a:picLocks noChangeAspect="1"/>
          </p:cNvPicPr>
          <p:nvPr/>
        </p:nvPicPr>
        <p:blipFill>
          <a:blip r:embed="rId3"/>
          <a:stretch>
            <a:fillRect/>
          </a:stretch>
        </p:blipFill>
        <p:spPr>
          <a:xfrm>
            <a:off x="942798" y="3808385"/>
            <a:ext cx="5289273" cy="1785840"/>
          </a:xfrm>
          <a:prstGeom prst="rect">
            <a:avLst/>
          </a:prstGeom>
        </p:spPr>
      </p:pic>
    </p:spTree>
    <p:extLst>
      <p:ext uri="{BB962C8B-B14F-4D97-AF65-F5344CB8AC3E}">
        <p14:creationId xmlns:p14="http://schemas.microsoft.com/office/powerpoint/2010/main" val="1954874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3C799-90E1-FBF2-7364-89CCBE1D6D72}"/>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C964EE5E-9B34-7F8D-D375-9252DA056864}"/>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28DB80B7-BCA5-DD90-5D4C-E029F9E04581}"/>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33E0D45A-4F3A-AA2F-FF0F-A11D1EA0694B}"/>
              </a:ext>
            </a:extLst>
          </p:cNvPr>
          <p:cNvSpPr txBox="1"/>
          <p:nvPr/>
        </p:nvSpPr>
        <p:spPr>
          <a:xfrm>
            <a:off x="814993" y="1192450"/>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超参数研究</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DDC14140-F447-ED48-4F0D-A68027986E8A}"/>
              </a:ext>
            </a:extLst>
          </p:cNvPr>
          <p:cNvPicPr>
            <a:picLocks noChangeAspect="1"/>
          </p:cNvPicPr>
          <p:nvPr/>
        </p:nvPicPr>
        <p:blipFill>
          <a:blip r:embed="rId2"/>
          <a:stretch>
            <a:fillRect/>
          </a:stretch>
        </p:blipFill>
        <p:spPr>
          <a:xfrm>
            <a:off x="759574" y="2578480"/>
            <a:ext cx="9731088" cy="2402240"/>
          </a:xfrm>
          <a:prstGeom prst="rect">
            <a:avLst/>
          </a:prstGeom>
        </p:spPr>
      </p:pic>
      <p:sp>
        <p:nvSpPr>
          <p:cNvPr id="4" name="文本框 3">
            <a:extLst>
              <a:ext uri="{FF2B5EF4-FFF2-40B4-BE49-F238E27FC236}">
                <a16:creationId xmlns:a16="http://schemas.microsoft.com/office/drawing/2014/main" id="{FDB0529C-9A7D-6FF8-96C3-8D69DFD21707}"/>
              </a:ext>
            </a:extLst>
          </p:cNvPr>
          <p:cNvSpPr txBox="1"/>
          <p:nvPr/>
        </p:nvSpPr>
        <p:spPr>
          <a:xfrm>
            <a:off x="814993" y="1655150"/>
            <a:ext cx="8941120" cy="923330"/>
          </a:xfrm>
          <a:prstGeom prst="rect">
            <a:avLst/>
          </a:prstGeom>
          <a:noFill/>
        </p:spPr>
        <p:txBody>
          <a:bodyPr wrap="square" rtlCol="0">
            <a:spAutoFit/>
          </a:bodyPr>
          <a:lstStyle/>
          <a:p>
            <a:pPr defTabSz="914400"/>
            <a:r>
              <a:rPr lang="zh-CN" altLang="zh-CN" dirty="0">
                <a:solidFill>
                  <a:srgbClr val="000000"/>
                </a:solidFill>
                <a:latin typeface="Calibri"/>
                <a:ea typeface="微软雅黑" panose="020B0503020204020204" pitchFamily="34" charset="-122"/>
              </a:rPr>
              <a:t>此</a:t>
            </a:r>
            <a:r>
              <a:rPr lang="zh-CN" altLang="en-US" dirty="0">
                <a:solidFill>
                  <a:srgbClr val="000000"/>
                </a:solidFill>
                <a:latin typeface="Calibri"/>
                <a:ea typeface="微软雅黑" panose="020B0503020204020204" pitchFamily="34" charset="-122"/>
              </a:rPr>
              <a:t>实验</a:t>
            </a:r>
            <a:r>
              <a:rPr lang="zh-CN" altLang="zh-CN" dirty="0">
                <a:solidFill>
                  <a:srgbClr val="000000"/>
                </a:solidFill>
                <a:latin typeface="Calibri"/>
                <a:ea typeface="微软雅黑" panose="020B0503020204020204" pitchFamily="34" charset="-122"/>
              </a:rPr>
              <a:t>来</a:t>
            </a:r>
            <a:r>
              <a:rPr lang="zh-CN" altLang="en-US" dirty="0">
                <a:solidFill>
                  <a:srgbClr val="000000"/>
                </a:solidFill>
                <a:latin typeface="Calibri"/>
                <a:ea typeface="微软雅黑" panose="020B0503020204020204" pitchFamily="34" charset="-122"/>
              </a:rPr>
              <a:t>探究</a:t>
            </a:r>
            <a:r>
              <a:rPr lang="en-US" altLang="zh-CN" dirty="0" err="1">
                <a:solidFill>
                  <a:srgbClr val="000000"/>
                </a:solidFill>
                <a:latin typeface="Calibri"/>
                <a:ea typeface="微软雅黑" panose="020B0503020204020204" pitchFamily="34" charset="-122"/>
              </a:rPr>
              <a:t>InfoSSLRec</a:t>
            </a:r>
            <a:r>
              <a:rPr lang="zh-CN" altLang="zh-CN" dirty="0">
                <a:solidFill>
                  <a:srgbClr val="000000"/>
                </a:solidFill>
                <a:latin typeface="Calibri"/>
                <a:ea typeface="微软雅黑" panose="020B0503020204020204" pitchFamily="34" charset="-122"/>
              </a:rPr>
              <a:t>当中的四个关键超参数所起到的作用，这四个超参数分别是替换比例</a:t>
            </a:r>
            <a:r>
              <a:rPr lang="en-US" altLang="zh-CN" dirty="0">
                <a:solidFill>
                  <a:srgbClr val="000000"/>
                </a:solidFill>
                <a:latin typeface="Calibri"/>
                <a:ea typeface="微软雅黑" panose="020B0503020204020204" pitchFamily="34" charset="-122"/>
              </a:rPr>
              <a:t>alpha</a:t>
            </a:r>
            <a:r>
              <a:rPr lang="zh-CN" altLang="zh-CN" dirty="0">
                <a:solidFill>
                  <a:srgbClr val="000000"/>
                </a:solidFill>
                <a:latin typeface="Calibri"/>
                <a:ea typeface="微软雅黑" panose="020B0503020204020204" pitchFamily="34" charset="-122"/>
              </a:rPr>
              <a:t>，插入比例</a:t>
            </a:r>
            <a:r>
              <a:rPr lang="en-US" altLang="zh-CN" dirty="0">
                <a:solidFill>
                  <a:srgbClr val="000000"/>
                </a:solidFill>
                <a:latin typeface="Calibri"/>
                <a:ea typeface="微软雅黑" panose="020B0503020204020204" pitchFamily="34" charset="-122"/>
              </a:rPr>
              <a:t>beta</a:t>
            </a:r>
            <a:r>
              <a:rPr lang="zh-CN" altLang="zh-CN" dirty="0">
                <a:solidFill>
                  <a:srgbClr val="000000"/>
                </a:solidFill>
                <a:latin typeface="Calibri"/>
                <a:ea typeface="微软雅黑" panose="020B0503020204020204" pitchFamily="34" charset="-122"/>
              </a:rPr>
              <a:t>，序列长度阈值</a:t>
            </a:r>
            <a:r>
              <a:rPr lang="en-US" altLang="zh-CN" dirty="0">
                <a:solidFill>
                  <a:srgbClr val="000000"/>
                </a:solidFill>
                <a:latin typeface="Calibri"/>
                <a:ea typeface="微软雅黑" panose="020B0503020204020204" pitchFamily="34" charset="-122"/>
              </a:rPr>
              <a:t>K</a:t>
            </a:r>
            <a:r>
              <a:rPr lang="zh-CN" altLang="zh-CN" dirty="0">
                <a:solidFill>
                  <a:srgbClr val="000000"/>
                </a:solidFill>
                <a:latin typeface="Calibri"/>
                <a:ea typeface="微软雅黑" panose="020B0503020204020204" pitchFamily="34" charset="-122"/>
              </a:rPr>
              <a:t>以及对比学习强度</a:t>
            </a:r>
            <a:r>
              <a:rPr lang="en-US" altLang="zh-CN" dirty="0">
                <a:solidFill>
                  <a:srgbClr val="000000"/>
                </a:solidFill>
                <a:latin typeface="Calibri"/>
                <a:ea typeface="微软雅黑" panose="020B0503020204020204" pitchFamily="34" charset="-122"/>
              </a:rPr>
              <a:t>lambda</a:t>
            </a:r>
            <a:r>
              <a:rPr lang="zh-CN" altLang="zh-CN" dirty="0">
                <a:solidFill>
                  <a:srgbClr val="000000"/>
                </a:solidFill>
                <a:latin typeface="Calibri"/>
                <a:ea typeface="微软雅黑" panose="020B0503020204020204" pitchFamily="34" charset="-122"/>
              </a:rPr>
              <a:t>。实验运用控制变量法，每一次仅仅改变一个超参数，其他的超参数固定成为优化过后的最佳的值。</a:t>
            </a:r>
            <a:endParaRPr lang="zh-CN" altLang="en-US" dirty="0">
              <a:solidFill>
                <a:srgbClr val="000000"/>
              </a:solidFill>
              <a:latin typeface="Calibri"/>
              <a:ea typeface="微软雅黑" panose="020B0503020204020204" pitchFamily="34" charset="-122"/>
            </a:endParaRPr>
          </a:p>
        </p:txBody>
      </p:sp>
      <p:sp>
        <p:nvSpPr>
          <p:cNvPr id="6" name="文本框 5">
            <a:extLst>
              <a:ext uri="{FF2B5EF4-FFF2-40B4-BE49-F238E27FC236}">
                <a16:creationId xmlns:a16="http://schemas.microsoft.com/office/drawing/2014/main" id="{D235BDF4-FE3E-AC6C-3C6C-3A41B2C2F20C}"/>
              </a:ext>
            </a:extLst>
          </p:cNvPr>
          <p:cNvSpPr txBox="1"/>
          <p:nvPr/>
        </p:nvSpPr>
        <p:spPr>
          <a:xfrm>
            <a:off x="992331" y="5111552"/>
            <a:ext cx="8522946" cy="369332"/>
          </a:xfrm>
          <a:prstGeom prst="rect">
            <a:avLst/>
          </a:prstGeom>
          <a:noFill/>
        </p:spPr>
        <p:txBody>
          <a:bodyPr wrap="square" rtlCol="0">
            <a:spAutoFit/>
          </a:bodyPr>
          <a:lstStyle/>
          <a:p>
            <a:pPr defTabSz="914400"/>
            <a:r>
              <a:rPr lang="zh-CN" altLang="en-US" dirty="0">
                <a:solidFill>
                  <a:srgbClr val="000000"/>
                </a:solidFill>
                <a:latin typeface="Calibri"/>
                <a:ea typeface="微软雅黑" panose="020B0503020204020204" pitchFamily="34" charset="-122"/>
              </a:rPr>
              <a:t>此图是</a:t>
            </a:r>
            <a:r>
              <a:rPr lang="en-US" altLang="zh-CN" dirty="0" err="1">
                <a:solidFill>
                  <a:srgbClr val="000000"/>
                </a:solidFill>
                <a:latin typeface="Calibri"/>
                <a:ea typeface="微软雅黑" panose="020B0503020204020204" pitchFamily="34" charset="-122"/>
              </a:rPr>
              <a:t>infoSSLRec</a:t>
            </a:r>
            <a:r>
              <a:rPr lang="zh-CN" altLang="zh-CN" dirty="0">
                <a:solidFill>
                  <a:srgbClr val="000000"/>
                </a:solidFill>
                <a:latin typeface="Calibri"/>
                <a:ea typeface="微软雅黑" panose="020B0503020204020204" pitchFamily="34" charset="-122"/>
              </a:rPr>
              <a:t>在</a:t>
            </a:r>
            <a:r>
              <a:rPr lang="en-US" altLang="zh-CN" dirty="0">
                <a:solidFill>
                  <a:srgbClr val="000000"/>
                </a:solidFill>
                <a:latin typeface="Calibri"/>
                <a:ea typeface="微软雅黑" panose="020B0503020204020204" pitchFamily="34" charset="-122"/>
              </a:rPr>
              <a:t>beauty</a:t>
            </a:r>
            <a:r>
              <a:rPr lang="zh-CN" altLang="zh-CN" dirty="0">
                <a:solidFill>
                  <a:srgbClr val="000000"/>
                </a:solidFill>
                <a:latin typeface="Calibri"/>
                <a:ea typeface="微软雅黑" panose="020B0503020204020204" pitchFamily="34" charset="-122"/>
              </a:rPr>
              <a:t>数据集上针对不同</a:t>
            </a:r>
            <a:r>
              <a:rPr lang="en-US" altLang="zh-CN" dirty="0">
                <a:solidFill>
                  <a:srgbClr val="000000"/>
                </a:solidFill>
                <a:latin typeface="Calibri"/>
                <a:ea typeface="微软雅黑" panose="020B0503020204020204" pitchFamily="34" charset="-122"/>
              </a:rPr>
              <a:t>𝛼</a:t>
            </a:r>
            <a:r>
              <a:rPr lang="zh-CN" altLang="zh-CN"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𝛽</a:t>
            </a:r>
            <a:r>
              <a:rPr lang="zh-CN" altLang="zh-CN"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𝐾</a:t>
            </a:r>
            <a:r>
              <a:rPr lang="zh-CN" altLang="zh-CN" dirty="0">
                <a:solidFill>
                  <a:srgbClr val="000000"/>
                </a:solidFill>
                <a:latin typeface="Calibri"/>
                <a:ea typeface="微软雅黑" panose="020B0503020204020204" pitchFamily="34" charset="-122"/>
              </a:rPr>
              <a:t>和</a:t>
            </a:r>
            <a:r>
              <a:rPr lang="en-US" altLang="zh-CN" dirty="0">
                <a:solidFill>
                  <a:srgbClr val="000000"/>
                </a:solidFill>
                <a:latin typeface="Calibri"/>
                <a:ea typeface="微软雅黑" panose="020B0503020204020204" pitchFamily="34" charset="-122"/>
              </a:rPr>
              <a:t>𝜆</a:t>
            </a:r>
            <a:r>
              <a:rPr lang="zh-CN" altLang="zh-CN" dirty="0">
                <a:solidFill>
                  <a:srgbClr val="000000"/>
                </a:solidFill>
                <a:latin typeface="Calibri"/>
                <a:ea typeface="微软雅黑" panose="020B0503020204020204" pitchFamily="34" charset="-122"/>
              </a:rPr>
              <a:t>的性能对比</a:t>
            </a:r>
            <a:endParaRPr lang="zh-CN" altLang="en-US" dirty="0">
              <a:solidFill>
                <a:srgbClr val="000000"/>
              </a:solidFill>
              <a:latin typeface="Calibri"/>
              <a:ea typeface="微软雅黑" panose="020B0503020204020204" pitchFamily="34" charset="-122"/>
            </a:endParaRPr>
          </a:p>
        </p:txBody>
      </p:sp>
    </p:spTree>
    <p:extLst>
      <p:ext uri="{BB962C8B-B14F-4D97-AF65-F5344CB8AC3E}">
        <p14:creationId xmlns:p14="http://schemas.microsoft.com/office/powerpoint/2010/main" val="199180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90B69-FEFA-4C6F-92F1-9AF25C66A068}"/>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7E96462-2D21-92C1-FC48-562336CA16BA}"/>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A1BC75F2-2765-076D-DB38-1924E7EA412A}"/>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EBF71DA1-C423-00C2-BA2F-FF653E38ED8C}"/>
              </a:ext>
            </a:extLst>
          </p:cNvPr>
          <p:cNvSpPr txBox="1"/>
          <p:nvPr/>
        </p:nvSpPr>
        <p:spPr>
          <a:xfrm>
            <a:off x="992331" y="1083904"/>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超参数研究</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D0968C1D-C0DF-C498-FA7D-07A14575E020}"/>
              </a:ext>
            </a:extLst>
          </p:cNvPr>
          <p:cNvPicPr>
            <a:picLocks noChangeAspect="1"/>
          </p:cNvPicPr>
          <p:nvPr/>
        </p:nvPicPr>
        <p:blipFill>
          <a:blip r:embed="rId2"/>
          <a:stretch>
            <a:fillRect/>
          </a:stretch>
        </p:blipFill>
        <p:spPr>
          <a:xfrm>
            <a:off x="992331" y="1773384"/>
            <a:ext cx="9983278" cy="2499578"/>
          </a:xfrm>
          <a:prstGeom prst="rect">
            <a:avLst/>
          </a:prstGeom>
        </p:spPr>
      </p:pic>
      <p:sp>
        <p:nvSpPr>
          <p:cNvPr id="4" name="文本框 3">
            <a:extLst>
              <a:ext uri="{FF2B5EF4-FFF2-40B4-BE49-F238E27FC236}">
                <a16:creationId xmlns:a16="http://schemas.microsoft.com/office/drawing/2014/main" id="{B884D9B4-78D8-88E2-97EA-A552B9880540}"/>
              </a:ext>
            </a:extLst>
          </p:cNvPr>
          <p:cNvSpPr txBox="1"/>
          <p:nvPr/>
        </p:nvSpPr>
        <p:spPr>
          <a:xfrm>
            <a:off x="992331" y="1492375"/>
            <a:ext cx="8941120" cy="369332"/>
          </a:xfrm>
          <a:prstGeom prst="rect">
            <a:avLst/>
          </a:prstGeom>
          <a:noFill/>
        </p:spPr>
        <p:txBody>
          <a:bodyPr wrap="square" rtlCol="0">
            <a:spAutoFit/>
          </a:bodyPr>
          <a:lstStyle/>
          <a:p>
            <a:pPr defTabSz="914400">
              <a:defRPr/>
            </a:pPr>
            <a:r>
              <a:rPr lang="zh-CN" altLang="en-US" dirty="0">
                <a:solidFill>
                  <a:srgbClr val="000000"/>
                </a:solidFill>
                <a:latin typeface="Calibri"/>
                <a:ea typeface="微软雅黑" panose="020B0503020204020204" pitchFamily="34" charset="-122"/>
              </a:rPr>
              <a:t>此图是</a:t>
            </a:r>
            <a:r>
              <a:rPr lang="en-US" altLang="zh-CN" dirty="0" err="1">
                <a:solidFill>
                  <a:srgbClr val="000000"/>
                </a:solidFill>
                <a:latin typeface="Calibri"/>
                <a:ea typeface="微软雅黑" panose="020B0503020204020204" pitchFamily="34" charset="-122"/>
              </a:rPr>
              <a:t>infoSSLRec</a:t>
            </a:r>
            <a:r>
              <a:rPr lang="zh-CN" altLang="zh-CN" dirty="0">
                <a:solidFill>
                  <a:srgbClr val="000000"/>
                </a:solidFill>
                <a:latin typeface="Calibri"/>
                <a:ea typeface="微软雅黑" panose="020B0503020204020204" pitchFamily="34" charset="-122"/>
              </a:rPr>
              <a:t>在</a:t>
            </a:r>
            <a:r>
              <a:rPr lang="en-US" altLang="zh-CN" dirty="0">
                <a:solidFill>
                  <a:srgbClr val="000000"/>
                </a:solidFill>
                <a:latin typeface="Calibri"/>
                <a:ea typeface="微软雅黑" panose="020B0503020204020204" pitchFamily="34" charset="-122"/>
              </a:rPr>
              <a:t>sports</a:t>
            </a:r>
            <a:r>
              <a:rPr lang="zh-CN" altLang="zh-CN" dirty="0">
                <a:solidFill>
                  <a:srgbClr val="000000"/>
                </a:solidFill>
                <a:latin typeface="Calibri"/>
                <a:ea typeface="微软雅黑" panose="020B0503020204020204" pitchFamily="34" charset="-122"/>
              </a:rPr>
              <a:t>数据集上针对不同</a:t>
            </a:r>
            <a:r>
              <a:rPr lang="en-US" altLang="zh-CN" dirty="0">
                <a:solidFill>
                  <a:srgbClr val="000000"/>
                </a:solidFill>
                <a:latin typeface="Calibri"/>
                <a:ea typeface="微软雅黑" panose="020B0503020204020204" pitchFamily="34" charset="-122"/>
              </a:rPr>
              <a:t>𝛼</a:t>
            </a:r>
            <a:r>
              <a:rPr lang="zh-CN" altLang="zh-CN"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𝛽</a:t>
            </a:r>
            <a:r>
              <a:rPr lang="zh-CN" altLang="zh-CN" dirty="0">
                <a:solidFill>
                  <a:srgbClr val="000000"/>
                </a:solidFill>
                <a:latin typeface="Calibri"/>
                <a:ea typeface="微软雅黑" panose="020B0503020204020204" pitchFamily="34" charset="-122"/>
              </a:rPr>
              <a:t>、</a:t>
            </a:r>
            <a:r>
              <a:rPr lang="en-US" altLang="zh-CN" dirty="0">
                <a:solidFill>
                  <a:srgbClr val="000000"/>
                </a:solidFill>
                <a:latin typeface="Calibri"/>
                <a:ea typeface="微软雅黑" panose="020B0503020204020204" pitchFamily="34" charset="-122"/>
              </a:rPr>
              <a:t>𝐾</a:t>
            </a:r>
            <a:r>
              <a:rPr lang="zh-CN" altLang="zh-CN" dirty="0">
                <a:solidFill>
                  <a:srgbClr val="000000"/>
                </a:solidFill>
                <a:latin typeface="Calibri"/>
                <a:ea typeface="微软雅黑" panose="020B0503020204020204" pitchFamily="34" charset="-122"/>
              </a:rPr>
              <a:t>和</a:t>
            </a:r>
            <a:r>
              <a:rPr lang="en-US" altLang="zh-CN" dirty="0">
                <a:solidFill>
                  <a:srgbClr val="000000"/>
                </a:solidFill>
                <a:latin typeface="Calibri"/>
                <a:ea typeface="微软雅黑" panose="020B0503020204020204" pitchFamily="34" charset="-122"/>
              </a:rPr>
              <a:t>𝜆</a:t>
            </a:r>
            <a:r>
              <a:rPr lang="zh-CN" altLang="zh-CN" dirty="0">
                <a:solidFill>
                  <a:srgbClr val="000000"/>
                </a:solidFill>
                <a:latin typeface="Calibri"/>
                <a:ea typeface="微软雅黑" panose="020B0503020204020204" pitchFamily="34" charset="-122"/>
              </a:rPr>
              <a:t>的性能对比</a:t>
            </a:r>
            <a:endParaRPr lang="zh-CN" altLang="en-US" dirty="0">
              <a:solidFill>
                <a:srgbClr val="000000"/>
              </a:solidFill>
              <a:latin typeface="Calibri"/>
              <a:ea typeface="微软雅黑" panose="020B0503020204020204" pitchFamily="34" charset="-122"/>
            </a:endParaRPr>
          </a:p>
        </p:txBody>
      </p:sp>
      <p:sp>
        <p:nvSpPr>
          <p:cNvPr id="6" name="文本框 5">
            <a:extLst>
              <a:ext uri="{FF2B5EF4-FFF2-40B4-BE49-F238E27FC236}">
                <a16:creationId xmlns:a16="http://schemas.microsoft.com/office/drawing/2014/main" id="{0632CB43-19FE-8E31-BC2B-7255AA188630}"/>
              </a:ext>
            </a:extLst>
          </p:cNvPr>
          <p:cNvSpPr txBox="1"/>
          <p:nvPr/>
        </p:nvSpPr>
        <p:spPr>
          <a:xfrm>
            <a:off x="992331" y="4321968"/>
            <a:ext cx="9263270" cy="2308324"/>
          </a:xfrm>
          <a:prstGeom prst="rect">
            <a:avLst/>
          </a:prstGeom>
          <a:noFill/>
        </p:spPr>
        <p:txBody>
          <a:bodyPr wrap="square" rtlCol="0">
            <a:spAutoFit/>
          </a:bodyPr>
          <a:lstStyle/>
          <a:p>
            <a:pPr defTabSz="914400"/>
            <a:r>
              <a:rPr lang="en-US" altLang="zh-CN" b="1" dirty="0">
                <a:solidFill>
                  <a:srgbClr val="000000"/>
                </a:solidFill>
                <a:latin typeface="Calibri"/>
                <a:ea typeface="微软雅黑" panose="020B0503020204020204" pitchFamily="34" charset="-122"/>
              </a:rPr>
              <a:t>α</a:t>
            </a:r>
            <a:r>
              <a:rPr lang="zh-CN" altLang="en-US" b="1" dirty="0">
                <a:solidFill>
                  <a:srgbClr val="000000"/>
                </a:solidFill>
                <a:latin typeface="Calibri"/>
                <a:ea typeface="微软雅黑" panose="020B0503020204020204" pitchFamily="34" charset="-122"/>
              </a:rPr>
              <a:t>与 </a:t>
            </a:r>
            <a:r>
              <a:rPr lang="en-US" altLang="zh-CN" b="1" dirty="0">
                <a:solidFill>
                  <a:srgbClr val="000000"/>
                </a:solidFill>
                <a:latin typeface="Calibri"/>
                <a:ea typeface="微软雅黑" panose="020B0503020204020204" pitchFamily="34" charset="-122"/>
              </a:rPr>
              <a:t>β</a:t>
            </a:r>
            <a:r>
              <a:rPr lang="zh-CN" altLang="en-US" b="1" dirty="0">
                <a:solidFill>
                  <a:srgbClr val="000000"/>
                </a:solidFill>
                <a:latin typeface="Calibri"/>
                <a:ea typeface="微软雅黑" panose="020B0503020204020204" pitchFamily="34" charset="-122"/>
              </a:rPr>
              <a:t>：替换与插入比例</a:t>
            </a:r>
          </a:p>
          <a:p>
            <a:pPr defTabSz="914400"/>
            <a:r>
              <a:rPr lang="zh-CN" altLang="en-US" dirty="0">
                <a:solidFill>
                  <a:srgbClr val="000000"/>
                </a:solidFill>
                <a:latin typeface="Calibri"/>
                <a:ea typeface="微软雅黑" panose="020B0503020204020204" pitchFamily="34" charset="-122"/>
              </a:rPr>
              <a:t>两者对性能的影响均呈</a:t>
            </a:r>
            <a:r>
              <a:rPr lang="zh-CN" altLang="en-US" b="1" dirty="0">
                <a:solidFill>
                  <a:srgbClr val="000000"/>
                </a:solidFill>
                <a:latin typeface="Calibri"/>
                <a:ea typeface="微软雅黑" panose="020B0503020204020204" pitchFamily="34" charset="-122"/>
              </a:rPr>
              <a:t>先升后降</a:t>
            </a:r>
            <a:r>
              <a:rPr lang="zh-CN" altLang="en-US" dirty="0">
                <a:solidFill>
                  <a:srgbClr val="000000"/>
                </a:solidFill>
                <a:latin typeface="Calibri"/>
                <a:ea typeface="微软雅黑" panose="020B0503020204020204" pitchFamily="34" charset="-122"/>
              </a:rPr>
              <a:t>的趋势。适度增加比例能引入有效的物品相关性以提升视图质量；但比例过高会过度破坏原始序列的转移模式，产生错误正样本，反而损害对比学习。</a:t>
            </a:r>
          </a:p>
          <a:p>
            <a:pPr defTabSz="914400"/>
            <a:r>
              <a:rPr lang="zh-CN" altLang="en-US" b="1" dirty="0">
                <a:solidFill>
                  <a:srgbClr val="000000"/>
                </a:solidFill>
                <a:latin typeface="Calibri"/>
                <a:ea typeface="微软雅黑" panose="020B0503020204020204" pitchFamily="34" charset="-122"/>
              </a:rPr>
              <a:t>最佳取值</a:t>
            </a:r>
            <a:r>
              <a:rPr lang="zh-CN" altLang="en-US" dirty="0">
                <a:solidFill>
                  <a:srgbClr val="000000"/>
                </a:solidFill>
                <a:latin typeface="Calibri"/>
                <a:ea typeface="微软雅黑" panose="020B0503020204020204" pitchFamily="34" charset="-122"/>
              </a:rPr>
              <a:t>：在 </a:t>
            </a:r>
            <a:r>
              <a:rPr lang="en-US" altLang="zh-CN" dirty="0">
                <a:solidFill>
                  <a:srgbClr val="000000"/>
                </a:solidFill>
                <a:latin typeface="Calibri"/>
                <a:ea typeface="微软雅黑" panose="020B0503020204020204" pitchFamily="34" charset="-122"/>
              </a:rPr>
              <a:t>Sports </a:t>
            </a:r>
            <a:r>
              <a:rPr lang="zh-CN" altLang="en-US" dirty="0">
                <a:solidFill>
                  <a:srgbClr val="000000"/>
                </a:solidFill>
                <a:latin typeface="Calibri"/>
                <a:ea typeface="微软雅黑" panose="020B0503020204020204" pitchFamily="34" charset="-122"/>
              </a:rPr>
              <a:t>和 </a:t>
            </a:r>
            <a:r>
              <a:rPr lang="en-US" altLang="zh-CN" dirty="0">
                <a:solidFill>
                  <a:srgbClr val="000000"/>
                </a:solidFill>
                <a:latin typeface="Calibri"/>
                <a:ea typeface="微软雅黑" panose="020B0503020204020204" pitchFamily="34" charset="-122"/>
              </a:rPr>
              <a:t>Beauty </a:t>
            </a:r>
            <a:r>
              <a:rPr lang="zh-CN" altLang="en-US" dirty="0">
                <a:solidFill>
                  <a:srgbClr val="000000"/>
                </a:solidFill>
                <a:latin typeface="Calibri"/>
                <a:ea typeface="微软雅黑" panose="020B0503020204020204" pitchFamily="34" charset="-122"/>
              </a:rPr>
              <a:t>数据集中，最佳 </a:t>
            </a:r>
            <a:r>
              <a:rPr lang="en-US" altLang="zh-CN" b="1" dirty="0">
                <a:solidFill>
                  <a:srgbClr val="000000"/>
                </a:solidFill>
                <a:latin typeface="Calibri"/>
                <a:ea typeface="微软雅黑" panose="020B0503020204020204" pitchFamily="34" charset="-122"/>
              </a:rPr>
              <a:t>β </a:t>
            </a:r>
            <a:r>
              <a:rPr lang="en-US" altLang="zh-CN" dirty="0">
                <a:solidFill>
                  <a:srgbClr val="000000"/>
                </a:solidFill>
                <a:latin typeface="Calibri"/>
                <a:ea typeface="微软雅黑" panose="020B0503020204020204" pitchFamily="34" charset="-122"/>
              </a:rPr>
              <a:t>= 0.4</a:t>
            </a:r>
            <a:r>
              <a:rPr lang="zh-CN" altLang="en-US" dirty="0">
                <a:solidFill>
                  <a:srgbClr val="000000"/>
                </a:solidFill>
                <a:latin typeface="Calibri"/>
                <a:ea typeface="微软雅黑" panose="020B0503020204020204" pitchFamily="34" charset="-122"/>
              </a:rPr>
              <a:t>，最佳 </a:t>
            </a:r>
            <a:r>
              <a:rPr lang="en-US" altLang="zh-CN" b="1" dirty="0">
                <a:solidFill>
                  <a:srgbClr val="000000"/>
                </a:solidFill>
                <a:latin typeface="Calibri"/>
                <a:ea typeface="微软雅黑" panose="020B0503020204020204" pitchFamily="34" charset="-122"/>
              </a:rPr>
              <a:t>α </a:t>
            </a:r>
            <a:r>
              <a:rPr lang="en-US" altLang="zh-CN" dirty="0">
                <a:solidFill>
                  <a:srgbClr val="000000"/>
                </a:solidFill>
                <a:latin typeface="Calibri"/>
                <a:ea typeface="微软雅黑" panose="020B0503020204020204" pitchFamily="34" charset="-122"/>
              </a:rPr>
              <a:t>= 0.1</a:t>
            </a:r>
            <a:r>
              <a:rPr lang="zh-CN" altLang="en-US" dirty="0">
                <a:solidFill>
                  <a:srgbClr val="000000"/>
                </a:solidFill>
                <a:latin typeface="Calibri"/>
                <a:ea typeface="微软雅黑" panose="020B0503020204020204" pitchFamily="34" charset="-122"/>
              </a:rPr>
              <a:t>。</a:t>
            </a:r>
          </a:p>
          <a:p>
            <a:pPr defTabSz="914400"/>
            <a:r>
              <a:rPr lang="zh-CN" altLang="en-US" b="1" dirty="0">
                <a:solidFill>
                  <a:srgbClr val="000000"/>
                </a:solidFill>
                <a:latin typeface="Calibri"/>
                <a:ea typeface="微软雅黑" panose="020B0503020204020204" pitchFamily="34" charset="-122"/>
              </a:rPr>
              <a:t>参数特性</a:t>
            </a:r>
            <a:r>
              <a:rPr lang="zh-CN" altLang="en-US" dirty="0">
                <a:solidFill>
                  <a:srgbClr val="000000"/>
                </a:solidFill>
                <a:latin typeface="Calibri"/>
                <a:ea typeface="微软雅黑" panose="020B0503020204020204" pitchFamily="34" charset="-122"/>
              </a:rPr>
              <a:t>：较大的 </a:t>
            </a:r>
            <a:r>
              <a:rPr lang="en-US" altLang="zh-CN" b="1" dirty="0">
                <a:solidFill>
                  <a:srgbClr val="000000"/>
                </a:solidFill>
                <a:latin typeface="Calibri"/>
                <a:ea typeface="微软雅黑" panose="020B0503020204020204" pitchFamily="34" charset="-122"/>
              </a:rPr>
              <a:t>β</a:t>
            </a:r>
            <a:r>
              <a:rPr lang="zh-CN" altLang="en-US" dirty="0">
                <a:solidFill>
                  <a:srgbClr val="000000"/>
                </a:solidFill>
                <a:latin typeface="Calibri"/>
                <a:ea typeface="微软雅黑" panose="020B0503020204020204" pitchFamily="34" charset="-122"/>
              </a:rPr>
              <a:t>表明短序列需要更多的插入操作来扩充交互记录、缓解冷启动；而较小的 </a:t>
            </a:r>
            <a:r>
              <a:rPr lang="en-US" altLang="zh-CN" b="1" dirty="0">
                <a:solidFill>
                  <a:srgbClr val="000000"/>
                </a:solidFill>
                <a:latin typeface="Calibri"/>
                <a:ea typeface="微软雅黑" panose="020B0503020204020204" pitchFamily="34" charset="-122"/>
              </a:rPr>
              <a:t>α</a:t>
            </a:r>
            <a:r>
              <a:rPr lang="zh-CN" altLang="en-US" dirty="0">
                <a:solidFill>
                  <a:srgbClr val="000000"/>
                </a:solidFill>
                <a:latin typeface="Calibri"/>
                <a:ea typeface="微软雅黑" panose="020B0503020204020204" pitchFamily="34" charset="-122"/>
              </a:rPr>
              <a:t>说明序列语义对替换操作高度敏感，少量替换即可提供有效的增强信号。</a:t>
            </a:r>
          </a:p>
          <a:p>
            <a:pPr defTabSz="914400"/>
            <a:endParaRPr lang="zh-CN" altLang="en-US" dirty="0">
              <a:solidFill>
                <a:srgbClr val="000000"/>
              </a:solidFill>
              <a:latin typeface="Calibri"/>
              <a:ea typeface="微软雅黑" panose="020B0503020204020204" pitchFamily="34" charset="-122"/>
            </a:endParaRPr>
          </a:p>
        </p:txBody>
      </p:sp>
    </p:spTree>
    <p:extLst>
      <p:ext uri="{BB962C8B-B14F-4D97-AF65-F5344CB8AC3E}">
        <p14:creationId xmlns:p14="http://schemas.microsoft.com/office/powerpoint/2010/main" val="83754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F58DA-039B-7CFE-850A-06AA3C21A437}"/>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261D2921-BC69-DFC4-8B9C-04D9DA601C21}"/>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F8EAECFD-73E0-A60B-8F87-B7D8EA9D36E9}"/>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1F6FD775-1171-4B6A-5098-634CB84C8A48}"/>
              </a:ext>
            </a:extLst>
          </p:cNvPr>
          <p:cNvSpPr txBox="1"/>
          <p:nvPr/>
        </p:nvSpPr>
        <p:spPr>
          <a:xfrm>
            <a:off x="753686" y="1170751"/>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超参数研究</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sp>
        <p:nvSpPr>
          <p:cNvPr id="2" name="文本框 1">
            <a:extLst>
              <a:ext uri="{FF2B5EF4-FFF2-40B4-BE49-F238E27FC236}">
                <a16:creationId xmlns:a16="http://schemas.microsoft.com/office/drawing/2014/main" id="{7CA42DDC-E994-21FC-1394-F4F807651F5D}"/>
              </a:ext>
            </a:extLst>
          </p:cNvPr>
          <p:cNvSpPr txBox="1"/>
          <p:nvPr/>
        </p:nvSpPr>
        <p:spPr>
          <a:xfrm>
            <a:off x="815975" y="1663803"/>
            <a:ext cx="9263270" cy="4801314"/>
          </a:xfrm>
          <a:prstGeom prst="rect">
            <a:avLst/>
          </a:prstGeom>
          <a:noFill/>
        </p:spPr>
        <p:txBody>
          <a:bodyPr wrap="square" rtlCol="0">
            <a:spAutoFit/>
          </a:bodyPr>
          <a:lstStyle/>
          <a:p>
            <a:pPr defTabSz="914400"/>
            <a:r>
              <a:rPr lang="en-US" altLang="zh-CN" b="1" dirty="0">
                <a:solidFill>
                  <a:srgbClr val="000000"/>
                </a:solidFill>
                <a:latin typeface="Calibri"/>
                <a:ea typeface="微软雅黑" panose="020B0503020204020204" pitchFamily="34" charset="-122"/>
              </a:rPr>
              <a:t>K</a:t>
            </a:r>
            <a:r>
              <a:rPr lang="zh-CN" altLang="en-US" b="1" dirty="0">
                <a:solidFill>
                  <a:srgbClr val="000000"/>
                </a:solidFill>
                <a:latin typeface="Calibri"/>
                <a:ea typeface="微软雅黑" panose="020B0503020204020204" pitchFamily="34" charset="-122"/>
              </a:rPr>
              <a:t>：序列长度阈值</a:t>
            </a:r>
          </a:p>
          <a:p>
            <a:pPr defTabSz="914400"/>
            <a:r>
              <a:rPr lang="en-US" altLang="zh-CN" dirty="0">
                <a:solidFill>
                  <a:srgbClr val="000000"/>
                </a:solidFill>
                <a:latin typeface="Calibri"/>
                <a:ea typeface="微软雅黑" panose="020B0503020204020204" pitchFamily="34" charset="-122"/>
              </a:rPr>
              <a:t>K</a:t>
            </a:r>
            <a:r>
              <a:rPr lang="zh-CN" altLang="en-US" dirty="0">
                <a:solidFill>
                  <a:srgbClr val="000000"/>
                </a:solidFill>
                <a:latin typeface="Calibri"/>
                <a:ea typeface="微软雅黑" panose="020B0503020204020204" pitchFamily="34" charset="-122"/>
              </a:rPr>
              <a:t>用于划分长短序列，直接影响自适应增强策略的操作选择。最佳取值因数据集的长度分布而异：</a:t>
            </a:r>
          </a:p>
          <a:p>
            <a:pPr defTabSz="914400"/>
            <a:r>
              <a:rPr lang="en-US" altLang="zh-CN" b="1" dirty="0">
                <a:solidFill>
                  <a:srgbClr val="000000"/>
                </a:solidFill>
                <a:latin typeface="Calibri"/>
                <a:ea typeface="微软雅黑" panose="020B0503020204020204" pitchFamily="34" charset="-122"/>
              </a:rPr>
              <a:t>Sports </a:t>
            </a:r>
            <a:r>
              <a:rPr lang="zh-CN" altLang="en-US" b="1" dirty="0">
                <a:solidFill>
                  <a:srgbClr val="000000"/>
                </a:solidFill>
                <a:latin typeface="Calibri"/>
                <a:ea typeface="微软雅黑" panose="020B0503020204020204" pitchFamily="34" charset="-122"/>
              </a:rPr>
              <a:t>数据集（最佳 </a:t>
            </a:r>
            <a:r>
              <a:rPr lang="en-US" altLang="zh-CN" b="1" dirty="0">
                <a:solidFill>
                  <a:srgbClr val="000000"/>
                </a:solidFill>
                <a:latin typeface="Calibri"/>
                <a:ea typeface="微软雅黑" panose="020B0503020204020204" pitchFamily="34" charset="-122"/>
              </a:rPr>
              <a:t>K=4</a:t>
            </a:r>
            <a:r>
              <a:rPr lang="zh-CN" altLang="en-US" b="1" dirty="0">
                <a:solidFill>
                  <a:srgbClr val="000000"/>
                </a:solidFill>
                <a:latin typeface="Calibri"/>
                <a:ea typeface="微软雅黑" panose="020B0503020204020204" pitchFamily="34" charset="-122"/>
              </a:rPr>
              <a:t>）</a:t>
            </a:r>
            <a:r>
              <a:rPr lang="zh-CN" altLang="en-US" dirty="0">
                <a:solidFill>
                  <a:srgbClr val="000000"/>
                </a:solidFill>
                <a:latin typeface="Calibri"/>
                <a:ea typeface="微软雅黑" panose="020B0503020204020204" pitchFamily="34" charset="-122"/>
              </a:rPr>
              <a:t>：由于平均序列较短（仅 </a:t>
            </a:r>
            <a:r>
              <a:rPr lang="en-US" altLang="zh-CN" dirty="0">
                <a:solidFill>
                  <a:srgbClr val="000000"/>
                </a:solidFill>
                <a:latin typeface="Calibri"/>
                <a:ea typeface="微软雅黑" panose="020B0503020204020204" pitchFamily="34" charset="-122"/>
              </a:rPr>
              <a:t>8.3</a:t>
            </a:r>
            <a:r>
              <a:rPr lang="zh-CN" altLang="en-US" dirty="0">
                <a:solidFill>
                  <a:srgbClr val="000000"/>
                </a:solidFill>
                <a:latin typeface="Calibri"/>
                <a:ea typeface="微软雅黑" panose="020B0503020204020204" pitchFamily="34" charset="-122"/>
              </a:rPr>
              <a:t>），多数集中在短区间，较小的 </a:t>
            </a:r>
            <a:r>
              <a:rPr lang="en-US" altLang="zh-CN" dirty="0">
                <a:solidFill>
                  <a:srgbClr val="000000"/>
                </a:solidFill>
                <a:latin typeface="Calibri"/>
                <a:ea typeface="微软雅黑" panose="020B0503020204020204" pitchFamily="34" charset="-122"/>
              </a:rPr>
              <a:t>K </a:t>
            </a:r>
            <a:r>
              <a:rPr lang="zh-CN" altLang="en-US" dirty="0">
                <a:solidFill>
                  <a:srgbClr val="000000"/>
                </a:solidFill>
                <a:latin typeface="Calibri"/>
                <a:ea typeface="微软雅黑" panose="020B0503020204020204" pitchFamily="34" charset="-122"/>
              </a:rPr>
              <a:t>即可覆盖最敏感的短序列群体。</a:t>
            </a:r>
          </a:p>
          <a:p>
            <a:pPr defTabSz="914400"/>
            <a:r>
              <a:rPr lang="en-US" altLang="zh-CN" b="1" dirty="0">
                <a:solidFill>
                  <a:srgbClr val="000000"/>
                </a:solidFill>
                <a:latin typeface="Calibri"/>
                <a:ea typeface="微软雅黑" panose="020B0503020204020204" pitchFamily="34" charset="-122"/>
              </a:rPr>
              <a:t>Beauty </a:t>
            </a:r>
            <a:r>
              <a:rPr lang="zh-CN" altLang="en-US" b="1" dirty="0">
                <a:solidFill>
                  <a:srgbClr val="000000"/>
                </a:solidFill>
                <a:latin typeface="Calibri"/>
                <a:ea typeface="微软雅黑" panose="020B0503020204020204" pitchFamily="34" charset="-122"/>
              </a:rPr>
              <a:t>数据集（最佳 </a:t>
            </a:r>
            <a:r>
              <a:rPr lang="en-US" altLang="zh-CN" b="1" dirty="0">
                <a:solidFill>
                  <a:srgbClr val="000000"/>
                </a:solidFill>
                <a:latin typeface="Calibri"/>
                <a:ea typeface="微软雅黑" panose="020B0503020204020204" pitchFamily="34" charset="-122"/>
              </a:rPr>
              <a:t>K=12</a:t>
            </a:r>
            <a:r>
              <a:rPr lang="zh-CN" altLang="en-US" b="1" dirty="0">
                <a:solidFill>
                  <a:srgbClr val="000000"/>
                </a:solidFill>
                <a:latin typeface="Calibri"/>
                <a:ea typeface="微软雅黑" panose="020B0503020204020204" pitchFamily="34" charset="-122"/>
              </a:rPr>
              <a:t>）</a:t>
            </a:r>
            <a:r>
              <a:rPr lang="zh-CN" altLang="en-US" dirty="0">
                <a:solidFill>
                  <a:srgbClr val="000000"/>
                </a:solidFill>
                <a:latin typeface="Calibri"/>
                <a:ea typeface="微软雅黑" panose="020B0503020204020204" pitchFamily="34" charset="-122"/>
              </a:rPr>
              <a:t>：序列分布较分散，需要较大的 </a:t>
            </a:r>
            <a:r>
              <a:rPr lang="en-US" altLang="zh-CN" dirty="0">
                <a:solidFill>
                  <a:srgbClr val="000000"/>
                </a:solidFill>
                <a:latin typeface="Calibri"/>
                <a:ea typeface="微软雅黑" panose="020B0503020204020204" pitchFamily="34" charset="-122"/>
              </a:rPr>
              <a:t>K </a:t>
            </a:r>
            <a:r>
              <a:rPr lang="zh-CN" altLang="en-US" dirty="0">
                <a:solidFill>
                  <a:srgbClr val="000000"/>
                </a:solidFill>
                <a:latin typeface="Calibri"/>
                <a:ea typeface="微软雅黑" panose="020B0503020204020204" pitchFamily="34" charset="-122"/>
              </a:rPr>
              <a:t>来保护更多中等长度序列免受随机增强的负面干扰。</a:t>
            </a:r>
            <a:endParaRPr lang="en-US" altLang="zh-CN" dirty="0">
              <a:solidFill>
                <a:srgbClr val="000000"/>
              </a:solidFill>
              <a:latin typeface="Calibri"/>
              <a:ea typeface="微软雅黑" panose="020B0503020204020204" pitchFamily="34" charset="-122"/>
            </a:endParaRPr>
          </a:p>
          <a:p>
            <a:pPr defTabSz="914400"/>
            <a:endParaRPr lang="zh-CN" altLang="en-US" dirty="0">
              <a:solidFill>
                <a:srgbClr val="000000"/>
              </a:solidFill>
              <a:latin typeface="Calibri"/>
              <a:ea typeface="微软雅黑" panose="020B0503020204020204" pitchFamily="34" charset="-122"/>
            </a:endParaRPr>
          </a:p>
          <a:p>
            <a:pPr defTabSz="914400"/>
            <a:r>
              <a:rPr lang="en-US" altLang="zh-CN" b="1" dirty="0">
                <a:solidFill>
                  <a:srgbClr val="000000"/>
                </a:solidFill>
                <a:latin typeface="Calibri"/>
                <a:ea typeface="微软雅黑" panose="020B0503020204020204" pitchFamily="34" charset="-122"/>
              </a:rPr>
              <a:t>λ</a:t>
            </a:r>
            <a:r>
              <a:rPr lang="zh-CN" altLang="en-US" b="1" dirty="0">
                <a:solidFill>
                  <a:srgbClr val="000000"/>
                </a:solidFill>
                <a:latin typeface="Calibri"/>
                <a:ea typeface="微软雅黑" panose="020B0503020204020204" pitchFamily="34" charset="-122"/>
              </a:rPr>
              <a:t>：对比学习强度</a:t>
            </a:r>
          </a:p>
          <a:p>
            <a:pPr defTabSz="914400"/>
            <a:r>
              <a:rPr lang="en-US" altLang="zh-CN" b="1" dirty="0">
                <a:solidFill>
                  <a:srgbClr val="000000"/>
                </a:solidFill>
                <a:latin typeface="Calibri"/>
                <a:ea typeface="微软雅黑" panose="020B0503020204020204" pitchFamily="34" charset="-122"/>
              </a:rPr>
              <a:t>λ</a:t>
            </a:r>
            <a:r>
              <a:rPr lang="zh-CN" altLang="en-US" dirty="0">
                <a:solidFill>
                  <a:srgbClr val="000000"/>
                </a:solidFill>
                <a:latin typeface="Calibri"/>
                <a:ea typeface="微软雅黑" panose="020B0503020204020204" pitchFamily="34" charset="-122"/>
              </a:rPr>
              <a:t>用于控制对比学习损失在总损失中的权重，实验证明其对序列推荐价值重大，但应作为有效补充而非主导。</a:t>
            </a:r>
          </a:p>
          <a:p>
            <a:pPr defTabSz="914400"/>
            <a:r>
              <a:rPr lang="zh-CN" altLang="en-US" b="1" dirty="0">
                <a:solidFill>
                  <a:srgbClr val="000000"/>
                </a:solidFill>
                <a:latin typeface="Calibri"/>
                <a:ea typeface="微软雅黑" panose="020B0503020204020204" pitchFamily="34" charset="-122"/>
              </a:rPr>
              <a:t>性能提升</a:t>
            </a:r>
            <a:r>
              <a:rPr lang="zh-CN" altLang="en-US" dirty="0">
                <a:solidFill>
                  <a:srgbClr val="000000"/>
                </a:solidFill>
                <a:latin typeface="Calibri"/>
                <a:ea typeface="微软雅黑" panose="020B0503020204020204" pitchFamily="34" charset="-122"/>
              </a:rPr>
              <a:t>：与 </a:t>
            </a:r>
            <a:r>
              <a:rPr lang="en-US" altLang="zh-CN" b="1" dirty="0">
                <a:solidFill>
                  <a:srgbClr val="000000"/>
                </a:solidFill>
                <a:latin typeface="Calibri"/>
                <a:ea typeface="微软雅黑" panose="020B0503020204020204" pitchFamily="34" charset="-122"/>
              </a:rPr>
              <a:t>λ </a:t>
            </a:r>
            <a:r>
              <a:rPr lang="en-US" altLang="zh-CN" dirty="0">
                <a:solidFill>
                  <a:srgbClr val="000000"/>
                </a:solidFill>
                <a:latin typeface="Calibri"/>
                <a:ea typeface="微软雅黑" panose="020B0503020204020204" pitchFamily="34" charset="-122"/>
              </a:rPr>
              <a:t>= 0 </a:t>
            </a:r>
            <a:r>
              <a:rPr lang="zh-CN" altLang="en-US" dirty="0">
                <a:solidFill>
                  <a:srgbClr val="000000"/>
                </a:solidFill>
                <a:latin typeface="Calibri"/>
                <a:ea typeface="微软雅黑" panose="020B0503020204020204" pitchFamily="34" charset="-122"/>
              </a:rPr>
              <a:t>的基线相比，引入对比学习后，</a:t>
            </a:r>
            <a:r>
              <a:rPr lang="en-US" altLang="zh-CN" dirty="0">
                <a:solidFill>
                  <a:srgbClr val="000000"/>
                </a:solidFill>
                <a:latin typeface="Calibri"/>
                <a:ea typeface="微软雅黑" panose="020B0503020204020204" pitchFamily="34" charset="-122"/>
              </a:rPr>
              <a:t>Sports </a:t>
            </a:r>
            <a:r>
              <a:rPr lang="zh-CN" altLang="en-US" dirty="0">
                <a:solidFill>
                  <a:srgbClr val="000000"/>
                </a:solidFill>
                <a:latin typeface="Calibri"/>
                <a:ea typeface="微软雅黑" panose="020B0503020204020204" pitchFamily="34" charset="-122"/>
              </a:rPr>
              <a:t>和 </a:t>
            </a:r>
            <a:r>
              <a:rPr lang="en-US" altLang="zh-CN" dirty="0">
                <a:solidFill>
                  <a:srgbClr val="000000"/>
                </a:solidFill>
                <a:latin typeface="Calibri"/>
                <a:ea typeface="微软雅黑" panose="020B0503020204020204" pitchFamily="34" charset="-122"/>
              </a:rPr>
              <a:t>Beauty </a:t>
            </a:r>
            <a:r>
              <a:rPr lang="zh-CN" altLang="en-US" dirty="0">
                <a:solidFill>
                  <a:srgbClr val="000000"/>
                </a:solidFill>
                <a:latin typeface="Calibri"/>
                <a:ea typeface="微软雅黑" panose="020B0503020204020204" pitchFamily="34" charset="-122"/>
              </a:rPr>
              <a:t>数据集上的 </a:t>
            </a:r>
            <a:r>
              <a:rPr lang="en-US" altLang="zh-CN" dirty="0">
                <a:solidFill>
                  <a:srgbClr val="000000"/>
                </a:solidFill>
                <a:latin typeface="Calibri"/>
                <a:ea typeface="微软雅黑" panose="020B0503020204020204" pitchFamily="34" charset="-122"/>
              </a:rPr>
              <a:t>NDCG@5 </a:t>
            </a:r>
            <a:r>
              <a:rPr lang="zh-CN" altLang="en-US" dirty="0">
                <a:solidFill>
                  <a:srgbClr val="000000"/>
                </a:solidFill>
                <a:latin typeface="Calibri"/>
                <a:ea typeface="微软雅黑" panose="020B0503020204020204" pitchFamily="34" charset="-122"/>
              </a:rPr>
              <a:t>分别大幅提升了 </a:t>
            </a:r>
            <a:r>
              <a:rPr lang="en-US" altLang="zh-CN" b="1" dirty="0">
                <a:solidFill>
                  <a:srgbClr val="000000"/>
                </a:solidFill>
                <a:latin typeface="Calibri"/>
                <a:ea typeface="微软雅黑" panose="020B0503020204020204" pitchFamily="34" charset="-122"/>
              </a:rPr>
              <a:t>32.88%</a:t>
            </a:r>
            <a:r>
              <a:rPr lang="zh-CN" altLang="en-US" dirty="0">
                <a:solidFill>
                  <a:srgbClr val="000000"/>
                </a:solidFill>
                <a:latin typeface="Calibri"/>
                <a:ea typeface="微软雅黑" panose="020B0503020204020204" pitchFamily="34" charset="-122"/>
              </a:rPr>
              <a:t> 和 </a:t>
            </a:r>
            <a:r>
              <a:rPr lang="en-US" altLang="zh-CN" b="1" dirty="0">
                <a:solidFill>
                  <a:srgbClr val="000000"/>
                </a:solidFill>
                <a:latin typeface="Calibri"/>
                <a:ea typeface="微软雅黑" panose="020B0503020204020204" pitchFamily="34" charset="-122"/>
              </a:rPr>
              <a:t>12.82%</a:t>
            </a:r>
            <a:r>
              <a:rPr lang="zh-CN" altLang="en-US" dirty="0">
                <a:solidFill>
                  <a:srgbClr val="000000"/>
                </a:solidFill>
                <a:latin typeface="Calibri"/>
                <a:ea typeface="微软雅黑" panose="020B0503020204020204" pitchFamily="34" charset="-122"/>
              </a:rPr>
              <a:t>。</a:t>
            </a:r>
          </a:p>
          <a:p>
            <a:pPr defTabSz="914400"/>
            <a:r>
              <a:rPr lang="zh-CN" altLang="en-US" b="1" dirty="0">
                <a:solidFill>
                  <a:srgbClr val="000000"/>
                </a:solidFill>
                <a:latin typeface="Calibri"/>
                <a:ea typeface="微软雅黑" panose="020B0503020204020204" pitchFamily="34" charset="-122"/>
              </a:rPr>
              <a:t>最佳取值</a:t>
            </a:r>
            <a:r>
              <a:rPr lang="zh-CN" altLang="en-US" dirty="0">
                <a:solidFill>
                  <a:srgbClr val="000000"/>
                </a:solidFill>
                <a:latin typeface="Calibri"/>
                <a:ea typeface="微软雅黑" panose="020B0503020204020204" pitchFamily="34" charset="-122"/>
              </a:rPr>
              <a:t>：最佳 </a:t>
            </a:r>
            <a:r>
              <a:rPr lang="en-US" altLang="zh-CN" b="1" dirty="0">
                <a:solidFill>
                  <a:srgbClr val="000000"/>
                </a:solidFill>
                <a:latin typeface="Calibri"/>
                <a:ea typeface="微软雅黑" panose="020B0503020204020204" pitchFamily="34" charset="-122"/>
              </a:rPr>
              <a:t>λ </a:t>
            </a:r>
            <a:r>
              <a:rPr lang="en-US" altLang="zh-CN" dirty="0">
                <a:solidFill>
                  <a:srgbClr val="000000"/>
                </a:solidFill>
                <a:latin typeface="Calibri"/>
                <a:ea typeface="微软雅黑" panose="020B0503020204020204" pitchFamily="34" charset="-122"/>
              </a:rPr>
              <a:t>= 0.1</a:t>
            </a:r>
            <a:r>
              <a:rPr lang="zh-CN" altLang="en-US" dirty="0">
                <a:solidFill>
                  <a:srgbClr val="000000"/>
                </a:solidFill>
                <a:latin typeface="Calibri"/>
                <a:ea typeface="微软雅黑" panose="020B0503020204020204" pitchFamily="34" charset="-122"/>
              </a:rPr>
              <a:t>，此时主副任务协同达到最优。</a:t>
            </a:r>
          </a:p>
          <a:p>
            <a:pPr defTabSz="914400"/>
            <a:r>
              <a:rPr lang="zh-CN" altLang="en-US" b="1" dirty="0">
                <a:solidFill>
                  <a:srgbClr val="000000"/>
                </a:solidFill>
                <a:latin typeface="Calibri"/>
                <a:ea typeface="微软雅黑" panose="020B0503020204020204" pitchFamily="34" charset="-122"/>
              </a:rPr>
              <a:t>过载影响</a:t>
            </a:r>
            <a:r>
              <a:rPr lang="zh-CN" altLang="en-US" dirty="0">
                <a:solidFill>
                  <a:srgbClr val="000000"/>
                </a:solidFill>
                <a:latin typeface="Calibri"/>
                <a:ea typeface="微软雅黑" panose="020B0503020204020204" pitchFamily="34" charset="-122"/>
              </a:rPr>
              <a:t>：当 </a:t>
            </a:r>
            <a:r>
              <a:rPr lang="en-US" altLang="zh-CN" b="1" dirty="0">
                <a:solidFill>
                  <a:srgbClr val="000000"/>
                </a:solidFill>
                <a:latin typeface="Calibri"/>
                <a:ea typeface="微软雅黑" panose="020B0503020204020204" pitchFamily="34" charset="-122"/>
              </a:rPr>
              <a:t>λ </a:t>
            </a:r>
            <a:r>
              <a:rPr lang="en-US" altLang="zh-CN" dirty="0">
                <a:solidFill>
                  <a:srgbClr val="000000"/>
                </a:solidFill>
                <a:latin typeface="Calibri"/>
                <a:ea typeface="微软雅黑" panose="020B0503020204020204" pitchFamily="34" charset="-122"/>
              </a:rPr>
              <a:t>&gt; 0.1 </a:t>
            </a:r>
            <a:r>
              <a:rPr lang="zh-CN" altLang="en-US" dirty="0">
                <a:solidFill>
                  <a:srgbClr val="000000"/>
                </a:solidFill>
                <a:latin typeface="Calibri"/>
                <a:ea typeface="微软雅黑" panose="020B0503020204020204" pitchFamily="34" charset="-122"/>
              </a:rPr>
              <a:t>时性能开始下降。因为过大的 </a:t>
            </a:r>
            <a:r>
              <a:rPr lang="en-US" altLang="zh-CN" b="1" dirty="0">
                <a:solidFill>
                  <a:srgbClr val="000000"/>
                </a:solidFill>
                <a:latin typeface="Calibri"/>
                <a:ea typeface="微软雅黑" panose="020B0503020204020204" pitchFamily="34" charset="-122"/>
              </a:rPr>
              <a:t>λ</a:t>
            </a:r>
            <a:r>
              <a:rPr lang="zh-CN" altLang="en-US" dirty="0">
                <a:solidFill>
                  <a:srgbClr val="000000"/>
                </a:solidFill>
                <a:latin typeface="Calibri"/>
                <a:ea typeface="微软雅黑" panose="020B0503020204020204" pitchFamily="34" charset="-122"/>
              </a:rPr>
              <a:t>会迫使编码器过度优化视图一致性，从而忽略了“精准预测下一个物品”的推荐主任务。</a:t>
            </a:r>
          </a:p>
          <a:p>
            <a:pPr defTabSz="914400"/>
            <a:endParaRPr lang="zh-CN" altLang="en-US" dirty="0">
              <a:solidFill>
                <a:srgbClr val="000000"/>
              </a:solidFill>
              <a:latin typeface="Calibri"/>
              <a:ea typeface="微软雅黑" panose="020B0503020204020204" pitchFamily="34" charset="-122"/>
            </a:endParaRPr>
          </a:p>
        </p:txBody>
      </p:sp>
    </p:spTree>
    <p:extLst>
      <p:ext uri="{BB962C8B-B14F-4D97-AF65-F5344CB8AC3E}">
        <p14:creationId xmlns:p14="http://schemas.microsoft.com/office/powerpoint/2010/main" val="3522087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F900-EDA6-D82D-B694-79A938E92D19}"/>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3ACC63A9-1A26-12C4-0993-EB5C180703FD}"/>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总体框架及实验结果</a:t>
            </a:r>
          </a:p>
        </p:txBody>
      </p:sp>
      <p:sp>
        <p:nvSpPr>
          <p:cNvPr id="5" name="文本框 4">
            <a:extLst>
              <a:ext uri="{FF2B5EF4-FFF2-40B4-BE49-F238E27FC236}">
                <a16:creationId xmlns:a16="http://schemas.microsoft.com/office/drawing/2014/main" id="{F8D54B84-F99F-7DDF-E797-65BDCC4FC74F}"/>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93381DC9-19F2-3224-7BDE-5C4637658F2C}"/>
              </a:ext>
            </a:extLst>
          </p:cNvPr>
          <p:cNvSpPr txBox="1"/>
          <p:nvPr/>
        </p:nvSpPr>
        <p:spPr>
          <a:xfrm>
            <a:off x="509601" y="1098706"/>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系统可视化搭建</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pic>
        <p:nvPicPr>
          <p:cNvPr id="2" name="图片 1">
            <a:extLst>
              <a:ext uri="{FF2B5EF4-FFF2-40B4-BE49-F238E27FC236}">
                <a16:creationId xmlns:a16="http://schemas.microsoft.com/office/drawing/2014/main" id="{416F403D-AFFD-88E9-87C4-B47AE23ED881}"/>
              </a:ext>
            </a:extLst>
          </p:cNvPr>
          <p:cNvPicPr>
            <a:picLocks noChangeAspect="1"/>
          </p:cNvPicPr>
          <p:nvPr/>
        </p:nvPicPr>
        <p:blipFill>
          <a:blip r:embed="rId2"/>
          <a:stretch>
            <a:fillRect/>
          </a:stretch>
        </p:blipFill>
        <p:spPr>
          <a:xfrm>
            <a:off x="600651" y="1512373"/>
            <a:ext cx="9944980" cy="4934620"/>
          </a:xfrm>
          <a:prstGeom prst="rect">
            <a:avLst/>
          </a:prstGeom>
        </p:spPr>
      </p:pic>
    </p:spTree>
    <p:extLst>
      <p:ext uri="{BB962C8B-B14F-4D97-AF65-F5344CB8AC3E}">
        <p14:creationId xmlns:p14="http://schemas.microsoft.com/office/powerpoint/2010/main" val="140918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rPr>
              <a:t>研究结论与展望</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8FA6-9B92-9391-0CB6-B594D89E64D0}"/>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91E663DD-DE27-6F4C-60FB-B6A53D1E5A04}"/>
              </a:ext>
            </a:extLst>
          </p:cNvPr>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研究结论与展望</a:t>
            </a:r>
          </a:p>
        </p:txBody>
      </p:sp>
      <p:sp>
        <p:nvSpPr>
          <p:cNvPr id="5" name="文本框 4">
            <a:extLst>
              <a:ext uri="{FF2B5EF4-FFF2-40B4-BE49-F238E27FC236}">
                <a16:creationId xmlns:a16="http://schemas.microsoft.com/office/drawing/2014/main" id="{47F33656-E8BB-34AB-4B63-23F1A9FB16AD}"/>
              </a:ext>
            </a:extLst>
          </p:cNvPr>
          <p:cNvSpPr txBox="1"/>
          <p:nvPr/>
        </p:nvSpPr>
        <p:spPr>
          <a:xfrm>
            <a:off x="11492187" y="6409396"/>
            <a:ext cx="485561" cy="369332"/>
          </a:xfrm>
          <a:prstGeom prst="rect">
            <a:avLst/>
          </a:prstGeom>
          <a:solidFill>
            <a:schemeClr val="bg1"/>
          </a:solid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baseline="0" noProof="0" dirty="0">
              <a:ln>
                <a:noFill/>
              </a:ln>
              <a:solidFill>
                <a:prstClr val="white"/>
              </a:solidFill>
              <a:effectLst/>
              <a:uLnTx/>
              <a:uFillTx/>
              <a:latin typeface="等线"/>
              <a:ea typeface="等线" panose="02010600030101010101" pitchFamily="2" charset="-122"/>
              <a:cs typeface="+mn-cs"/>
            </a:endParaRPr>
          </a:p>
        </p:txBody>
      </p:sp>
      <p:sp>
        <p:nvSpPr>
          <p:cNvPr id="10" name="文本框 9">
            <a:extLst>
              <a:ext uri="{FF2B5EF4-FFF2-40B4-BE49-F238E27FC236}">
                <a16:creationId xmlns:a16="http://schemas.microsoft.com/office/drawing/2014/main" id="{9E65D9C0-B600-68F3-8889-EEB1C28C2F6E}"/>
              </a:ext>
            </a:extLst>
          </p:cNvPr>
          <p:cNvSpPr txBox="1"/>
          <p:nvPr/>
        </p:nvSpPr>
        <p:spPr>
          <a:xfrm>
            <a:off x="509601" y="1098706"/>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工作总结</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sp>
        <p:nvSpPr>
          <p:cNvPr id="4" name="圆角矩形 1">
            <a:extLst>
              <a:ext uri="{FF2B5EF4-FFF2-40B4-BE49-F238E27FC236}">
                <a16:creationId xmlns:a16="http://schemas.microsoft.com/office/drawing/2014/main" id="{BFC2196A-D819-42CC-8FCE-F2D760F94F58}"/>
              </a:ext>
            </a:extLst>
          </p:cNvPr>
          <p:cNvSpPr/>
          <p:nvPr>
            <p:custDataLst>
              <p:tags r:id="rId1"/>
            </p:custDataLst>
          </p:nvPr>
        </p:nvSpPr>
        <p:spPr>
          <a:xfrm>
            <a:off x="1392555" y="1666240"/>
            <a:ext cx="9406890" cy="4243070"/>
          </a:xfrm>
          <a:prstGeom prst="roundRect">
            <a:avLst/>
          </a:prstGeom>
          <a:noFill/>
          <a:ln w="28575" cap="flat" cmpd="sng" algn="ctr">
            <a:solidFill>
              <a:srgbClr val="0D97C0"/>
            </a:solidFill>
            <a:prstDash val="sysDot"/>
            <a:miter lim="800000"/>
          </a:ln>
          <a:effectLst/>
          <a:extLst>
            <a:ext uri="{909E8E84-426E-40DD-AFC4-6F175D3DCCD1}">
              <a14:hiddenFill xmlns:a14="http://schemas.microsoft.com/office/drawing/2010/main">
                <a:solidFill>
                  <a:schemeClr val="accent1"/>
                </a:solidFill>
              </a14:hiddenFill>
            </a:ext>
          </a:extLst>
        </p:spPr>
        <p:txBody>
          <a:bodyPr rtlCol="0" anchor="ctr"/>
          <a:lstStyle/>
          <a:p>
            <a:pPr algn="ctr">
              <a:defRPr/>
            </a:pPr>
            <a:endParaRPr lang="zh-CN" altLang="en-US" kern="0">
              <a:solidFill>
                <a:prstClr val="white"/>
              </a:solidFill>
              <a:latin typeface="Arial"/>
              <a:ea typeface="黑体" panose="02010609060101010101" pitchFamily="49" charset="-122"/>
            </a:endParaRPr>
          </a:p>
        </p:txBody>
      </p:sp>
      <p:sp>
        <p:nvSpPr>
          <p:cNvPr id="6" name="文本框 5">
            <a:extLst>
              <a:ext uri="{FF2B5EF4-FFF2-40B4-BE49-F238E27FC236}">
                <a16:creationId xmlns:a16="http://schemas.microsoft.com/office/drawing/2014/main" id="{DF5F3BB7-7CED-CA36-AA85-55DF959A6ED7}"/>
              </a:ext>
            </a:extLst>
          </p:cNvPr>
          <p:cNvSpPr txBox="1"/>
          <p:nvPr/>
        </p:nvSpPr>
        <p:spPr>
          <a:xfrm>
            <a:off x="2865592" y="1965658"/>
            <a:ext cx="7298161" cy="923330"/>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提出基于相关性的信息增强策略。</a:t>
            </a:r>
            <a:r>
              <a:rPr lang="zh-CN" altLang="en-US" dirty="0">
                <a:solidFill>
                  <a:srgbClr val="000000"/>
                </a:solidFill>
                <a:latin typeface="Calibri"/>
                <a:ea typeface="微软雅黑" panose="020B0503020204020204" pitchFamily="34" charset="-122"/>
              </a:rPr>
              <a:t> 针对数据稀疏与噪声问题，设计“替换”与“插入”操作，利用协同过滤和模型嵌入相似性生成高质量增强序列，有效保留真实交互转移关联，显著缓解了冷启动难题。</a:t>
            </a:r>
          </a:p>
        </p:txBody>
      </p:sp>
      <p:sp>
        <p:nvSpPr>
          <p:cNvPr id="7" name="文本框 6">
            <a:extLst>
              <a:ext uri="{FF2B5EF4-FFF2-40B4-BE49-F238E27FC236}">
                <a16:creationId xmlns:a16="http://schemas.microsoft.com/office/drawing/2014/main" id="{02903B36-C868-B7E7-C884-FD51EAC9E9FA}"/>
              </a:ext>
            </a:extLst>
          </p:cNvPr>
          <p:cNvSpPr txBox="1"/>
          <p:nvPr/>
        </p:nvSpPr>
        <p:spPr>
          <a:xfrm>
            <a:off x="2865592" y="3294112"/>
            <a:ext cx="7496944" cy="923330"/>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构建自适应长度的对比自监督架构。</a:t>
            </a:r>
            <a:r>
              <a:rPr lang="zh-CN" altLang="en-US" dirty="0">
                <a:solidFill>
                  <a:srgbClr val="000000"/>
                </a:solidFill>
                <a:latin typeface="Calibri"/>
                <a:ea typeface="微软雅黑" panose="020B0503020204020204" pitchFamily="34" charset="-122"/>
              </a:rPr>
              <a:t> 提出</a:t>
            </a:r>
            <a:r>
              <a:rPr lang="en-US" altLang="zh-CN" dirty="0" err="1">
                <a:solidFill>
                  <a:srgbClr val="000000"/>
                </a:solidFill>
                <a:latin typeface="Calibri"/>
                <a:ea typeface="微软雅黑" panose="020B0503020204020204" pitchFamily="34" charset="-122"/>
              </a:rPr>
              <a:t>InfoSSLRec</a:t>
            </a:r>
            <a:r>
              <a:rPr lang="zh-CN" altLang="en-US" dirty="0">
                <a:solidFill>
                  <a:srgbClr val="000000"/>
                </a:solidFill>
                <a:latin typeface="Calibri"/>
                <a:ea typeface="微软雅黑" panose="020B0503020204020204" pitchFamily="34" charset="-122"/>
              </a:rPr>
              <a:t>模型，利用</a:t>
            </a:r>
            <a:r>
              <a:rPr lang="en-US" altLang="zh-CN" dirty="0">
                <a:solidFill>
                  <a:srgbClr val="000000"/>
                </a:solidFill>
                <a:latin typeface="Calibri"/>
                <a:ea typeface="微软雅黑" panose="020B0503020204020204" pitchFamily="34" charset="-122"/>
              </a:rPr>
              <a:t>NT-</a:t>
            </a:r>
            <a:r>
              <a:rPr lang="en-US" altLang="zh-CN" dirty="0" err="1">
                <a:solidFill>
                  <a:srgbClr val="000000"/>
                </a:solidFill>
                <a:latin typeface="Calibri"/>
                <a:ea typeface="微软雅黑" panose="020B0503020204020204" pitchFamily="34" charset="-122"/>
              </a:rPr>
              <a:t>Xent</a:t>
            </a:r>
            <a:r>
              <a:rPr lang="zh-CN" altLang="en-US" dirty="0">
                <a:solidFill>
                  <a:srgbClr val="000000"/>
                </a:solidFill>
                <a:latin typeface="Calibri"/>
                <a:ea typeface="微软雅黑" panose="020B0503020204020204" pitchFamily="34" charset="-122"/>
              </a:rPr>
              <a:t>损失最大化增强视图一致性。同时首创基于序列长度的自适应增强策略，为长短序列分派不同操作集，解决增强质量不均问题。</a:t>
            </a:r>
          </a:p>
        </p:txBody>
      </p:sp>
      <p:sp>
        <p:nvSpPr>
          <p:cNvPr id="8" name="文本框 7">
            <a:extLst>
              <a:ext uri="{FF2B5EF4-FFF2-40B4-BE49-F238E27FC236}">
                <a16:creationId xmlns:a16="http://schemas.microsoft.com/office/drawing/2014/main" id="{49CBFBCC-907F-D9B5-28F9-3CCE938F9525}"/>
              </a:ext>
            </a:extLst>
          </p:cNvPr>
          <p:cNvSpPr txBox="1"/>
          <p:nvPr/>
        </p:nvSpPr>
        <p:spPr>
          <a:xfrm>
            <a:off x="2865592" y="4580917"/>
            <a:ext cx="7499501" cy="923330"/>
          </a:xfrm>
          <a:prstGeom prst="rect">
            <a:avLst/>
          </a:prstGeom>
          <a:noFill/>
        </p:spPr>
        <p:txBody>
          <a:bodyPr wrap="square" rtlCol="0">
            <a:spAutoFit/>
          </a:bodyPr>
          <a:lstStyle/>
          <a:p>
            <a:pPr defTabSz="914400"/>
            <a:r>
              <a:rPr lang="zh-CN" altLang="en-US" b="1" dirty="0">
                <a:solidFill>
                  <a:srgbClr val="000000"/>
                </a:solidFill>
                <a:latin typeface="Calibri"/>
                <a:ea typeface="微软雅黑" panose="020B0503020204020204" pitchFamily="34" charset="-122"/>
              </a:rPr>
              <a:t>实现多任务联合训练与系统可视化。</a:t>
            </a:r>
            <a:r>
              <a:rPr lang="zh-CN" altLang="en-US" dirty="0">
                <a:solidFill>
                  <a:srgbClr val="000000"/>
                </a:solidFill>
                <a:latin typeface="Calibri"/>
                <a:ea typeface="微软雅黑" panose="020B0503020204020204" pitchFamily="34" charset="-122"/>
              </a:rPr>
              <a:t> 摒弃两阶段训练，同步优化推荐与自监督目标以防信息丢失。在验证模型优异性能后，开发了前后端分离的推荐系统可视化平台，证明了模型的工程应用可行性。</a:t>
            </a:r>
          </a:p>
        </p:txBody>
      </p:sp>
      <p:sp>
        <p:nvSpPr>
          <p:cNvPr id="9" name="矩形 8">
            <a:extLst>
              <a:ext uri="{FF2B5EF4-FFF2-40B4-BE49-F238E27FC236}">
                <a16:creationId xmlns:a16="http://schemas.microsoft.com/office/drawing/2014/main" id="{2FDF6368-F857-22B7-0DE2-BA9C22C773DE}"/>
              </a:ext>
            </a:extLst>
          </p:cNvPr>
          <p:cNvSpPr/>
          <p:nvPr>
            <p:custDataLst>
              <p:tags r:id="rId2"/>
            </p:custDataLst>
          </p:nvPr>
        </p:nvSpPr>
        <p:spPr>
          <a:xfrm>
            <a:off x="2028247" y="2159771"/>
            <a:ext cx="475823" cy="478155"/>
          </a:xfrm>
          <a:prstGeom prst="rect">
            <a:avLst/>
          </a:prstGeom>
          <a:solidFill>
            <a:srgbClr val="0D97C0"/>
          </a:solidFill>
          <a:ln w="2857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3200" kern="0" dirty="0">
                <a:solidFill>
                  <a:prstClr val="white"/>
                </a:solidFill>
                <a:latin typeface="微软雅黑" panose="020B0503020204020204" pitchFamily="34" charset="-122"/>
                <a:ea typeface="微软雅黑" panose="020B0503020204020204" pitchFamily="34" charset="-122"/>
              </a:rPr>
              <a:t>1</a:t>
            </a:r>
            <a:endParaRPr lang="zh-CN" altLang="en-US" sz="3200" kern="0" dirty="0">
              <a:solidFill>
                <a:prstClr val="white"/>
              </a:solidFill>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a16="http://schemas.microsoft.com/office/drawing/2014/main" id="{1DCC8A18-980A-BB20-0371-C843067159F9}"/>
              </a:ext>
            </a:extLst>
          </p:cNvPr>
          <p:cNvSpPr/>
          <p:nvPr>
            <p:custDataLst>
              <p:tags r:id="rId3"/>
            </p:custDataLst>
          </p:nvPr>
        </p:nvSpPr>
        <p:spPr>
          <a:xfrm>
            <a:off x="2028247" y="3354092"/>
            <a:ext cx="475823" cy="478155"/>
          </a:xfrm>
          <a:prstGeom prst="rect">
            <a:avLst/>
          </a:prstGeom>
          <a:solidFill>
            <a:srgbClr val="0D97C0"/>
          </a:solidFill>
          <a:ln w="2857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3200" kern="0" dirty="0">
                <a:solidFill>
                  <a:prstClr val="white"/>
                </a:solidFill>
                <a:latin typeface="微软雅黑" panose="020B0503020204020204" pitchFamily="34" charset="-122"/>
                <a:ea typeface="微软雅黑" panose="020B0503020204020204" pitchFamily="34" charset="-122"/>
              </a:rPr>
              <a:t>2</a:t>
            </a:r>
            <a:endParaRPr lang="zh-CN" altLang="en-US" sz="3200" kern="0" dirty="0">
              <a:solidFill>
                <a:prstClr val="white"/>
              </a:solidFill>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88E8776F-30B0-B469-96A7-9F912018B859}"/>
              </a:ext>
            </a:extLst>
          </p:cNvPr>
          <p:cNvSpPr/>
          <p:nvPr>
            <p:custDataLst>
              <p:tags r:id="rId4"/>
            </p:custDataLst>
          </p:nvPr>
        </p:nvSpPr>
        <p:spPr>
          <a:xfrm>
            <a:off x="2028247" y="4580917"/>
            <a:ext cx="475823" cy="478155"/>
          </a:xfrm>
          <a:prstGeom prst="rect">
            <a:avLst/>
          </a:prstGeom>
          <a:solidFill>
            <a:srgbClr val="0D97C0"/>
          </a:solidFill>
          <a:ln w="2857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defRPr/>
            </a:pPr>
            <a:r>
              <a:rPr lang="en-US" altLang="zh-CN" sz="3200" kern="0" dirty="0">
                <a:solidFill>
                  <a:prstClr val="white"/>
                </a:solidFill>
                <a:latin typeface="微软雅黑" panose="020B0503020204020204" pitchFamily="34" charset="-122"/>
                <a:ea typeface="微软雅黑" panose="020B0503020204020204" pitchFamily="34" charset="-122"/>
              </a:rPr>
              <a:t>3</a:t>
            </a:r>
            <a:endParaRPr lang="zh-CN" altLang="en-US" sz="3200" kern="0"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1305644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fontScale="90000"/>
          </a:bodyPr>
          <a:lstStyle/>
          <a:p>
            <a:r>
              <a:rPr lang="zh-CN" altLang="en-US" dirty="0">
                <a:latin typeface="微软雅黑" panose="020B0503020204020204" pitchFamily="34" charset="-122"/>
                <a:ea typeface="微软雅黑" panose="020B0503020204020204" pitchFamily="34" charset="-122"/>
              </a:rPr>
              <a:t>研究结论与展望</a:t>
            </a:r>
          </a:p>
        </p:txBody>
      </p:sp>
      <p:sp>
        <p:nvSpPr>
          <p:cNvPr id="19" name="文本框 18"/>
          <p:cNvSpPr txBox="1"/>
          <p:nvPr/>
        </p:nvSpPr>
        <p:spPr>
          <a:xfrm>
            <a:off x="11492187" y="6409396"/>
            <a:ext cx="485561" cy="369332"/>
          </a:xfrm>
          <a:prstGeom prst="rect">
            <a:avLst/>
          </a:prstGeom>
          <a:solidFill>
            <a:schemeClr val="bg1"/>
          </a:solidFill>
        </p:spPr>
        <p:txBody>
          <a:bodyPr wrap="square" rtlCol="0">
            <a:spAutoFit/>
          </a:bodyPr>
          <a:lstStyle/>
          <a:p>
            <a:endParaRPr lang="zh-CN" altLang="en-US" b="1" dirty="0">
              <a:solidFill>
                <a:schemeClr val="bg1"/>
              </a:solidFill>
            </a:endParaRPr>
          </a:p>
        </p:txBody>
      </p:sp>
      <p:sp>
        <p:nvSpPr>
          <p:cNvPr id="64" name="圆角矩形 3"/>
          <p:cNvSpPr/>
          <p:nvPr/>
        </p:nvSpPr>
        <p:spPr>
          <a:xfrm>
            <a:off x="402024" y="1626442"/>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65" name="文本框 64"/>
          <p:cNvSpPr txBox="1"/>
          <p:nvPr/>
        </p:nvSpPr>
        <p:spPr>
          <a:xfrm>
            <a:off x="465777" y="1734252"/>
            <a:ext cx="3768171"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物品相关性计算方法存在局限性</a:t>
            </a:r>
          </a:p>
        </p:txBody>
      </p:sp>
      <p:sp>
        <p:nvSpPr>
          <p:cNvPr id="66" name="文本框 65"/>
          <p:cNvSpPr txBox="1"/>
          <p:nvPr/>
        </p:nvSpPr>
        <p:spPr>
          <a:xfrm>
            <a:off x="538361" y="2060445"/>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当前融合记忆与模型的计算方式，难以精准挖掘深层上下文信息，制约了增强视图质量。</a:t>
            </a:r>
          </a:p>
        </p:txBody>
      </p:sp>
      <p:sp>
        <p:nvSpPr>
          <p:cNvPr id="67" name="圆角矩形 3"/>
          <p:cNvSpPr/>
          <p:nvPr/>
        </p:nvSpPr>
        <p:spPr>
          <a:xfrm>
            <a:off x="402024" y="2936964"/>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68" name="文本框 67"/>
          <p:cNvSpPr txBox="1"/>
          <p:nvPr/>
        </p:nvSpPr>
        <p:spPr>
          <a:xfrm>
            <a:off x="465777" y="3069846"/>
            <a:ext cx="2543430"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增强策略划分较粗糙</a:t>
            </a:r>
          </a:p>
        </p:txBody>
      </p:sp>
      <p:sp>
        <p:nvSpPr>
          <p:cNvPr id="69" name="文本框 68"/>
          <p:cNvSpPr txBox="1"/>
          <p:nvPr/>
        </p:nvSpPr>
        <p:spPr>
          <a:xfrm>
            <a:off x="538361" y="3396039"/>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仅依靠单一阈值划分操作集，缺乏细粒度动态调整，难以适应长尾及高度偏斜的复杂数据。</a:t>
            </a:r>
          </a:p>
        </p:txBody>
      </p:sp>
      <p:sp>
        <p:nvSpPr>
          <p:cNvPr id="70" name="圆角矩形 3"/>
          <p:cNvSpPr/>
          <p:nvPr/>
        </p:nvSpPr>
        <p:spPr>
          <a:xfrm>
            <a:off x="402024" y="4283397"/>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71" name="文本框 70"/>
          <p:cNvSpPr txBox="1"/>
          <p:nvPr/>
        </p:nvSpPr>
        <p:spPr>
          <a:xfrm>
            <a:off x="465777" y="4391207"/>
            <a:ext cx="2482469"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损失函数评估较单一</a:t>
            </a:r>
          </a:p>
        </p:txBody>
      </p:sp>
      <p:sp>
        <p:nvSpPr>
          <p:cNvPr id="72" name="文本框 71"/>
          <p:cNvSpPr txBox="1"/>
          <p:nvPr/>
        </p:nvSpPr>
        <p:spPr>
          <a:xfrm>
            <a:off x="538361" y="4717400"/>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当前仅验证了</a:t>
            </a:r>
            <a:r>
              <a:rPr lang="en-US" altLang="zh-CN"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NT-</a:t>
            </a:r>
            <a:r>
              <a:rPr lang="en-US" altLang="zh-CN" sz="1600" kern="0" dirty="0" err="1">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Xent</a:t>
            </a:r>
            <a:r>
              <a:rPr lang="en-US" altLang="zh-CN"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a:t>
            </a: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未引入其他类型，缺乏对不同损失函数作用机制与性能的系统评测。</a:t>
            </a:r>
          </a:p>
        </p:txBody>
      </p:sp>
      <p:sp>
        <p:nvSpPr>
          <p:cNvPr id="73" name="圆角矩形 3"/>
          <p:cNvSpPr/>
          <p:nvPr/>
        </p:nvSpPr>
        <p:spPr>
          <a:xfrm>
            <a:off x="6578427" y="1626442"/>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74" name="文本框 73"/>
          <p:cNvSpPr txBox="1"/>
          <p:nvPr/>
        </p:nvSpPr>
        <p:spPr>
          <a:xfrm>
            <a:off x="6642180" y="1734252"/>
            <a:ext cx="4125573"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探索更高级的物品相关性计算方法</a:t>
            </a:r>
          </a:p>
        </p:txBody>
      </p:sp>
      <p:sp>
        <p:nvSpPr>
          <p:cNvPr id="75" name="文本框 74"/>
          <p:cNvSpPr txBox="1"/>
          <p:nvPr/>
        </p:nvSpPr>
        <p:spPr>
          <a:xfrm>
            <a:off x="6714764" y="2060445"/>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尝试在强化学习框架内搜寻相关物品，获取精准上下文信息，进一步提升增强视图质量。</a:t>
            </a:r>
          </a:p>
        </p:txBody>
      </p:sp>
      <p:sp>
        <p:nvSpPr>
          <p:cNvPr id="76" name="圆角矩形 3"/>
          <p:cNvSpPr/>
          <p:nvPr/>
        </p:nvSpPr>
        <p:spPr>
          <a:xfrm>
            <a:off x="6578427" y="2962036"/>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77" name="文本框 76"/>
          <p:cNvSpPr txBox="1"/>
          <p:nvPr/>
        </p:nvSpPr>
        <p:spPr>
          <a:xfrm>
            <a:off x="6642181" y="3069846"/>
            <a:ext cx="4533826"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深化增强策略与序列长度的精细化关联</a:t>
            </a:r>
          </a:p>
        </p:txBody>
      </p:sp>
      <p:sp>
        <p:nvSpPr>
          <p:cNvPr id="78" name="文本框 77"/>
          <p:cNvSpPr txBox="1"/>
          <p:nvPr/>
        </p:nvSpPr>
        <p:spPr>
          <a:xfrm>
            <a:off x="6714764" y="3396039"/>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探究动态、细粒度的自适应映射方式，使模型能更敏锐地适应极端长尾等复杂数据场景。</a:t>
            </a:r>
          </a:p>
        </p:txBody>
      </p:sp>
      <p:sp>
        <p:nvSpPr>
          <p:cNvPr id="79" name="圆角矩形 3"/>
          <p:cNvSpPr/>
          <p:nvPr/>
        </p:nvSpPr>
        <p:spPr>
          <a:xfrm>
            <a:off x="6578427" y="4283397"/>
            <a:ext cx="4597580" cy="1252726"/>
          </a:xfrm>
          <a:prstGeom prst="roundRect">
            <a:avLst>
              <a:gd name="adj" fmla="val 2600"/>
            </a:avLst>
          </a:prstGeom>
          <a:solidFill>
            <a:srgbClr val="FFFFFF"/>
          </a:solidFill>
          <a:ln w="12700" cap="flat" cmpd="sng" algn="ctr">
            <a:gradFill>
              <a:gsLst>
                <a:gs pos="100000">
                  <a:srgbClr val="1898B8"/>
                </a:gs>
                <a:gs pos="36000">
                  <a:srgbClr val="1898B8">
                    <a:lumMod val="45000"/>
                    <a:lumOff val="55000"/>
                    <a:alpha val="0"/>
                  </a:srgbClr>
                </a:gs>
              </a:gsLst>
              <a:lin ang="5400000" scaled="1"/>
            </a:gradFill>
            <a:prstDash val="solid"/>
            <a:miter lim="800000"/>
          </a:ln>
          <a:effectLst>
            <a:outerShdw blurRad="254000" sx="102000" sy="102000" algn="ctr" rotWithShape="0">
              <a:srgbClr val="000000">
                <a:alpha val="12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lumMod val="85000"/>
                </a:srgbClr>
              </a:solidFill>
              <a:effectLst>
                <a:outerShdw blurRad="63500" sx="102000" sy="102000" algn="ctr" rotWithShape="0">
                  <a:srgbClr val="000000">
                    <a:alpha val="40000"/>
                  </a:srgbClr>
                </a:outerShdw>
              </a:effectLst>
              <a:uLnTx/>
              <a:uFillTx/>
              <a:latin typeface="微软雅黑 Light" panose="020B0502040204020203" pitchFamily="34" charset="-122"/>
              <a:ea typeface="微软雅黑 Light" panose="020B0502040204020203" pitchFamily="34" charset="-122"/>
              <a:cs typeface="+mn-cs"/>
            </a:endParaRPr>
          </a:p>
        </p:txBody>
      </p:sp>
      <p:sp>
        <p:nvSpPr>
          <p:cNvPr id="80" name="文本框 79"/>
          <p:cNvSpPr txBox="1"/>
          <p:nvPr/>
        </p:nvSpPr>
        <p:spPr>
          <a:xfrm>
            <a:off x="6642181" y="4425181"/>
            <a:ext cx="4340448" cy="369332"/>
          </a:xfrm>
          <a:prstGeom prst="rect">
            <a:avLst/>
          </a:prstGeom>
          <a:noFill/>
        </p:spPr>
        <p:txBody>
          <a:bodyPr wrap="square" rtlCol="0">
            <a:spAutoFit/>
          </a:bodyPr>
          <a:lstStyle/>
          <a:p>
            <a:pPr algn="ctr" defTabSz="914400">
              <a:lnSpc>
                <a:spcPct val="90000"/>
              </a:lnSpc>
              <a:spcBef>
                <a:spcPts val="1000"/>
              </a:spcBef>
            </a:pPr>
            <a:r>
              <a:rPr lang="zh-CN" altLang="en-US" sz="2000" b="1" dirty="0">
                <a:solidFill>
                  <a:srgbClr val="1898B8"/>
                </a:solidFill>
                <a:latin typeface="微软雅黑" panose="020B0503020204020204" pitchFamily="34" charset="-122"/>
                <a:ea typeface="微软雅黑" panose="020B0503020204020204" pitchFamily="34" charset="-122"/>
              </a:rPr>
              <a:t>拓展对比学习损失函数的对比与评测</a:t>
            </a:r>
            <a:endParaRPr lang="zh-CN" altLang="en-US" sz="2000" b="1" dirty="0">
              <a:solidFill>
                <a:srgbClr val="1898B8"/>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1" name="文本框 80"/>
          <p:cNvSpPr txBox="1"/>
          <p:nvPr/>
        </p:nvSpPr>
        <p:spPr>
          <a:xfrm>
            <a:off x="6714764" y="4717400"/>
            <a:ext cx="4267865" cy="702949"/>
          </a:xfrm>
          <a:prstGeom prst="rect">
            <a:avLst/>
          </a:prstGeom>
          <a:noFill/>
        </p:spPr>
        <p:txBody>
          <a:bodyPr wrap="square" rtlCol="0">
            <a:spAutoFit/>
          </a:bodyPr>
          <a:lstStyle/>
          <a:p>
            <a:pPr algn="just" defTabSz="914400" fontAlgn="base">
              <a:lnSpc>
                <a:spcPct val="130000"/>
              </a:lnSpc>
              <a:spcBef>
                <a:spcPct val="0"/>
              </a:spcBef>
              <a:spcAft>
                <a:spcPct val="0"/>
              </a:spcAft>
              <a:defRPr/>
            </a:pPr>
            <a:r>
              <a:rPr lang="zh-CN" altLang="en-US" sz="1600" kern="0" dirty="0">
                <a:ln w="3175">
                  <a:noFill/>
                </a:ln>
                <a:solidFill>
                  <a:prstClr val="black">
                    <a:lumMod val="85000"/>
                    <a:lumOff val="15000"/>
                  </a:prstClr>
                </a:solidFill>
                <a:latin typeface="微软雅黑 Light" panose="020B0502040204020203" pitchFamily="34" charset="-122"/>
                <a:ea typeface="微软雅黑 Light" panose="020B0502040204020203" pitchFamily="34" charset="-122"/>
              </a:rPr>
              <a:t>引入并对比其他类型的对比学习损失函数，系统评估其在序列自监督学习中的机制与差异。</a:t>
            </a:r>
          </a:p>
        </p:txBody>
      </p:sp>
      <p:sp>
        <p:nvSpPr>
          <p:cNvPr id="82" name="PA-椭圆 26"/>
          <p:cNvSpPr/>
          <p:nvPr>
            <p:custDataLst>
              <p:tags r:id="rId1"/>
            </p:custDataLst>
          </p:nvPr>
        </p:nvSpPr>
        <p:spPr>
          <a:xfrm rot="10800000">
            <a:off x="10858082" y="4867256"/>
            <a:ext cx="1061735" cy="1061735"/>
          </a:xfrm>
          <a:prstGeom prst="ellipse">
            <a:avLst/>
          </a:prstGeom>
          <a:gradFill>
            <a:gsLst>
              <a:gs pos="0">
                <a:srgbClr val="5B9BD5"/>
              </a:gs>
              <a:gs pos="89000">
                <a:srgbClr val="1898B8">
                  <a:lumMod val="20000"/>
                  <a:lumOff val="80000"/>
                </a:srgbClr>
              </a:gs>
              <a:gs pos="0">
                <a:srgbClr val="1898B8"/>
              </a:gs>
            </a:gsLst>
            <a:lin ang="0" scaled="1"/>
          </a:gradFill>
          <a:ln w="3175" cap="flat" cmpd="sng" algn="ctr">
            <a:noFill/>
            <a:prstDash val="solid"/>
          </a:ln>
          <a:effectLst/>
        </p:spPr>
        <p:txBody>
          <a:bodyPr anchor="ctr"/>
          <a:lstStyle/>
          <a:p>
            <a:pPr marL="0" marR="0" lvl="0" indent="0" algn="ctr" defTabSz="914400" eaLnBrk="0" fontAlgn="base" latinLnBrk="0" hangingPunct="0">
              <a:lnSpc>
                <a:spcPct val="150000"/>
              </a:lnSpc>
              <a:spcBef>
                <a:spcPct val="0"/>
              </a:spcBef>
              <a:spcAft>
                <a:spcPct val="0"/>
              </a:spcAft>
              <a:buClrTx/>
              <a:buSzTx/>
              <a:buFontTx/>
              <a:buNone/>
              <a:defRPr/>
            </a:pPr>
            <a:endParaRPr kumimoji="0" lang="zh-CN" altLang="en-US" sz="1800" b="0" i="0" u="none" strike="noStrike" kern="0" cap="none" spc="0" normalizeH="0" baseline="0" noProof="0" dirty="0">
              <a:ln>
                <a:noFill/>
              </a:ln>
              <a:solidFill>
                <a:srgbClr val="0A7A04"/>
              </a:solidFill>
              <a:effectLst/>
              <a:uLnTx/>
              <a:uFillTx/>
              <a:latin typeface="Calibri" panose="020F0502020204030204"/>
              <a:ea typeface="微软雅黑 Light" panose="020B0502040204020203" pitchFamily="34" charset="-122"/>
            </a:endParaRPr>
          </a:p>
        </p:txBody>
      </p:sp>
      <p:sp>
        <p:nvSpPr>
          <p:cNvPr id="2" name="箭头: 右 1"/>
          <p:cNvSpPr/>
          <p:nvPr/>
        </p:nvSpPr>
        <p:spPr>
          <a:xfrm>
            <a:off x="5304409" y="1919248"/>
            <a:ext cx="993120" cy="651435"/>
          </a:xfrm>
          <a:prstGeom prst="rightArrow">
            <a:avLst/>
          </a:prstGeom>
          <a:solidFill>
            <a:srgbClr val="1898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箭头: 右 82"/>
          <p:cNvSpPr/>
          <p:nvPr/>
        </p:nvSpPr>
        <p:spPr>
          <a:xfrm>
            <a:off x="5305975" y="3254512"/>
            <a:ext cx="991554" cy="651435"/>
          </a:xfrm>
          <a:prstGeom prst="rightArrow">
            <a:avLst/>
          </a:prstGeom>
          <a:solidFill>
            <a:srgbClr val="1898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箭头: 右 83"/>
          <p:cNvSpPr/>
          <p:nvPr/>
        </p:nvSpPr>
        <p:spPr>
          <a:xfrm>
            <a:off x="5293238" y="4589776"/>
            <a:ext cx="991554" cy="651435"/>
          </a:xfrm>
          <a:prstGeom prst="rightArrow">
            <a:avLst/>
          </a:prstGeom>
          <a:solidFill>
            <a:srgbClr val="1898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37C144FA-9E29-849C-7DDA-9DCD4E803B72}"/>
              </a:ext>
            </a:extLst>
          </p:cNvPr>
          <p:cNvSpPr txBox="1"/>
          <p:nvPr/>
        </p:nvSpPr>
        <p:spPr>
          <a:xfrm>
            <a:off x="509601" y="1098706"/>
            <a:ext cx="3358343" cy="369332"/>
          </a:xfrm>
          <a:prstGeom prst="rect">
            <a:avLst/>
          </a:prstGeom>
          <a:noFill/>
        </p:spPr>
        <p:txBody>
          <a:bodyPr wrap="square" rtlCol="0">
            <a:spAutoFit/>
          </a:bodyPr>
          <a:lstStyle/>
          <a:p>
            <a:pPr marL="0" marR="0" lvl="0" indent="0" algn="l" defTabSz="457200" rtl="0" eaLnBrk="1" fontAlgn="auto" latinLnBrk="0" hangingPunct="1">
              <a:lnSpc>
                <a:spcPct val="90000"/>
              </a:lnSpc>
              <a:spcBef>
                <a:spcPts val="1000"/>
              </a:spcBef>
              <a:spcAft>
                <a:spcPts val="0"/>
              </a:spcAft>
              <a:buClrTx/>
              <a:buSzTx/>
              <a:buFontTx/>
              <a:buNone/>
              <a:tabLst/>
              <a:defRPr/>
            </a:pPr>
            <a:r>
              <a:rPr lang="zh-CN" altLang="en-US" sz="2000" b="1" dirty="0">
                <a:solidFill>
                  <a:srgbClr val="1898B8"/>
                </a:solidFill>
                <a:latin typeface="微软雅黑" panose="020B0503020204020204" pitchFamily="34" charset="-122"/>
                <a:ea typeface="微软雅黑" panose="020B0503020204020204" pitchFamily="34" charset="-122"/>
              </a:rPr>
              <a:t>局限性与未来改进方向</a:t>
            </a:r>
            <a:endParaRPr kumimoji="0" lang="zh-CN" altLang="en-US" sz="2000" b="1" i="0" u="none" strike="noStrike" kern="1200" cap="none" spc="0" normalizeH="0" baseline="0" noProof="0" dirty="0">
              <a:ln>
                <a:noFill/>
              </a:ln>
              <a:solidFill>
                <a:srgbClr val="1898B8"/>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5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Effect transition="in" filter="fade">
                                      <p:cBhvr>
                                        <p:cTn id="17" dur="500"/>
                                        <p:tgtEl>
                                          <p:spTgt spid="6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4"/>
                                        </p:tgtEl>
                                        <p:attrNameLst>
                                          <p:attrName>style.visibility</p:attrName>
                                        </p:attrNameLst>
                                      </p:cBhvr>
                                      <p:to>
                                        <p:strVal val="visible"/>
                                      </p:to>
                                    </p:set>
                                    <p:animEffect transition="in" filter="fade">
                                      <p:cBhvr>
                                        <p:cTn id="27" dur="500"/>
                                        <p:tgtEl>
                                          <p:spTgt spid="7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5"/>
                                        </p:tgtEl>
                                        <p:attrNameLst>
                                          <p:attrName>style.visibility</p:attrName>
                                        </p:attrNameLst>
                                      </p:cBhvr>
                                      <p:to>
                                        <p:strVal val="visible"/>
                                      </p:to>
                                    </p:set>
                                    <p:animEffect transition="in" filter="fade">
                                      <p:cBhvr>
                                        <p:cTn id="32" dur="500"/>
                                        <p:tgtEl>
                                          <p:spTgt spid="7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68"/>
                                        </p:tgtEl>
                                        <p:attrNameLst>
                                          <p:attrName>style.visibility</p:attrName>
                                        </p:attrNameLst>
                                      </p:cBhvr>
                                      <p:to>
                                        <p:strVal val="visible"/>
                                      </p:to>
                                    </p:set>
                                    <p:animEffect transition="in" filter="fade">
                                      <p:cBhvr>
                                        <p:cTn id="37" dur="500"/>
                                        <p:tgtEl>
                                          <p:spTgt spid="6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69"/>
                                        </p:tgtEl>
                                        <p:attrNameLst>
                                          <p:attrName>style.visibility</p:attrName>
                                        </p:attrNameLst>
                                      </p:cBhvr>
                                      <p:to>
                                        <p:strVal val="visible"/>
                                      </p:to>
                                    </p:set>
                                    <p:animEffect transition="in" filter="fade">
                                      <p:cBhvr>
                                        <p:cTn id="42" dur="500"/>
                                        <p:tgtEl>
                                          <p:spTgt spid="6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3"/>
                                        </p:tgtEl>
                                        <p:attrNameLst>
                                          <p:attrName>style.visibility</p:attrName>
                                        </p:attrNameLst>
                                      </p:cBhvr>
                                      <p:to>
                                        <p:strVal val="visible"/>
                                      </p:to>
                                    </p:set>
                                    <p:animEffect transition="in" filter="fade">
                                      <p:cBhvr>
                                        <p:cTn id="47" dur="500"/>
                                        <p:tgtEl>
                                          <p:spTgt spid="83"/>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77"/>
                                        </p:tgtEl>
                                        <p:attrNameLst>
                                          <p:attrName>style.visibility</p:attrName>
                                        </p:attrNameLst>
                                      </p:cBhvr>
                                      <p:to>
                                        <p:strVal val="visible"/>
                                      </p:to>
                                    </p:set>
                                    <p:animEffect transition="in" filter="fade">
                                      <p:cBhvr>
                                        <p:cTn id="52" dur="500"/>
                                        <p:tgtEl>
                                          <p:spTgt spid="77"/>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78"/>
                                        </p:tgtEl>
                                        <p:attrNameLst>
                                          <p:attrName>style.visibility</p:attrName>
                                        </p:attrNameLst>
                                      </p:cBhvr>
                                      <p:to>
                                        <p:strVal val="visible"/>
                                      </p:to>
                                    </p:set>
                                    <p:animEffect transition="in" filter="fade">
                                      <p:cBhvr>
                                        <p:cTn id="57" dur="500"/>
                                        <p:tgtEl>
                                          <p:spTgt spid="7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71"/>
                                        </p:tgtEl>
                                        <p:attrNameLst>
                                          <p:attrName>style.visibility</p:attrName>
                                        </p:attrNameLst>
                                      </p:cBhvr>
                                      <p:to>
                                        <p:strVal val="visible"/>
                                      </p:to>
                                    </p:set>
                                    <p:animEffect transition="in" filter="fade">
                                      <p:cBhvr>
                                        <p:cTn id="62" dur="500"/>
                                        <p:tgtEl>
                                          <p:spTgt spid="7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72"/>
                                        </p:tgtEl>
                                        <p:attrNameLst>
                                          <p:attrName>style.visibility</p:attrName>
                                        </p:attrNameLst>
                                      </p:cBhvr>
                                      <p:to>
                                        <p:strVal val="visible"/>
                                      </p:to>
                                    </p:set>
                                    <p:animEffect transition="in" filter="fade">
                                      <p:cBhvr>
                                        <p:cTn id="67" dur="500"/>
                                        <p:tgtEl>
                                          <p:spTgt spid="72"/>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fade">
                                      <p:cBhvr>
                                        <p:cTn id="72" dur="500"/>
                                        <p:tgtEl>
                                          <p:spTgt spid="84"/>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80"/>
                                        </p:tgtEl>
                                        <p:attrNameLst>
                                          <p:attrName>style.visibility</p:attrName>
                                        </p:attrNameLst>
                                      </p:cBhvr>
                                      <p:to>
                                        <p:strVal val="visible"/>
                                      </p:to>
                                    </p:set>
                                    <p:animEffect transition="in" filter="fade">
                                      <p:cBhvr>
                                        <p:cTn id="77" dur="500"/>
                                        <p:tgtEl>
                                          <p:spTgt spid="8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81"/>
                                        </p:tgtEl>
                                        <p:attrNameLst>
                                          <p:attrName>style.visibility</p:attrName>
                                        </p:attrNameLst>
                                      </p:cBhvr>
                                      <p:to>
                                        <p:strVal val="visible"/>
                                      </p:to>
                                    </p:set>
                                    <p:animEffect transition="in" filter="fade">
                                      <p:cBhvr>
                                        <p:cTn id="82" dur="500"/>
                                        <p:tgtEl>
                                          <p:spTgt spid="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8" grpId="0"/>
      <p:bldP spid="69" grpId="0"/>
      <p:bldP spid="71" grpId="0"/>
      <p:bldP spid="72" grpId="0"/>
      <p:bldP spid="74" grpId="0"/>
      <p:bldP spid="75" grpId="0"/>
      <p:bldP spid="77" grpId="0"/>
      <p:bldP spid="78" grpId="0"/>
      <p:bldP spid="80" grpId="0"/>
      <p:bldP spid="81" grpId="0"/>
      <p:bldP spid="2" grpId="0" animBg="1"/>
      <p:bldP spid="83" grpId="0" animBg="1"/>
      <p:bldP spid="84" grpId="0" animBg="1"/>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2765516" y="2087181"/>
            <a:ext cx="6660967" cy="2387283"/>
          </a:xfrm>
        </p:spPr>
        <p:txBody>
          <a:bodyPr>
            <a:normAutofit/>
          </a:bodyPr>
          <a:lstStyle/>
          <a:p>
            <a:r>
              <a:rPr lang="zh-CN" altLang="en-US" dirty="0">
                <a:latin typeface="微软雅黑" panose="020B0503020204020204" pitchFamily="34" charset="-122"/>
                <a:ea typeface="微软雅黑" panose="020B0503020204020204" pitchFamily="34" charset="-122"/>
              </a:rPr>
              <a:t>感谢各位老师</a:t>
            </a:r>
            <a:br>
              <a:rPr lang="zh-CN" altLang="en-US" dirty="0">
                <a:latin typeface="微软雅黑" panose="020B0503020204020204" pitchFamily="34" charset="-122"/>
                <a:ea typeface="微软雅黑" panose="020B0503020204020204" pitchFamily="34" charset="-122"/>
              </a:rPr>
            </a:br>
            <a:r>
              <a:rPr lang="zh-CN" altLang="en-US" dirty="0">
                <a:latin typeface="微软雅黑" panose="020B0503020204020204" pitchFamily="34" charset="-122"/>
                <a:ea typeface="微软雅黑" panose="020B0503020204020204" pitchFamily="34" charset="-122"/>
              </a:rPr>
              <a:t>恳请各位老师批评指正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577*214"/>
  <p:tag name="TABLE_ENDDRAG_RECT" val="30*315*577*214"/>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334.1,&quot;left&quot;:109.65,&quot;top&quot;:131.2,&quot;width&quot;:740.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334.1,&quot;left&quot;:109.65,&quot;top&quot;:131.2,&quot;width&quot;:740.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334.1,&quot;left&quot;:109.65,&quot;top&quot;:131.2,&quot;width&quot;:740.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334.1,&quot;left&quot;:109.65,&quot;top&quot;:131.2,&quot;width&quot;:740.7}"/>
</p:tagLst>
</file>

<file path=ppt/tags/tag6.xml><?xml version="1.0" encoding="utf-8"?>
<p:tagLst xmlns:a="http://schemas.openxmlformats.org/drawingml/2006/main" xmlns:r="http://schemas.openxmlformats.org/officeDocument/2006/relationships" xmlns:p="http://schemas.openxmlformats.org/presentationml/2006/main">
  <p:tag name="PA" val="v5.1.1"/>
</p:tagLst>
</file>

<file path=ppt/theme/theme1.xml><?xml version="1.0" encoding="utf-8"?>
<a:theme xmlns:a="http://schemas.openxmlformats.org/drawingml/2006/main" name="标准版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简约版式">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基本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中期答辩</Template>
  <TotalTime>2491</TotalTime>
  <Words>5883</Words>
  <Application>Microsoft Office PowerPoint</Application>
  <PresentationFormat>宽屏</PresentationFormat>
  <Paragraphs>366</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30</vt:i4>
      </vt:variant>
    </vt:vector>
  </HeadingPairs>
  <TitlesOfParts>
    <vt:vector size="43" baseType="lpstr">
      <vt:lpstr>微软雅黑</vt:lpstr>
      <vt:lpstr>等线 Light</vt:lpstr>
      <vt:lpstr>微软雅黑 Light</vt:lpstr>
      <vt:lpstr>Times New Roman</vt:lpstr>
      <vt:lpstr>Wingdings</vt:lpstr>
      <vt:lpstr>Bodoni MT Black</vt:lpstr>
      <vt:lpstr>Arial</vt:lpstr>
      <vt:lpstr>黑体</vt:lpstr>
      <vt:lpstr>等线</vt:lpstr>
      <vt:lpstr>Calibri</vt:lpstr>
      <vt:lpstr>标准版式</vt:lpstr>
      <vt:lpstr>简约版式</vt:lpstr>
      <vt:lpstr>基本模板</vt:lpstr>
      <vt:lpstr>面向动态行为序列的自监督推荐系统设计与实现</vt:lpstr>
      <vt:lpstr>毕业答辩</vt:lpstr>
      <vt:lpstr>研究背景与意义</vt:lpstr>
      <vt:lpstr>研究背景</vt:lpstr>
      <vt:lpstr>国内外研究现状</vt:lpstr>
      <vt:lpstr>数据介绍及预处理</vt:lpstr>
      <vt:lpstr>数据介绍</vt:lpstr>
      <vt:lpstr>数据介绍</vt:lpstr>
      <vt:lpstr>总体框架及实验结果</vt:lpstr>
      <vt:lpstr>模型总体框架</vt:lpstr>
      <vt:lpstr>模型总体框架</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总体框架及实验结果</vt:lpstr>
      <vt:lpstr>研究结论与展望</vt:lpstr>
      <vt:lpstr>研究结论与展望</vt:lpstr>
      <vt:lpstr>研究结论与展望</vt:lpstr>
      <vt:lpstr>感谢各位老师 恳请各位老师批评指正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基于深度学习的低信噪比下声音目标识别方法</dc:title>
  <dc:creator>泽卿 李</dc:creator>
  <dc:description>InTron@BJUT</dc:description>
  <cp:lastModifiedBy>子旋 周</cp:lastModifiedBy>
  <cp:revision>212</cp:revision>
  <dcterms:created xsi:type="dcterms:W3CDTF">2025-03-14T09:07:00Z</dcterms:created>
  <dcterms:modified xsi:type="dcterms:W3CDTF">2026-10-06T01:47:22Z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506DBDABBC2741868C1CCE789676891A_12</vt:lpwstr>
  </property>
  <property fmtid="{D5CDD505-2E9C-101B-9397-08002B2CF9AE}" pid="3" name="KSOProductBuildVer">
    <vt:lpwstr>2052-12.1.0.23542</vt:lpwstr>
  </property>
</Properties>
</file>